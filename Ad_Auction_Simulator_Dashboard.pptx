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194560"/>
            <a:ext cx="73152" cy="21945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94560"/>
            <a:ext cx="9144000" cy="731520"/>
          </a:xfrm>
          <a:prstGeom prst="rect">
            <a:avLst/>
          </a:prstGeom>
          <a:noFill/>
        </p:spPr>
        <p:txBody>
          <a:bodyPr wrap="square"/>
          <a:lstStyle/>
          <a:p>
            <a:pPr algn="l">
              <a:defRPr sz="4400" b="1">
                <a:solidFill>
                  <a:srgbClr val="FFFFFF"/>
                </a:solidFill>
                <a:latin typeface="Calibri"/>
              </a:defRPr>
            </a:pPr>
            <a:r>
              <a:t>Ad Auction Simulator</a:t>
            </a:r>
          </a:p>
        </p:txBody>
      </p:sp>
      <p:sp>
        <p:nvSpPr>
          <p:cNvPr id="6" name="TextBox 5"/>
          <p:cNvSpPr txBox="1"/>
          <p:nvPr/>
        </p:nvSpPr>
        <p:spPr>
          <a:xfrm>
            <a:off x="1097280" y="2926080"/>
            <a:ext cx="10058400" cy="457200"/>
          </a:xfrm>
          <a:prstGeom prst="rect">
            <a:avLst/>
          </a:prstGeom>
          <a:noFill/>
        </p:spPr>
        <p:txBody>
          <a:bodyPr wrap="square"/>
          <a:lstStyle/>
          <a:p>
            <a:pPr algn="l">
              <a:defRPr sz="1800" b="0">
                <a:solidFill>
                  <a:srgbClr val="60A5FA"/>
                </a:solidFill>
                <a:latin typeface="Calibri"/>
              </a:defRPr>
            </a:pPr>
            <a:r>
              <a:t>Balancing Multi-Objective Auction Dynamics with Adaptive Model Orchestration</a:t>
            </a:r>
          </a:p>
        </p:txBody>
      </p:sp>
      <p:sp>
        <p:nvSpPr>
          <p:cNvPr id="7" name="Rectangle 6"/>
          <p:cNvSpPr/>
          <p:nvPr/>
        </p:nvSpPr>
        <p:spPr>
          <a:xfrm>
            <a:off x="1097280" y="3840480"/>
            <a:ext cx="1554480" cy="32004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877056"/>
            <a:ext cx="1371600" cy="274320"/>
          </a:xfrm>
          <a:prstGeom prst="rect">
            <a:avLst/>
          </a:prstGeom>
          <a:noFill/>
        </p:spPr>
        <p:txBody>
          <a:bodyPr wrap="square"/>
          <a:lstStyle/>
          <a:p>
            <a:pPr algn="ctr">
              <a:defRPr sz="900" b="1">
                <a:solidFill>
                  <a:srgbClr val="60A5FA"/>
                </a:solidFill>
                <a:latin typeface="Calibri"/>
              </a:defRPr>
            </a:pPr>
            <a:r>
              <a:t>GSP/VCG Engine</a:t>
            </a:r>
          </a:p>
        </p:txBody>
      </p:sp>
      <p:sp>
        <p:nvSpPr>
          <p:cNvPr id="9" name="Rectangle 8"/>
          <p:cNvSpPr/>
          <p:nvPr/>
        </p:nvSpPr>
        <p:spPr>
          <a:xfrm>
            <a:off x="2834639" y="3840480"/>
            <a:ext cx="1554480" cy="32004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79" y="3877056"/>
            <a:ext cx="1371600" cy="274320"/>
          </a:xfrm>
          <a:prstGeom prst="rect">
            <a:avLst/>
          </a:prstGeom>
          <a:noFill/>
        </p:spPr>
        <p:txBody>
          <a:bodyPr wrap="square"/>
          <a:lstStyle/>
          <a:p>
            <a:pPr algn="ctr">
              <a:defRPr sz="900" b="1">
                <a:solidFill>
                  <a:srgbClr val="60A5FA"/>
                </a:solidFill>
                <a:latin typeface="Calibri"/>
              </a:defRPr>
            </a:pPr>
            <a:r>
              <a:t>Adversarial Pacing</a:t>
            </a:r>
          </a:p>
        </p:txBody>
      </p:sp>
      <p:sp>
        <p:nvSpPr>
          <p:cNvPr id="11" name="Rectangle 10"/>
          <p:cNvSpPr/>
          <p:nvPr/>
        </p:nvSpPr>
        <p:spPr>
          <a:xfrm>
            <a:off x="4572000" y="3840480"/>
            <a:ext cx="1554480" cy="32004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877056"/>
            <a:ext cx="1371600" cy="274320"/>
          </a:xfrm>
          <a:prstGeom prst="rect">
            <a:avLst/>
          </a:prstGeom>
          <a:noFill/>
        </p:spPr>
        <p:txBody>
          <a:bodyPr wrap="square"/>
          <a:lstStyle/>
          <a:p>
            <a:pPr algn="ctr">
              <a:defRPr sz="900" b="1">
                <a:solidFill>
                  <a:srgbClr val="60A5FA"/>
                </a:solidFill>
                <a:latin typeface="Calibri"/>
              </a:defRPr>
            </a:pPr>
            <a:r>
              <a:t>Thompson Sampling</a:t>
            </a:r>
          </a:p>
        </p:txBody>
      </p:sp>
      <p:sp>
        <p:nvSpPr>
          <p:cNvPr id="13" name="Rectangle 12"/>
          <p:cNvSpPr/>
          <p:nvPr/>
        </p:nvSpPr>
        <p:spPr>
          <a:xfrm>
            <a:off x="6309359" y="3840480"/>
            <a:ext cx="1554480" cy="32004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799" y="3877056"/>
            <a:ext cx="1371600" cy="274320"/>
          </a:xfrm>
          <a:prstGeom prst="rect">
            <a:avLst/>
          </a:prstGeom>
          <a:noFill/>
        </p:spPr>
        <p:txBody>
          <a:bodyPr wrap="square"/>
          <a:lstStyle/>
          <a:p>
            <a:pPr algn="ctr">
              <a:defRPr sz="900" b="1">
                <a:solidFill>
                  <a:srgbClr val="60A5FA"/>
                </a:solidFill>
                <a:latin typeface="Calibri"/>
              </a:defRPr>
            </a:pPr>
            <a:r>
              <a:t>Latency-Aware Cascade</a:t>
            </a:r>
          </a:p>
        </p:txBody>
      </p:sp>
      <p:sp>
        <p:nvSpPr>
          <p:cNvPr id="15" name="Rectangle 14"/>
          <p:cNvSpPr/>
          <p:nvPr/>
        </p:nvSpPr>
        <p:spPr>
          <a:xfrm>
            <a:off x="8046719" y="3840480"/>
            <a:ext cx="1554480" cy="32004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59" y="3877056"/>
            <a:ext cx="1371600" cy="274320"/>
          </a:xfrm>
          <a:prstGeom prst="rect">
            <a:avLst/>
          </a:prstGeom>
          <a:noFill/>
        </p:spPr>
        <p:txBody>
          <a:bodyPr wrap="square"/>
          <a:lstStyle/>
          <a:p>
            <a:pPr algn="ctr">
              <a:defRPr sz="900" b="1">
                <a:solidFill>
                  <a:srgbClr val="60A5FA"/>
                </a:solidFill>
                <a:latin typeface="Calibri"/>
              </a:defRPr>
            </a:pPr>
            <a:r>
              <a:t>Model Strategy</a:t>
            </a:r>
          </a:p>
        </p:txBody>
      </p:sp>
      <p:sp>
        <p:nvSpPr>
          <p:cNvPr id="17" name="Rectangle 16"/>
          <p:cNvSpPr/>
          <p:nvPr/>
        </p:nvSpPr>
        <p:spPr>
          <a:xfrm>
            <a:off x="9784080" y="3840480"/>
            <a:ext cx="1554480" cy="32004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19" y="3877056"/>
            <a:ext cx="1371600" cy="274320"/>
          </a:xfrm>
          <a:prstGeom prst="rect">
            <a:avLst/>
          </a:prstGeom>
          <a:noFill/>
        </p:spPr>
        <p:txBody>
          <a:bodyPr wrap="square"/>
          <a:lstStyle/>
          <a:p>
            <a:pPr algn="ctr">
              <a:defRPr sz="900" b="1">
                <a:solidFill>
                  <a:srgbClr val="60A5FA"/>
                </a:solidFill>
                <a:latin typeface="Calibri"/>
              </a:defRPr>
            </a:pPr>
            <a:r>
              <a:t>Finance Scenario</a:t>
            </a:r>
          </a:p>
        </p:txBody>
      </p:sp>
      <p:sp>
        <p:nvSpPr>
          <p:cNvPr id="19" name="TextBox 18"/>
          <p:cNvSpPr txBox="1"/>
          <p:nvPr/>
        </p:nvSpPr>
        <p:spPr>
          <a:xfrm>
            <a:off x="1097280" y="4754880"/>
            <a:ext cx="9144000" cy="274320"/>
          </a:xfrm>
          <a:prstGeom prst="rect">
            <a:avLst/>
          </a:prstGeom>
          <a:noFill/>
        </p:spPr>
        <p:txBody>
          <a:bodyPr wrap="square"/>
          <a:lstStyle/>
          <a:p>
            <a:pPr algn="l">
              <a:defRPr sz="1200" b="0">
                <a:solidFill>
                  <a:srgbClr val="6B7280"/>
                </a:solidFill>
                <a:latin typeface="Calibri"/>
              </a:defRPr>
            </a:pPr>
            <a:r>
              <a:t>Adversarial robustness  |  Latency-to-conversion economics  |  Multi-objective model orchestration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5486400" cy="457200"/>
          </a:xfrm>
          <a:prstGeom prst="rect">
            <a:avLst/>
          </a:prstGeom>
          <a:noFill/>
        </p:spPr>
        <p:txBody>
          <a:bodyPr wrap="square"/>
          <a:lstStyle/>
          <a:p>
            <a:pPr algn="l">
              <a:defRPr sz="2800" b="1">
                <a:solidFill>
                  <a:srgbClr val="111827"/>
                </a:solidFill>
                <a:latin typeface="Calibri"/>
              </a:defRPr>
            </a:pPr>
            <a:r>
              <a:t>System Architecture</a:t>
            </a:r>
          </a:p>
        </p:txBody>
      </p:sp>
      <p:sp>
        <p:nvSpPr>
          <p:cNvPr id="3" name="TextBox 2"/>
          <p:cNvSpPr txBox="1"/>
          <p:nvPr/>
        </p:nvSpPr>
        <p:spPr>
          <a:xfrm>
            <a:off x="548640" y="822960"/>
            <a:ext cx="7315200" cy="274320"/>
          </a:xfrm>
          <a:prstGeom prst="rect">
            <a:avLst/>
          </a:prstGeom>
          <a:noFill/>
        </p:spPr>
        <p:txBody>
          <a:bodyPr wrap="square"/>
          <a:lstStyle/>
          <a:p>
            <a:pPr algn="l">
              <a:defRPr sz="1200" b="0">
                <a:solidFill>
                  <a:srgbClr val="6B7280"/>
                </a:solidFill>
                <a:latin typeface="Calibri"/>
              </a:defRPr>
            </a:pPr>
            <a:r>
              <a:t>Seven interconnected modules powering adaptive model orchestration</a:t>
            </a:r>
          </a:p>
        </p:txBody>
      </p:sp>
      <p:sp>
        <p:nvSpPr>
          <p:cNvPr id="4" name="Rectangle 3"/>
          <p:cNvSpPr/>
          <p:nvPr/>
        </p:nvSpPr>
        <p:spPr>
          <a:xfrm>
            <a:off x="548640" y="1463040"/>
            <a:ext cx="347472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3474720"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3017520" cy="320040"/>
          </a:xfrm>
          <a:prstGeom prst="rect">
            <a:avLst/>
          </a:prstGeom>
          <a:noFill/>
        </p:spPr>
        <p:txBody>
          <a:bodyPr wrap="square"/>
          <a:lstStyle/>
          <a:p>
            <a:pPr algn="l">
              <a:defRPr sz="1500" b="1">
                <a:solidFill>
                  <a:srgbClr val="1D4ED8"/>
                </a:solidFill>
                <a:latin typeface="Calibri"/>
              </a:defRPr>
            </a:pPr>
            <a:r>
              <a:t>Auction Engine</a:t>
            </a:r>
          </a:p>
        </p:txBody>
      </p:sp>
      <p:sp>
        <p:nvSpPr>
          <p:cNvPr id="7" name="TextBox 6"/>
          <p:cNvSpPr txBox="1"/>
          <p:nvPr/>
        </p:nvSpPr>
        <p:spPr>
          <a:xfrm>
            <a:off x="777240" y="2103120"/>
            <a:ext cx="3017520" cy="1097280"/>
          </a:xfrm>
          <a:prstGeom prst="rect">
            <a:avLst/>
          </a:prstGeom>
          <a:noFill/>
        </p:spPr>
        <p:txBody>
          <a:bodyPr wrap="square"/>
          <a:lstStyle/>
          <a:p>
            <a:pPr algn="l">
              <a:defRPr sz="1100" b="0">
                <a:solidFill>
                  <a:srgbClr val="374151"/>
                </a:solidFill>
                <a:latin typeface="Calibri"/>
              </a:defRPr>
            </a:pPr>
            <a:r>
              <a:t>GSP &amp; VCG mechanisms with</a:t>
            </a:r>
            <a:br/>
            <a:r>
              <a:t>quality-weighted bids, reserve</a:t>
            </a:r>
            <a:br/>
            <a:r>
              <a:t>prices, budget-aware shading</a:t>
            </a:r>
          </a:p>
        </p:txBody>
      </p:sp>
      <p:sp>
        <p:nvSpPr>
          <p:cNvPr id="8" name="Rectangle 7"/>
          <p:cNvSpPr/>
          <p:nvPr/>
        </p:nvSpPr>
        <p:spPr>
          <a:xfrm>
            <a:off x="4297679" y="1463040"/>
            <a:ext cx="347472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79" y="1463040"/>
            <a:ext cx="3474720" cy="54864"/>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91640"/>
            <a:ext cx="3017520" cy="320040"/>
          </a:xfrm>
          <a:prstGeom prst="rect">
            <a:avLst/>
          </a:prstGeom>
          <a:noFill/>
        </p:spPr>
        <p:txBody>
          <a:bodyPr wrap="square"/>
          <a:lstStyle/>
          <a:p>
            <a:pPr algn="l">
              <a:defRPr sz="1500" b="1">
                <a:solidFill>
                  <a:srgbClr val="0891B2"/>
                </a:solidFill>
                <a:latin typeface="Calibri"/>
              </a:defRPr>
            </a:pPr>
            <a:r>
              <a:t>Adversarial Pacing</a:t>
            </a:r>
          </a:p>
        </p:txBody>
      </p:sp>
      <p:sp>
        <p:nvSpPr>
          <p:cNvPr id="11" name="TextBox 10"/>
          <p:cNvSpPr txBox="1"/>
          <p:nvPr/>
        </p:nvSpPr>
        <p:spPr>
          <a:xfrm>
            <a:off x="4526279" y="2103120"/>
            <a:ext cx="3017520" cy="1097280"/>
          </a:xfrm>
          <a:prstGeom prst="rect">
            <a:avLst/>
          </a:prstGeom>
          <a:noFill/>
        </p:spPr>
        <p:txBody>
          <a:bodyPr wrap="square"/>
          <a:lstStyle/>
          <a:p>
            <a:pPr algn="l">
              <a:defRPr sz="1100" b="0">
                <a:solidFill>
                  <a:srgbClr val="374151"/>
                </a:solidFill>
                <a:latin typeface="Calibri"/>
              </a:defRPr>
            </a:pPr>
            <a:r>
              <a:t>24-hour pacing with whale</a:t>
            </a:r>
            <a:br/>
            <a:r>
              <a:t>gaming simulation and</a:t>
            </a:r>
            <a:br/>
            <a:r>
              <a:t>mitigation strategies</a:t>
            </a:r>
          </a:p>
        </p:txBody>
      </p:sp>
      <p:sp>
        <p:nvSpPr>
          <p:cNvPr id="12" name="Rectangle 11"/>
          <p:cNvSpPr/>
          <p:nvPr/>
        </p:nvSpPr>
        <p:spPr>
          <a:xfrm>
            <a:off x="8046719" y="1463040"/>
            <a:ext cx="347472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19" y="1463040"/>
            <a:ext cx="347472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691640"/>
            <a:ext cx="3017520" cy="320040"/>
          </a:xfrm>
          <a:prstGeom prst="rect">
            <a:avLst/>
          </a:prstGeom>
          <a:noFill/>
        </p:spPr>
        <p:txBody>
          <a:bodyPr wrap="square"/>
          <a:lstStyle/>
          <a:p>
            <a:pPr algn="l">
              <a:defRPr sz="1500" b="1">
                <a:solidFill>
                  <a:srgbClr val="16A34A"/>
                </a:solidFill>
                <a:latin typeface="Calibri"/>
              </a:defRPr>
            </a:pPr>
            <a:r>
              <a:t>Quality Feedback</a:t>
            </a:r>
          </a:p>
        </p:txBody>
      </p:sp>
      <p:sp>
        <p:nvSpPr>
          <p:cNvPr id="15" name="TextBox 14"/>
          <p:cNvSpPr txBox="1"/>
          <p:nvPr/>
        </p:nvSpPr>
        <p:spPr>
          <a:xfrm>
            <a:off x="8275319" y="2103120"/>
            <a:ext cx="3017520" cy="1097280"/>
          </a:xfrm>
          <a:prstGeom prst="rect">
            <a:avLst/>
          </a:prstGeom>
          <a:noFill/>
        </p:spPr>
        <p:txBody>
          <a:bodyPr wrap="square"/>
          <a:lstStyle/>
          <a:p>
            <a:pPr algn="l">
              <a:defRPr sz="1100" b="0">
                <a:solidFill>
                  <a:srgbClr val="374151"/>
                </a:solidFill>
                <a:latin typeface="Calibri"/>
              </a:defRPr>
            </a:pPr>
            <a:r>
              <a:t>Multi-round CTR feedback</a:t>
            </a:r>
            <a:br/>
            <a:r>
              <a:t>loop with quality score</a:t>
            </a:r>
            <a:br/>
            <a:r>
              <a:t>divergence &amp; natural selection</a:t>
            </a:r>
          </a:p>
        </p:txBody>
      </p:sp>
      <p:sp>
        <p:nvSpPr>
          <p:cNvPr id="16" name="Rectangle 15"/>
          <p:cNvSpPr/>
          <p:nvPr/>
        </p:nvSpPr>
        <p:spPr>
          <a:xfrm>
            <a:off x="548640" y="3840480"/>
            <a:ext cx="347472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840480"/>
            <a:ext cx="34747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69080"/>
            <a:ext cx="3017520" cy="320040"/>
          </a:xfrm>
          <a:prstGeom prst="rect">
            <a:avLst/>
          </a:prstGeom>
          <a:noFill/>
        </p:spPr>
        <p:txBody>
          <a:bodyPr wrap="square"/>
          <a:lstStyle/>
          <a:p>
            <a:pPr algn="l">
              <a:defRPr sz="1500" b="1">
                <a:solidFill>
                  <a:srgbClr val="7C3AED"/>
                </a:solidFill>
                <a:latin typeface="Calibri"/>
              </a:defRPr>
            </a:pPr>
            <a:r>
              <a:t>Thompson Sampling</a:t>
            </a:r>
          </a:p>
        </p:txBody>
      </p:sp>
      <p:sp>
        <p:nvSpPr>
          <p:cNvPr id="19" name="TextBox 18"/>
          <p:cNvSpPr txBox="1"/>
          <p:nvPr/>
        </p:nvSpPr>
        <p:spPr>
          <a:xfrm>
            <a:off x="777240" y="4480560"/>
            <a:ext cx="3017520" cy="1097280"/>
          </a:xfrm>
          <a:prstGeom prst="rect">
            <a:avLst/>
          </a:prstGeom>
          <a:noFill/>
        </p:spPr>
        <p:txBody>
          <a:bodyPr wrap="square"/>
          <a:lstStyle/>
          <a:p>
            <a:pPr algn="l">
              <a:defRPr sz="1100" b="0">
                <a:solidFill>
                  <a:srgbClr val="374151"/>
                </a:solidFill>
                <a:latin typeface="Calibri"/>
              </a:defRPr>
            </a:pPr>
            <a:r>
              <a:t>Multi-armed bandit for</a:t>
            </a:r>
            <a:br/>
            <a:r>
              <a:t>model routing with Beta</a:t>
            </a:r>
            <a:br/>
            <a:r>
              <a:t>posteriors &amp; regret tracking</a:t>
            </a:r>
          </a:p>
        </p:txBody>
      </p:sp>
      <p:sp>
        <p:nvSpPr>
          <p:cNvPr id="20" name="Rectangle 19"/>
          <p:cNvSpPr/>
          <p:nvPr/>
        </p:nvSpPr>
        <p:spPr>
          <a:xfrm>
            <a:off x="4297679" y="3840480"/>
            <a:ext cx="347472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79" y="3840480"/>
            <a:ext cx="3474720" cy="54864"/>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79" y="4069080"/>
            <a:ext cx="3017520" cy="320040"/>
          </a:xfrm>
          <a:prstGeom prst="rect">
            <a:avLst/>
          </a:prstGeom>
          <a:noFill/>
        </p:spPr>
        <p:txBody>
          <a:bodyPr wrap="square"/>
          <a:lstStyle/>
          <a:p>
            <a:pPr algn="l">
              <a:defRPr sz="1500" b="1">
                <a:solidFill>
                  <a:srgbClr val="CA8A04"/>
                </a:solidFill>
                <a:latin typeface="Calibri"/>
              </a:defRPr>
            </a:pPr>
            <a:r>
              <a:t>Latency-Aware Cascade</a:t>
            </a:r>
          </a:p>
        </p:txBody>
      </p:sp>
      <p:sp>
        <p:nvSpPr>
          <p:cNvPr id="23" name="TextBox 22"/>
          <p:cNvSpPr txBox="1"/>
          <p:nvPr/>
        </p:nvSpPr>
        <p:spPr>
          <a:xfrm>
            <a:off x="4526279" y="4480560"/>
            <a:ext cx="3017520" cy="1097280"/>
          </a:xfrm>
          <a:prstGeom prst="rect">
            <a:avLst/>
          </a:prstGeom>
          <a:noFill/>
        </p:spPr>
        <p:txBody>
          <a:bodyPr wrap="square"/>
          <a:lstStyle/>
          <a:p>
            <a:pPr algn="l">
              <a:defRPr sz="1100" b="0">
                <a:solidFill>
                  <a:srgbClr val="374151"/>
                </a:solidFill>
                <a:latin typeface="Calibri"/>
              </a:defRPr>
            </a:pPr>
            <a:r>
              <a:t>3-stage pipeline with</a:t>
            </a:r>
            <a:br/>
            <a:r>
              <a:t>latency-to-conversion impact</a:t>
            </a:r>
            <a:br/>
            <a:r>
              <a:t>analysis (~1%/100ms)</a:t>
            </a:r>
          </a:p>
        </p:txBody>
      </p:sp>
      <p:sp>
        <p:nvSpPr>
          <p:cNvPr id="24" name="Rectangle 23"/>
          <p:cNvSpPr/>
          <p:nvPr/>
        </p:nvSpPr>
        <p:spPr>
          <a:xfrm>
            <a:off x="8046719" y="3840480"/>
            <a:ext cx="347472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19" y="3840480"/>
            <a:ext cx="3474720" cy="54864"/>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19" y="4069080"/>
            <a:ext cx="3017520" cy="320040"/>
          </a:xfrm>
          <a:prstGeom prst="rect">
            <a:avLst/>
          </a:prstGeom>
          <a:noFill/>
        </p:spPr>
        <p:txBody>
          <a:bodyPr wrap="square"/>
          <a:lstStyle/>
          <a:p>
            <a:pPr algn="l">
              <a:defRPr sz="1500" b="1">
                <a:solidFill>
                  <a:srgbClr val="E11D48"/>
                </a:solidFill>
                <a:latin typeface="Calibri"/>
              </a:defRPr>
            </a:pPr>
            <a:r>
              <a:t>Model Orchestration</a:t>
            </a:r>
          </a:p>
        </p:txBody>
      </p:sp>
      <p:sp>
        <p:nvSpPr>
          <p:cNvPr id="27" name="TextBox 26"/>
          <p:cNvSpPr txBox="1"/>
          <p:nvPr/>
        </p:nvSpPr>
        <p:spPr>
          <a:xfrm>
            <a:off x="8275319" y="4480560"/>
            <a:ext cx="3017520" cy="1097280"/>
          </a:xfrm>
          <a:prstGeom prst="rect">
            <a:avLst/>
          </a:prstGeom>
          <a:noFill/>
        </p:spPr>
        <p:txBody>
          <a:bodyPr wrap="square"/>
          <a:lstStyle/>
          <a:p>
            <a:pPr algn="l">
              <a:defRPr sz="1100" b="0">
                <a:solidFill>
                  <a:srgbClr val="374151"/>
                </a:solidFill>
                <a:latin typeface="Calibri"/>
              </a:defRPr>
            </a:pPr>
            <a:r>
              <a:t>Multi-objective framework</a:t>
            </a:r>
            <a:br/>
            <a:r>
              <a:t>across 6 verticals, 4 lifecycle</a:t>
            </a:r>
            <a:br/>
            <a:r>
              <a:t>stages, portfolio allocation</a:t>
            </a:r>
          </a:p>
        </p:txBody>
      </p:sp>
      <p:sp>
        <p:nvSpPr>
          <p:cNvPr id="28" name="TextBox 27"/>
          <p:cNvSpPr txBox="1"/>
          <p:nvPr/>
        </p:nvSpPr>
        <p:spPr>
          <a:xfrm>
            <a:off x="4114799" y="2103120"/>
            <a:ext cx="274320" cy="274320"/>
          </a:xfrm>
          <a:prstGeom prst="rect">
            <a:avLst/>
          </a:prstGeom>
          <a:noFill/>
        </p:spPr>
        <p:txBody>
          <a:bodyPr wrap="square"/>
          <a:lstStyle/>
          <a:p>
            <a:pPr algn="ctr">
              <a:defRPr sz="2000" b="1">
                <a:solidFill>
                  <a:srgbClr val="D1D5DB"/>
                </a:solidFill>
                <a:latin typeface="Calibri"/>
              </a:defRPr>
            </a:pPr>
            <a:r>
              <a:t>→</a:t>
            </a:r>
          </a:p>
        </p:txBody>
      </p:sp>
      <p:sp>
        <p:nvSpPr>
          <p:cNvPr id="29" name="TextBox 28"/>
          <p:cNvSpPr txBox="1"/>
          <p:nvPr/>
        </p:nvSpPr>
        <p:spPr>
          <a:xfrm>
            <a:off x="7863840" y="2103120"/>
            <a:ext cx="274320" cy="274320"/>
          </a:xfrm>
          <a:prstGeom prst="rect">
            <a:avLst/>
          </a:prstGeom>
          <a:noFill/>
        </p:spPr>
        <p:txBody>
          <a:bodyPr wrap="square"/>
          <a:lstStyle/>
          <a:p>
            <a:pPr algn="ctr">
              <a:defRPr sz="2000" b="1">
                <a:solidFill>
                  <a:srgbClr val="D1D5DB"/>
                </a:solidFill>
                <a:latin typeface="Calibri"/>
              </a:defRPr>
            </a:pPr>
            <a:r>
              <a:t>→</a:t>
            </a:r>
          </a:p>
        </p:txBody>
      </p:sp>
      <p:sp>
        <p:nvSpPr>
          <p:cNvPr id="30" name="TextBox 29"/>
          <p:cNvSpPr txBox="1"/>
          <p:nvPr/>
        </p:nvSpPr>
        <p:spPr>
          <a:xfrm>
            <a:off x="4114799" y="4480560"/>
            <a:ext cx="274320" cy="274320"/>
          </a:xfrm>
          <a:prstGeom prst="rect">
            <a:avLst/>
          </a:prstGeom>
          <a:noFill/>
        </p:spPr>
        <p:txBody>
          <a:bodyPr wrap="square"/>
          <a:lstStyle/>
          <a:p>
            <a:pPr algn="ctr">
              <a:defRPr sz="2000" b="1">
                <a:solidFill>
                  <a:srgbClr val="D1D5DB"/>
                </a:solidFill>
                <a:latin typeface="Calibri"/>
              </a:defRPr>
            </a:pPr>
            <a:r>
              <a:t>→</a:t>
            </a:r>
          </a:p>
        </p:txBody>
      </p:sp>
      <p:sp>
        <p:nvSpPr>
          <p:cNvPr id="31" name="TextBox 30"/>
          <p:cNvSpPr txBox="1"/>
          <p:nvPr/>
        </p:nvSpPr>
        <p:spPr>
          <a:xfrm>
            <a:off x="7863840" y="4480560"/>
            <a:ext cx="274320" cy="274320"/>
          </a:xfrm>
          <a:prstGeom prst="rect">
            <a:avLst/>
          </a:prstGeom>
          <a:noFill/>
        </p:spPr>
        <p:txBody>
          <a:bodyPr wrap="square"/>
          <a:lstStyle/>
          <a:p>
            <a:pPr algn="ctr">
              <a:defRPr sz="2000" b="1">
                <a:solidFill>
                  <a:srgbClr val="D1D5DB"/>
                </a:solidFill>
                <a:latin typeface="Calibri"/>
              </a:defRPr>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5486400" cy="457200"/>
          </a:xfrm>
          <a:prstGeom prst="rect">
            <a:avLst/>
          </a:prstGeom>
          <a:noFill/>
        </p:spPr>
        <p:txBody>
          <a:bodyPr wrap="square"/>
          <a:lstStyle/>
          <a:p>
            <a:pPr algn="l">
              <a:defRPr sz="2800" b="1">
                <a:solidFill>
                  <a:srgbClr val="111827"/>
                </a:solidFill>
                <a:latin typeface="Calibri"/>
              </a:defRPr>
            </a:pPr>
            <a:r>
              <a:t>Auction Dashboard</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GSP vs VCG comparison across 8 user segments with 80 synthetic advertisers</a:t>
            </a:r>
          </a:p>
        </p:txBody>
      </p:sp>
      <p:sp>
        <p:nvSpPr>
          <p:cNvPr id="4" name="Rectangle 3"/>
          <p:cNvSpPr/>
          <p:nvPr/>
        </p:nvSpPr>
        <p:spPr>
          <a:xfrm>
            <a:off x="548640" y="1371600"/>
            <a:ext cx="20574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4864" cy="914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81328"/>
            <a:ext cx="1737360" cy="228600"/>
          </a:xfrm>
          <a:prstGeom prst="rect">
            <a:avLst/>
          </a:prstGeom>
          <a:noFill/>
        </p:spPr>
        <p:txBody>
          <a:bodyPr wrap="square"/>
          <a:lstStyle/>
          <a:p>
            <a:pPr algn="l">
              <a:defRPr sz="800" b="1">
                <a:solidFill>
                  <a:srgbClr val="6B7280"/>
                </a:solidFill>
                <a:latin typeface="Calibri"/>
              </a:defRPr>
            </a:pPr>
            <a:r>
              <a:t>TOTAL REVENUE</a:t>
            </a:r>
          </a:p>
        </p:txBody>
      </p:sp>
      <p:sp>
        <p:nvSpPr>
          <p:cNvPr id="7" name="TextBox 6"/>
          <p:cNvSpPr txBox="1"/>
          <p:nvPr/>
        </p:nvSpPr>
        <p:spPr>
          <a:xfrm>
            <a:off x="777240" y="1691640"/>
            <a:ext cx="1737360" cy="365760"/>
          </a:xfrm>
          <a:prstGeom prst="rect">
            <a:avLst/>
          </a:prstGeom>
          <a:noFill/>
        </p:spPr>
        <p:txBody>
          <a:bodyPr wrap="square"/>
          <a:lstStyle/>
          <a:p>
            <a:pPr algn="l">
              <a:defRPr sz="2200" b="1">
                <a:solidFill>
                  <a:srgbClr val="111827"/>
                </a:solidFill>
                <a:latin typeface="Consolas"/>
              </a:defRPr>
            </a:pPr>
            <a:r>
              <a:t>$4,847</a:t>
            </a:r>
          </a:p>
        </p:txBody>
      </p:sp>
      <p:sp>
        <p:nvSpPr>
          <p:cNvPr id="8" name="TextBox 7"/>
          <p:cNvSpPr txBox="1"/>
          <p:nvPr/>
        </p:nvSpPr>
        <p:spPr>
          <a:xfrm>
            <a:off x="777240" y="2029967"/>
            <a:ext cx="1737360" cy="228600"/>
          </a:xfrm>
          <a:prstGeom prst="rect">
            <a:avLst/>
          </a:prstGeom>
          <a:noFill/>
        </p:spPr>
        <p:txBody>
          <a:bodyPr wrap="square"/>
          <a:lstStyle/>
          <a:p>
            <a:pPr algn="l">
              <a:defRPr sz="900" b="0">
                <a:solidFill>
                  <a:srgbClr val="6B7280"/>
                </a:solidFill>
                <a:latin typeface="Calibri"/>
              </a:defRPr>
            </a:pPr>
            <a:r>
              <a:t>Per 1K impr/segment</a:t>
            </a:r>
          </a:p>
        </p:txBody>
      </p:sp>
      <p:sp>
        <p:nvSpPr>
          <p:cNvPr id="9" name="Rectangle 8"/>
          <p:cNvSpPr/>
          <p:nvPr/>
        </p:nvSpPr>
        <p:spPr>
          <a:xfrm>
            <a:off x="2788920" y="1371600"/>
            <a:ext cx="20574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88920" y="1371600"/>
            <a:ext cx="54864" cy="9144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1481328"/>
            <a:ext cx="1737360" cy="228600"/>
          </a:xfrm>
          <a:prstGeom prst="rect">
            <a:avLst/>
          </a:prstGeom>
          <a:noFill/>
        </p:spPr>
        <p:txBody>
          <a:bodyPr wrap="square"/>
          <a:lstStyle/>
          <a:p>
            <a:pPr algn="l">
              <a:defRPr sz="800" b="1">
                <a:solidFill>
                  <a:srgbClr val="6B7280"/>
                </a:solidFill>
                <a:latin typeface="Calibri"/>
              </a:defRPr>
            </a:pPr>
            <a:r>
              <a:t>AVG RPM</a:t>
            </a:r>
          </a:p>
        </p:txBody>
      </p:sp>
      <p:sp>
        <p:nvSpPr>
          <p:cNvPr id="12" name="TextBox 11"/>
          <p:cNvSpPr txBox="1"/>
          <p:nvPr/>
        </p:nvSpPr>
        <p:spPr>
          <a:xfrm>
            <a:off x="3017520" y="1691640"/>
            <a:ext cx="1737360" cy="365760"/>
          </a:xfrm>
          <a:prstGeom prst="rect">
            <a:avLst/>
          </a:prstGeom>
          <a:noFill/>
        </p:spPr>
        <p:txBody>
          <a:bodyPr wrap="square"/>
          <a:lstStyle/>
          <a:p>
            <a:pPr algn="l">
              <a:defRPr sz="2200" b="1">
                <a:solidFill>
                  <a:srgbClr val="111827"/>
                </a:solidFill>
                <a:latin typeface="Consolas"/>
              </a:defRPr>
            </a:pPr>
            <a:r>
              <a:t>$0.2571</a:t>
            </a:r>
          </a:p>
        </p:txBody>
      </p:sp>
      <p:sp>
        <p:nvSpPr>
          <p:cNvPr id="13" name="TextBox 12"/>
          <p:cNvSpPr txBox="1"/>
          <p:nvPr/>
        </p:nvSpPr>
        <p:spPr>
          <a:xfrm>
            <a:off x="3017520" y="2029967"/>
            <a:ext cx="1737360" cy="228600"/>
          </a:xfrm>
          <a:prstGeom prst="rect">
            <a:avLst/>
          </a:prstGeom>
          <a:noFill/>
        </p:spPr>
        <p:txBody>
          <a:bodyPr wrap="square"/>
          <a:lstStyle/>
          <a:p>
            <a:pPr algn="l">
              <a:defRPr sz="900" b="0">
                <a:solidFill>
                  <a:srgbClr val="6B7280"/>
                </a:solidFill>
                <a:latin typeface="Calibri"/>
              </a:defRPr>
            </a:pPr>
            <a:r>
              <a:t>Across all segments</a:t>
            </a:r>
          </a:p>
        </p:txBody>
      </p:sp>
      <p:sp>
        <p:nvSpPr>
          <p:cNvPr id="14" name="Rectangle 13"/>
          <p:cNvSpPr/>
          <p:nvPr/>
        </p:nvSpPr>
        <p:spPr>
          <a:xfrm>
            <a:off x="5029200" y="1371600"/>
            <a:ext cx="20574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0" y="1371600"/>
            <a:ext cx="54864"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1481328"/>
            <a:ext cx="1737360" cy="228600"/>
          </a:xfrm>
          <a:prstGeom prst="rect">
            <a:avLst/>
          </a:prstGeom>
          <a:noFill/>
        </p:spPr>
        <p:txBody>
          <a:bodyPr wrap="square"/>
          <a:lstStyle/>
          <a:p>
            <a:pPr algn="l">
              <a:defRPr sz="800" b="1">
                <a:solidFill>
                  <a:srgbClr val="6B7280"/>
                </a:solidFill>
                <a:latin typeface="Calibri"/>
              </a:defRPr>
            </a:pPr>
            <a:r>
              <a:t>TOTAL CLICKS</a:t>
            </a:r>
          </a:p>
        </p:txBody>
      </p:sp>
      <p:sp>
        <p:nvSpPr>
          <p:cNvPr id="17" name="TextBox 16"/>
          <p:cNvSpPr txBox="1"/>
          <p:nvPr/>
        </p:nvSpPr>
        <p:spPr>
          <a:xfrm>
            <a:off x="5257800" y="1691640"/>
            <a:ext cx="1737360" cy="365760"/>
          </a:xfrm>
          <a:prstGeom prst="rect">
            <a:avLst/>
          </a:prstGeom>
          <a:noFill/>
        </p:spPr>
        <p:txBody>
          <a:bodyPr wrap="square"/>
          <a:lstStyle/>
          <a:p>
            <a:pPr algn="l">
              <a:defRPr sz="2200" b="1">
                <a:solidFill>
                  <a:srgbClr val="111827"/>
                </a:solidFill>
                <a:latin typeface="Consolas"/>
              </a:defRPr>
            </a:pPr>
            <a:r>
              <a:t>748,200</a:t>
            </a:r>
          </a:p>
        </p:txBody>
      </p:sp>
      <p:sp>
        <p:nvSpPr>
          <p:cNvPr id="18" name="TextBox 17"/>
          <p:cNvSpPr txBox="1"/>
          <p:nvPr/>
        </p:nvSpPr>
        <p:spPr>
          <a:xfrm>
            <a:off x="5257800" y="2029967"/>
            <a:ext cx="1737360" cy="228600"/>
          </a:xfrm>
          <a:prstGeom prst="rect">
            <a:avLst/>
          </a:prstGeom>
          <a:noFill/>
        </p:spPr>
        <p:txBody>
          <a:bodyPr wrap="square"/>
          <a:lstStyle/>
          <a:p>
            <a:pPr algn="l">
              <a:defRPr sz="900" b="0">
                <a:solidFill>
                  <a:srgbClr val="6B7280"/>
                </a:solidFill>
                <a:latin typeface="Calibri"/>
              </a:defRPr>
            </a:pPr>
            <a:r>
              <a:t>1.88M impressions</a:t>
            </a:r>
          </a:p>
        </p:txBody>
      </p:sp>
      <p:sp>
        <p:nvSpPr>
          <p:cNvPr id="19" name="Rectangle 18"/>
          <p:cNvSpPr/>
          <p:nvPr/>
        </p:nvSpPr>
        <p:spPr>
          <a:xfrm>
            <a:off x="7269480" y="1371600"/>
            <a:ext cx="20574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9480" y="1371600"/>
            <a:ext cx="54864"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79" y="1481328"/>
            <a:ext cx="1737360" cy="228600"/>
          </a:xfrm>
          <a:prstGeom prst="rect">
            <a:avLst/>
          </a:prstGeom>
          <a:noFill/>
        </p:spPr>
        <p:txBody>
          <a:bodyPr wrap="square"/>
          <a:lstStyle/>
          <a:p>
            <a:pPr algn="l">
              <a:defRPr sz="800" b="1">
                <a:solidFill>
                  <a:srgbClr val="6B7280"/>
                </a:solidFill>
                <a:latin typeface="Calibri"/>
              </a:defRPr>
            </a:pPr>
            <a:r>
              <a:t>ADVERTISERS</a:t>
            </a:r>
          </a:p>
        </p:txBody>
      </p:sp>
      <p:sp>
        <p:nvSpPr>
          <p:cNvPr id="22" name="TextBox 21"/>
          <p:cNvSpPr txBox="1"/>
          <p:nvPr/>
        </p:nvSpPr>
        <p:spPr>
          <a:xfrm>
            <a:off x="7498079" y="1691640"/>
            <a:ext cx="1737360" cy="365760"/>
          </a:xfrm>
          <a:prstGeom prst="rect">
            <a:avLst/>
          </a:prstGeom>
          <a:noFill/>
        </p:spPr>
        <p:txBody>
          <a:bodyPr wrap="square"/>
          <a:lstStyle/>
          <a:p>
            <a:pPr algn="l">
              <a:defRPr sz="2200" b="1">
                <a:solidFill>
                  <a:srgbClr val="111827"/>
                </a:solidFill>
                <a:latin typeface="Consolas"/>
              </a:defRPr>
            </a:pPr>
            <a:r>
              <a:t>80</a:t>
            </a:r>
          </a:p>
        </p:txBody>
      </p:sp>
      <p:sp>
        <p:nvSpPr>
          <p:cNvPr id="23" name="TextBox 22"/>
          <p:cNvSpPr txBox="1"/>
          <p:nvPr/>
        </p:nvSpPr>
        <p:spPr>
          <a:xfrm>
            <a:off x="7498079" y="2029967"/>
            <a:ext cx="1737360" cy="228600"/>
          </a:xfrm>
          <a:prstGeom prst="rect">
            <a:avLst/>
          </a:prstGeom>
          <a:noFill/>
        </p:spPr>
        <p:txBody>
          <a:bodyPr wrap="square"/>
          <a:lstStyle/>
          <a:p>
            <a:pPr algn="l">
              <a:defRPr sz="900" b="0">
                <a:solidFill>
                  <a:srgbClr val="6B7280"/>
                </a:solidFill>
                <a:latin typeface="Calibri"/>
              </a:defRPr>
            </a:pPr>
            <a:r>
              <a:t>8 verticals</a:t>
            </a:r>
          </a:p>
        </p:txBody>
      </p:sp>
      <p:sp>
        <p:nvSpPr>
          <p:cNvPr id="24" name="Rectangle 23"/>
          <p:cNvSpPr/>
          <p:nvPr/>
        </p:nvSpPr>
        <p:spPr>
          <a:xfrm>
            <a:off x="9509760" y="1371600"/>
            <a:ext cx="205740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9760" y="1371600"/>
            <a:ext cx="54864" cy="9144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8360" y="1481328"/>
            <a:ext cx="1737360" cy="228600"/>
          </a:xfrm>
          <a:prstGeom prst="rect">
            <a:avLst/>
          </a:prstGeom>
          <a:noFill/>
        </p:spPr>
        <p:txBody>
          <a:bodyPr wrap="square"/>
          <a:lstStyle/>
          <a:p>
            <a:pPr algn="l">
              <a:defRPr sz="800" b="1">
                <a:solidFill>
                  <a:srgbClr val="6B7280"/>
                </a:solidFill>
                <a:latin typeface="Calibri"/>
              </a:defRPr>
            </a:pPr>
            <a:r>
              <a:t>FILL RATE</a:t>
            </a:r>
          </a:p>
        </p:txBody>
      </p:sp>
      <p:sp>
        <p:nvSpPr>
          <p:cNvPr id="27" name="TextBox 26"/>
          <p:cNvSpPr txBox="1"/>
          <p:nvPr/>
        </p:nvSpPr>
        <p:spPr>
          <a:xfrm>
            <a:off x="9738360" y="1691640"/>
            <a:ext cx="1737360" cy="365760"/>
          </a:xfrm>
          <a:prstGeom prst="rect">
            <a:avLst/>
          </a:prstGeom>
          <a:noFill/>
        </p:spPr>
        <p:txBody>
          <a:bodyPr wrap="square"/>
          <a:lstStyle/>
          <a:p>
            <a:pPr algn="l">
              <a:defRPr sz="2200" b="1">
                <a:solidFill>
                  <a:srgbClr val="111827"/>
                </a:solidFill>
                <a:latin typeface="Consolas"/>
              </a:defRPr>
            </a:pPr>
            <a:r>
              <a:t>92%</a:t>
            </a:r>
          </a:p>
        </p:txBody>
      </p:sp>
      <p:sp>
        <p:nvSpPr>
          <p:cNvPr id="28" name="TextBox 27"/>
          <p:cNvSpPr txBox="1"/>
          <p:nvPr/>
        </p:nvSpPr>
        <p:spPr>
          <a:xfrm>
            <a:off x="9738360" y="2029967"/>
            <a:ext cx="1737360" cy="228600"/>
          </a:xfrm>
          <a:prstGeom prst="rect">
            <a:avLst/>
          </a:prstGeom>
          <a:noFill/>
        </p:spPr>
        <p:txBody>
          <a:bodyPr wrap="square"/>
          <a:lstStyle/>
          <a:p>
            <a:pPr algn="l">
              <a:defRPr sz="900" b="0">
                <a:solidFill>
                  <a:srgbClr val="6B7280"/>
                </a:solidFill>
                <a:latin typeface="Calibri"/>
              </a:defRPr>
            </a:pPr>
            <a:r>
              <a:t>Avg slot utilization</a:t>
            </a:r>
          </a:p>
        </p:txBody>
      </p:sp>
      <p:sp>
        <p:nvSpPr>
          <p:cNvPr id="29" name="Rectangle 28"/>
          <p:cNvSpPr/>
          <p:nvPr/>
        </p:nvSpPr>
        <p:spPr>
          <a:xfrm>
            <a:off x="548640" y="2606040"/>
            <a:ext cx="548640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697480"/>
            <a:ext cx="5120640" cy="274320"/>
          </a:xfrm>
          <a:prstGeom prst="rect">
            <a:avLst/>
          </a:prstGeom>
          <a:noFill/>
        </p:spPr>
        <p:txBody>
          <a:bodyPr wrap="square"/>
          <a:lstStyle/>
          <a:p>
            <a:pPr algn="l">
              <a:defRPr sz="1200" b="1">
                <a:solidFill>
                  <a:srgbClr val="111827"/>
                </a:solidFill>
                <a:latin typeface="Calibri"/>
              </a:defRPr>
            </a:pPr>
            <a:r>
              <a:t>Revenue by Segment: GSP vs VCG</a:t>
            </a:r>
          </a:p>
        </p:txBody>
      </p:sp>
      <p:sp>
        <p:nvSpPr>
          <p:cNvPr id="31" name="Rectangle 30"/>
          <p:cNvSpPr/>
          <p:nvPr/>
        </p:nvSpPr>
        <p:spPr>
          <a:xfrm>
            <a:off x="640080" y="3017520"/>
            <a:ext cx="5303520" cy="256032"/>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035808"/>
            <a:ext cx="1303020" cy="256032"/>
          </a:xfrm>
          <a:prstGeom prst="rect">
            <a:avLst/>
          </a:prstGeom>
          <a:noFill/>
        </p:spPr>
        <p:txBody>
          <a:bodyPr wrap="square"/>
          <a:lstStyle/>
          <a:p>
            <a:pPr algn="l">
              <a:defRPr sz="800" b="1">
                <a:solidFill>
                  <a:srgbClr val="1D4ED8"/>
                </a:solidFill>
                <a:latin typeface="Calibri"/>
              </a:defRPr>
            </a:pPr>
            <a:r>
              <a:t>Segment</a:t>
            </a:r>
          </a:p>
        </p:txBody>
      </p:sp>
      <p:sp>
        <p:nvSpPr>
          <p:cNvPr id="33" name="TextBox 32"/>
          <p:cNvSpPr txBox="1"/>
          <p:nvPr/>
        </p:nvSpPr>
        <p:spPr>
          <a:xfrm>
            <a:off x="1988819" y="3035808"/>
            <a:ext cx="1303020" cy="256032"/>
          </a:xfrm>
          <a:prstGeom prst="rect">
            <a:avLst/>
          </a:prstGeom>
          <a:noFill/>
        </p:spPr>
        <p:txBody>
          <a:bodyPr wrap="square"/>
          <a:lstStyle/>
          <a:p>
            <a:pPr algn="l">
              <a:defRPr sz="800" b="1">
                <a:solidFill>
                  <a:srgbClr val="1D4ED8"/>
                </a:solidFill>
                <a:latin typeface="Calibri"/>
              </a:defRPr>
            </a:pPr>
            <a:r>
              <a:t>GSP Rev</a:t>
            </a:r>
          </a:p>
        </p:txBody>
      </p:sp>
      <p:sp>
        <p:nvSpPr>
          <p:cNvPr id="34" name="TextBox 33"/>
          <p:cNvSpPr txBox="1"/>
          <p:nvPr/>
        </p:nvSpPr>
        <p:spPr>
          <a:xfrm>
            <a:off x="3291840" y="3035808"/>
            <a:ext cx="1303020" cy="256032"/>
          </a:xfrm>
          <a:prstGeom prst="rect">
            <a:avLst/>
          </a:prstGeom>
          <a:noFill/>
        </p:spPr>
        <p:txBody>
          <a:bodyPr wrap="square"/>
          <a:lstStyle/>
          <a:p>
            <a:pPr algn="l">
              <a:defRPr sz="800" b="1">
                <a:solidFill>
                  <a:srgbClr val="1D4ED8"/>
                </a:solidFill>
                <a:latin typeface="Calibri"/>
              </a:defRPr>
            </a:pPr>
            <a:r>
              <a:t>VCG Rev</a:t>
            </a:r>
          </a:p>
        </p:txBody>
      </p:sp>
      <p:sp>
        <p:nvSpPr>
          <p:cNvPr id="35" name="TextBox 34"/>
          <p:cNvSpPr txBox="1"/>
          <p:nvPr/>
        </p:nvSpPr>
        <p:spPr>
          <a:xfrm>
            <a:off x="4594860" y="3035808"/>
            <a:ext cx="1303020" cy="256032"/>
          </a:xfrm>
          <a:prstGeom prst="rect">
            <a:avLst/>
          </a:prstGeom>
          <a:noFill/>
        </p:spPr>
        <p:txBody>
          <a:bodyPr wrap="square"/>
          <a:lstStyle/>
          <a:p>
            <a:pPr algn="l">
              <a:defRPr sz="800" b="1">
                <a:solidFill>
                  <a:srgbClr val="1D4ED8"/>
                </a:solidFill>
                <a:latin typeface="Calibri"/>
              </a:defRPr>
            </a:pPr>
            <a:r>
              <a:t>Delta</a:t>
            </a:r>
          </a:p>
        </p:txBody>
      </p:sp>
      <p:sp>
        <p:nvSpPr>
          <p:cNvPr id="36" name="TextBox 35"/>
          <p:cNvSpPr txBox="1"/>
          <p:nvPr/>
        </p:nvSpPr>
        <p:spPr>
          <a:xfrm>
            <a:off x="685800" y="3291840"/>
            <a:ext cx="1303020" cy="256032"/>
          </a:xfrm>
          <a:prstGeom prst="rect">
            <a:avLst/>
          </a:prstGeom>
          <a:noFill/>
        </p:spPr>
        <p:txBody>
          <a:bodyPr wrap="square"/>
          <a:lstStyle/>
          <a:p>
            <a:pPr algn="l">
              <a:defRPr sz="900" b="0">
                <a:solidFill>
                  <a:srgbClr val="374151"/>
                </a:solidFill>
                <a:latin typeface="Calibri"/>
              </a:defRPr>
            </a:pPr>
            <a:r>
              <a:t>Young Tech</a:t>
            </a:r>
          </a:p>
        </p:txBody>
      </p:sp>
      <p:sp>
        <p:nvSpPr>
          <p:cNvPr id="37" name="TextBox 36"/>
          <p:cNvSpPr txBox="1"/>
          <p:nvPr/>
        </p:nvSpPr>
        <p:spPr>
          <a:xfrm>
            <a:off x="1988819" y="3291840"/>
            <a:ext cx="1303020" cy="256032"/>
          </a:xfrm>
          <a:prstGeom prst="rect">
            <a:avLst/>
          </a:prstGeom>
          <a:noFill/>
        </p:spPr>
        <p:txBody>
          <a:bodyPr wrap="square"/>
          <a:lstStyle/>
          <a:p>
            <a:pPr algn="l">
              <a:defRPr sz="900" b="0">
                <a:solidFill>
                  <a:srgbClr val="374151"/>
                </a:solidFill>
                <a:latin typeface="Calibri"/>
              </a:defRPr>
            </a:pPr>
            <a:r>
              <a:t>$642.18</a:t>
            </a:r>
          </a:p>
        </p:txBody>
      </p:sp>
      <p:sp>
        <p:nvSpPr>
          <p:cNvPr id="38" name="TextBox 37"/>
          <p:cNvSpPr txBox="1"/>
          <p:nvPr/>
        </p:nvSpPr>
        <p:spPr>
          <a:xfrm>
            <a:off x="3291840" y="3291840"/>
            <a:ext cx="1303020" cy="256032"/>
          </a:xfrm>
          <a:prstGeom prst="rect">
            <a:avLst/>
          </a:prstGeom>
          <a:noFill/>
        </p:spPr>
        <p:txBody>
          <a:bodyPr wrap="square"/>
          <a:lstStyle/>
          <a:p>
            <a:pPr algn="l">
              <a:defRPr sz="900" b="0">
                <a:solidFill>
                  <a:srgbClr val="374151"/>
                </a:solidFill>
                <a:latin typeface="Calibri"/>
              </a:defRPr>
            </a:pPr>
            <a:r>
              <a:t>$598.42</a:t>
            </a:r>
          </a:p>
        </p:txBody>
      </p:sp>
      <p:sp>
        <p:nvSpPr>
          <p:cNvPr id="39" name="TextBox 38"/>
          <p:cNvSpPr txBox="1"/>
          <p:nvPr/>
        </p:nvSpPr>
        <p:spPr>
          <a:xfrm>
            <a:off x="4594860" y="3291840"/>
            <a:ext cx="1303020" cy="256032"/>
          </a:xfrm>
          <a:prstGeom prst="rect">
            <a:avLst/>
          </a:prstGeom>
          <a:noFill/>
        </p:spPr>
        <p:txBody>
          <a:bodyPr wrap="square"/>
          <a:lstStyle/>
          <a:p>
            <a:pPr algn="l">
              <a:defRPr sz="900" b="0">
                <a:solidFill>
                  <a:srgbClr val="374151"/>
                </a:solidFill>
                <a:latin typeface="Calibri"/>
              </a:defRPr>
            </a:pPr>
            <a:r>
              <a:t>-6.8%</a:t>
            </a:r>
          </a:p>
        </p:txBody>
      </p:sp>
      <p:sp>
        <p:nvSpPr>
          <p:cNvPr id="40" name="Rectangle 39"/>
          <p:cNvSpPr/>
          <p:nvPr/>
        </p:nvSpPr>
        <p:spPr>
          <a:xfrm>
            <a:off x="685800" y="3520440"/>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3547872"/>
            <a:ext cx="1303020" cy="256032"/>
          </a:xfrm>
          <a:prstGeom prst="rect">
            <a:avLst/>
          </a:prstGeom>
          <a:noFill/>
        </p:spPr>
        <p:txBody>
          <a:bodyPr wrap="square"/>
          <a:lstStyle/>
          <a:p>
            <a:pPr algn="l">
              <a:defRPr sz="900" b="0">
                <a:solidFill>
                  <a:srgbClr val="374151"/>
                </a:solidFill>
                <a:latin typeface="Calibri"/>
              </a:defRPr>
            </a:pPr>
            <a:r>
              <a:t>Suburban Parents</a:t>
            </a:r>
          </a:p>
        </p:txBody>
      </p:sp>
      <p:sp>
        <p:nvSpPr>
          <p:cNvPr id="42" name="TextBox 41"/>
          <p:cNvSpPr txBox="1"/>
          <p:nvPr/>
        </p:nvSpPr>
        <p:spPr>
          <a:xfrm>
            <a:off x="1988819" y="3547872"/>
            <a:ext cx="1303020" cy="256032"/>
          </a:xfrm>
          <a:prstGeom prst="rect">
            <a:avLst/>
          </a:prstGeom>
          <a:noFill/>
        </p:spPr>
        <p:txBody>
          <a:bodyPr wrap="square"/>
          <a:lstStyle/>
          <a:p>
            <a:pPr algn="l">
              <a:defRPr sz="900" b="0">
                <a:solidFill>
                  <a:srgbClr val="374151"/>
                </a:solidFill>
                <a:latin typeface="Calibri"/>
              </a:defRPr>
            </a:pPr>
            <a:r>
              <a:t>$538.91</a:t>
            </a:r>
          </a:p>
        </p:txBody>
      </p:sp>
      <p:sp>
        <p:nvSpPr>
          <p:cNvPr id="43" name="TextBox 42"/>
          <p:cNvSpPr txBox="1"/>
          <p:nvPr/>
        </p:nvSpPr>
        <p:spPr>
          <a:xfrm>
            <a:off x="3291840" y="3547872"/>
            <a:ext cx="1303020" cy="256032"/>
          </a:xfrm>
          <a:prstGeom prst="rect">
            <a:avLst/>
          </a:prstGeom>
          <a:noFill/>
        </p:spPr>
        <p:txBody>
          <a:bodyPr wrap="square"/>
          <a:lstStyle/>
          <a:p>
            <a:pPr algn="l">
              <a:defRPr sz="900" b="0">
                <a:solidFill>
                  <a:srgbClr val="374151"/>
                </a:solidFill>
                <a:latin typeface="Calibri"/>
              </a:defRPr>
            </a:pPr>
            <a:r>
              <a:t>$501.77</a:t>
            </a:r>
          </a:p>
        </p:txBody>
      </p:sp>
      <p:sp>
        <p:nvSpPr>
          <p:cNvPr id="44" name="TextBox 43"/>
          <p:cNvSpPr txBox="1"/>
          <p:nvPr/>
        </p:nvSpPr>
        <p:spPr>
          <a:xfrm>
            <a:off x="4594860" y="3547872"/>
            <a:ext cx="1303020" cy="256032"/>
          </a:xfrm>
          <a:prstGeom prst="rect">
            <a:avLst/>
          </a:prstGeom>
          <a:noFill/>
        </p:spPr>
        <p:txBody>
          <a:bodyPr wrap="square"/>
          <a:lstStyle/>
          <a:p>
            <a:pPr algn="l">
              <a:defRPr sz="900" b="0">
                <a:solidFill>
                  <a:srgbClr val="374151"/>
                </a:solidFill>
                <a:latin typeface="Calibri"/>
              </a:defRPr>
            </a:pPr>
            <a:r>
              <a:t>-6.9%</a:t>
            </a:r>
          </a:p>
        </p:txBody>
      </p:sp>
      <p:sp>
        <p:nvSpPr>
          <p:cNvPr id="45" name="Rectangle 44"/>
          <p:cNvSpPr/>
          <p:nvPr/>
        </p:nvSpPr>
        <p:spPr>
          <a:xfrm>
            <a:off x="685800" y="3776472"/>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3803904"/>
            <a:ext cx="1303020" cy="256032"/>
          </a:xfrm>
          <a:prstGeom prst="rect">
            <a:avLst/>
          </a:prstGeom>
          <a:noFill/>
        </p:spPr>
        <p:txBody>
          <a:bodyPr wrap="square"/>
          <a:lstStyle/>
          <a:p>
            <a:pPr algn="l">
              <a:defRPr sz="900" b="0">
                <a:solidFill>
                  <a:srgbClr val="374151"/>
                </a:solidFill>
                <a:latin typeface="Calibri"/>
              </a:defRPr>
            </a:pPr>
            <a:r>
              <a:t>College Students</a:t>
            </a:r>
          </a:p>
        </p:txBody>
      </p:sp>
      <p:sp>
        <p:nvSpPr>
          <p:cNvPr id="47" name="TextBox 46"/>
          <p:cNvSpPr txBox="1"/>
          <p:nvPr/>
        </p:nvSpPr>
        <p:spPr>
          <a:xfrm>
            <a:off x="1988819" y="3803904"/>
            <a:ext cx="1303020" cy="256032"/>
          </a:xfrm>
          <a:prstGeom prst="rect">
            <a:avLst/>
          </a:prstGeom>
          <a:noFill/>
        </p:spPr>
        <p:txBody>
          <a:bodyPr wrap="square"/>
          <a:lstStyle/>
          <a:p>
            <a:pPr algn="l">
              <a:defRPr sz="900" b="0">
                <a:solidFill>
                  <a:srgbClr val="374151"/>
                </a:solidFill>
                <a:latin typeface="Calibri"/>
              </a:defRPr>
            </a:pPr>
            <a:r>
              <a:t>$712.34</a:t>
            </a:r>
          </a:p>
        </p:txBody>
      </p:sp>
      <p:sp>
        <p:nvSpPr>
          <p:cNvPr id="48" name="TextBox 47"/>
          <p:cNvSpPr txBox="1"/>
          <p:nvPr/>
        </p:nvSpPr>
        <p:spPr>
          <a:xfrm>
            <a:off x="3291840" y="3803904"/>
            <a:ext cx="1303020" cy="256032"/>
          </a:xfrm>
          <a:prstGeom prst="rect">
            <a:avLst/>
          </a:prstGeom>
          <a:noFill/>
        </p:spPr>
        <p:txBody>
          <a:bodyPr wrap="square"/>
          <a:lstStyle/>
          <a:p>
            <a:pPr algn="l">
              <a:defRPr sz="900" b="0">
                <a:solidFill>
                  <a:srgbClr val="374151"/>
                </a:solidFill>
                <a:latin typeface="Calibri"/>
              </a:defRPr>
            </a:pPr>
            <a:r>
              <a:t>$665.89</a:t>
            </a:r>
          </a:p>
        </p:txBody>
      </p:sp>
      <p:sp>
        <p:nvSpPr>
          <p:cNvPr id="49" name="TextBox 48"/>
          <p:cNvSpPr txBox="1"/>
          <p:nvPr/>
        </p:nvSpPr>
        <p:spPr>
          <a:xfrm>
            <a:off x="4594860" y="3803904"/>
            <a:ext cx="1303020" cy="256032"/>
          </a:xfrm>
          <a:prstGeom prst="rect">
            <a:avLst/>
          </a:prstGeom>
          <a:noFill/>
        </p:spPr>
        <p:txBody>
          <a:bodyPr wrap="square"/>
          <a:lstStyle/>
          <a:p>
            <a:pPr algn="l">
              <a:defRPr sz="900" b="0">
                <a:solidFill>
                  <a:srgbClr val="374151"/>
                </a:solidFill>
                <a:latin typeface="Calibri"/>
              </a:defRPr>
            </a:pPr>
            <a:r>
              <a:t>-6.5%</a:t>
            </a:r>
          </a:p>
        </p:txBody>
      </p:sp>
      <p:sp>
        <p:nvSpPr>
          <p:cNvPr id="50" name="Rectangle 49"/>
          <p:cNvSpPr/>
          <p:nvPr/>
        </p:nvSpPr>
        <p:spPr>
          <a:xfrm>
            <a:off x="685800" y="4032504"/>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 y="4059936"/>
            <a:ext cx="1303020" cy="256032"/>
          </a:xfrm>
          <a:prstGeom prst="rect">
            <a:avLst/>
          </a:prstGeom>
          <a:noFill/>
        </p:spPr>
        <p:txBody>
          <a:bodyPr wrap="square"/>
          <a:lstStyle/>
          <a:p>
            <a:pPr algn="l">
              <a:defRPr sz="900" b="0">
                <a:solidFill>
                  <a:srgbClr val="374151"/>
                </a:solidFill>
                <a:latin typeface="Calibri"/>
              </a:defRPr>
            </a:pPr>
            <a:r>
              <a:t>Luxury Shoppers</a:t>
            </a:r>
          </a:p>
        </p:txBody>
      </p:sp>
      <p:sp>
        <p:nvSpPr>
          <p:cNvPr id="52" name="TextBox 51"/>
          <p:cNvSpPr txBox="1"/>
          <p:nvPr/>
        </p:nvSpPr>
        <p:spPr>
          <a:xfrm>
            <a:off x="1988819" y="4059936"/>
            <a:ext cx="1303020" cy="256032"/>
          </a:xfrm>
          <a:prstGeom prst="rect">
            <a:avLst/>
          </a:prstGeom>
          <a:noFill/>
        </p:spPr>
        <p:txBody>
          <a:bodyPr wrap="square"/>
          <a:lstStyle/>
          <a:p>
            <a:pPr algn="l">
              <a:defRPr sz="900" b="0">
                <a:solidFill>
                  <a:srgbClr val="374151"/>
                </a:solidFill>
                <a:latin typeface="Calibri"/>
              </a:defRPr>
            </a:pPr>
            <a:r>
              <a:t>$423.56</a:t>
            </a:r>
          </a:p>
        </p:txBody>
      </p:sp>
      <p:sp>
        <p:nvSpPr>
          <p:cNvPr id="53" name="TextBox 52"/>
          <p:cNvSpPr txBox="1"/>
          <p:nvPr/>
        </p:nvSpPr>
        <p:spPr>
          <a:xfrm>
            <a:off x="3291840" y="4059936"/>
            <a:ext cx="1303020" cy="256032"/>
          </a:xfrm>
          <a:prstGeom prst="rect">
            <a:avLst/>
          </a:prstGeom>
          <a:noFill/>
        </p:spPr>
        <p:txBody>
          <a:bodyPr wrap="square"/>
          <a:lstStyle/>
          <a:p>
            <a:pPr algn="l">
              <a:defRPr sz="900" b="0">
                <a:solidFill>
                  <a:srgbClr val="374151"/>
                </a:solidFill>
                <a:latin typeface="Calibri"/>
              </a:defRPr>
            </a:pPr>
            <a:r>
              <a:t>$398.12</a:t>
            </a:r>
          </a:p>
        </p:txBody>
      </p:sp>
      <p:sp>
        <p:nvSpPr>
          <p:cNvPr id="54" name="TextBox 53"/>
          <p:cNvSpPr txBox="1"/>
          <p:nvPr/>
        </p:nvSpPr>
        <p:spPr>
          <a:xfrm>
            <a:off x="4594860" y="4059936"/>
            <a:ext cx="1303020" cy="256032"/>
          </a:xfrm>
          <a:prstGeom prst="rect">
            <a:avLst/>
          </a:prstGeom>
          <a:noFill/>
        </p:spPr>
        <p:txBody>
          <a:bodyPr wrap="square"/>
          <a:lstStyle/>
          <a:p>
            <a:pPr algn="l">
              <a:defRPr sz="900" b="0">
                <a:solidFill>
                  <a:srgbClr val="374151"/>
                </a:solidFill>
                <a:latin typeface="Calibri"/>
              </a:defRPr>
            </a:pPr>
            <a:r>
              <a:t>-6.0%</a:t>
            </a:r>
          </a:p>
        </p:txBody>
      </p:sp>
      <p:sp>
        <p:nvSpPr>
          <p:cNvPr id="55" name="Rectangle 54"/>
          <p:cNvSpPr/>
          <p:nvPr/>
        </p:nvSpPr>
        <p:spPr>
          <a:xfrm>
            <a:off x="685800" y="4288536"/>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5800" y="4315968"/>
            <a:ext cx="1303020" cy="256032"/>
          </a:xfrm>
          <a:prstGeom prst="rect">
            <a:avLst/>
          </a:prstGeom>
          <a:noFill/>
        </p:spPr>
        <p:txBody>
          <a:bodyPr wrap="square"/>
          <a:lstStyle/>
          <a:p>
            <a:pPr algn="l">
              <a:defRPr sz="900" b="0">
                <a:solidFill>
                  <a:srgbClr val="374151"/>
                </a:solidFill>
                <a:latin typeface="Calibri"/>
              </a:defRPr>
            </a:pPr>
            <a:r>
              <a:t>Business Prof.</a:t>
            </a:r>
          </a:p>
        </p:txBody>
      </p:sp>
      <p:sp>
        <p:nvSpPr>
          <p:cNvPr id="57" name="TextBox 56"/>
          <p:cNvSpPr txBox="1"/>
          <p:nvPr/>
        </p:nvSpPr>
        <p:spPr>
          <a:xfrm>
            <a:off x="1988819" y="4315968"/>
            <a:ext cx="1303020" cy="256032"/>
          </a:xfrm>
          <a:prstGeom prst="rect">
            <a:avLst/>
          </a:prstGeom>
          <a:noFill/>
        </p:spPr>
        <p:txBody>
          <a:bodyPr wrap="square"/>
          <a:lstStyle/>
          <a:p>
            <a:pPr algn="l">
              <a:defRPr sz="900" b="0">
                <a:solidFill>
                  <a:srgbClr val="374151"/>
                </a:solidFill>
                <a:latin typeface="Calibri"/>
              </a:defRPr>
            </a:pPr>
            <a:r>
              <a:t>$487.23</a:t>
            </a:r>
          </a:p>
        </p:txBody>
      </p:sp>
      <p:sp>
        <p:nvSpPr>
          <p:cNvPr id="58" name="TextBox 57"/>
          <p:cNvSpPr txBox="1"/>
          <p:nvPr/>
        </p:nvSpPr>
        <p:spPr>
          <a:xfrm>
            <a:off x="3291840" y="4315968"/>
            <a:ext cx="1303020" cy="256032"/>
          </a:xfrm>
          <a:prstGeom prst="rect">
            <a:avLst/>
          </a:prstGeom>
          <a:noFill/>
        </p:spPr>
        <p:txBody>
          <a:bodyPr wrap="square"/>
          <a:lstStyle/>
          <a:p>
            <a:pPr algn="l">
              <a:defRPr sz="900" b="0">
                <a:solidFill>
                  <a:srgbClr val="374151"/>
                </a:solidFill>
                <a:latin typeface="Calibri"/>
              </a:defRPr>
            </a:pPr>
            <a:r>
              <a:t>$454.91</a:t>
            </a:r>
          </a:p>
        </p:txBody>
      </p:sp>
      <p:sp>
        <p:nvSpPr>
          <p:cNvPr id="59" name="TextBox 58"/>
          <p:cNvSpPr txBox="1"/>
          <p:nvPr/>
        </p:nvSpPr>
        <p:spPr>
          <a:xfrm>
            <a:off x="4594860" y="4315968"/>
            <a:ext cx="1303020" cy="256032"/>
          </a:xfrm>
          <a:prstGeom prst="rect">
            <a:avLst/>
          </a:prstGeom>
          <a:noFill/>
        </p:spPr>
        <p:txBody>
          <a:bodyPr wrap="square"/>
          <a:lstStyle/>
          <a:p>
            <a:pPr algn="l">
              <a:defRPr sz="900" b="0">
                <a:solidFill>
                  <a:srgbClr val="374151"/>
                </a:solidFill>
                <a:latin typeface="Calibri"/>
              </a:defRPr>
            </a:pPr>
            <a:r>
              <a:t>-6.6%</a:t>
            </a:r>
          </a:p>
        </p:txBody>
      </p:sp>
      <p:sp>
        <p:nvSpPr>
          <p:cNvPr id="60" name="Rectangle 59"/>
          <p:cNvSpPr/>
          <p:nvPr/>
        </p:nvSpPr>
        <p:spPr>
          <a:xfrm>
            <a:off x="685800" y="4544568"/>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5800" y="4572000"/>
            <a:ext cx="1303020" cy="256032"/>
          </a:xfrm>
          <a:prstGeom prst="rect">
            <a:avLst/>
          </a:prstGeom>
          <a:noFill/>
        </p:spPr>
        <p:txBody>
          <a:bodyPr wrap="square"/>
          <a:lstStyle/>
          <a:p>
            <a:pPr algn="l">
              <a:defRPr sz="900" b="0">
                <a:solidFill>
                  <a:srgbClr val="374151"/>
                </a:solidFill>
                <a:latin typeface="Calibri"/>
              </a:defRPr>
            </a:pPr>
            <a:r>
              <a:t>Gamers</a:t>
            </a:r>
          </a:p>
        </p:txBody>
      </p:sp>
      <p:sp>
        <p:nvSpPr>
          <p:cNvPr id="62" name="TextBox 61"/>
          <p:cNvSpPr txBox="1"/>
          <p:nvPr/>
        </p:nvSpPr>
        <p:spPr>
          <a:xfrm>
            <a:off x="1988819" y="4572000"/>
            <a:ext cx="1303020" cy="256032"/>
          </a:xfrm>
          <a:prstGeom prst="rect">
            <a:avLst/>
          </a:prstGeom>
          <a:noFill/>
        </p:spPr>
        <p:txBody>
          <a:bodyPr wrap="square"/>
          <a:lstStyle/>
          <a:p>
            <a:pPr algn="l">
              <a:defRPr sz="900" b="0">
                <a:solidFill>
                  <a:srgbClr val="374151"/>
                </a:solidFill>
                <a:latin typeface="Calibri"/>
              </a:defRPr>
            </a:pPr>
            <a:r>
              <a:t>$689.71</a:t>
            </a:r>
          </a:p>
        </p:txBody>
      </p:sp>
      <p:sp>
        <p:nvSpPr>
          <p:cNvPr id="63" name="TextBox 62"/>
          <p:cNvSpPr txBox="1"/>
          <p:nvPr/>
        </p:nvSpPr>
        <p:spPr>
          <a:xfrm>
            <a:off x="3291840" y="4572000"/>
            <a:ext cx="1303020" cy="256032"/>
          </a:xfrm>
          <a:prstGeom prst="rect">
            <a:avLst/>
          </a:prstGeom>
          <a:noFill/>
        </p:spPr>
        <p:txBody>
          <a:bodyPr wrap="square"/>
          <a:lstStyle/>
          <a:p>
            <a:pPr algn="l">
              <a:defRPr sz="900" b="0">
                <a:solidFill>
                  <a:srgbClr val="374151"/>
                </a:solidFill>
                <a:latin typeface="Calibri"/>
              </a:defRPr>
            </a:pPr>
            <a:r>
              <a:t>$643.22</a:t>
            </a:r>
          </a:p>
        </p:txBody>
      </p:sp>
      <p:sp>
        <p:nvSpPr>
          <p:cNvPr id="64" name="TextBox 63"/>
          <p:cNvSpPr txBox="1"/>
          <p:nvPr/>
        </p:nvSpPr>
        <p:spPr>
          <a:xfrm>
            <a:off x="4594860" y="4572000"/>
            <a:ext cx="1303020" cy="256032"/>
          </a:xfrm>
          <a:prstGeom prst="rect">
            <a:avLst/>
          </a:prstGeom>
          <a:noFill/>
        </p:spPr>
        <p:txBody>
          <a:bodyPr wrap="square"/>
          <a:lstStyle/>
          <a:p>
            <a:pPr algn="l">
              <a:defRPr sz="900" b="0">
                <a:solidFill>
                  <a:srgbClr val="374151"/>
                </a:solidFill>
                <a:latin typeface="Calibri"/>
              </a:defRPr>
            </a:pPr>
            <a:r>
              <a:t>-6.7%</a:t>
            </a:r>
          </a:p>
        </p:txBody>
      </p:sp>
      <p:sp>
        <p:nvSpPr>
          <p:cNvPr id="65" name="Rectangle 64"/>
          <p:cNvSpPr/>
          <p:nvPr/>
        </p:nvSpPr>
        <p:spPr>
          <a:xfrm>
            <a:off x="685800" y="4800600"/>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400800" y="2606040"/>
            <a:ext cx="52120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83680" y="2743200"/>
            <a:ext cx="4572000" cy="274320"/>
          </a:xfrm>
          <a:prstGeom prst="rect">
            <a:avLst/>
          </a:prstGeom>
          <a:noFill/>
        </p:spPr>
        <p:txBody>
          <a:bodyPr wrap="square"/>
          <a:lstStyle/>
          <a:p>
            <a:pPr algn="l">
              <a:defRPr sz="1300" b="1">
                <a:solidFill>
                  <a:srgbClr val="111827"/>
                </a:solidFill>
                <a:latin typeface="Calibri"/>
              </a:defRPr>
            </a:pPr>
            <a:r>
              <a:t>Reserve Price Sensitivity</a:t>
            </a:r>
          </a:p>
        </p:txBody>
      </p:sp>
      <p:sp>
        <p:nvSpPr>
          <p:cNvPr id="68" name="TextBox 67"/>
          <p:cNvSpPr txBox="1"/>
          <p:nvPr/>
        </p:nvSpPr>
        <p:spPr>
          <a:xfrm>
            <a:off x="6583680" y="3063240"/>
            <a:ext cx="4572000" cy="411480"/>
          </a:xfrm>
          <a:prstGeom prst="rect">
            <a:avLst/>
          </a:prstGeom>
          <a:noFill/>
        </p:spPr>
        <p:txBody>
          <a:bodyPr wrap="square"/>
          <a:lstStyle/>
          <a:p>
            <a:pPr algn="l">
              <a:defRPr sz="1000" b="0">
                <a:solidFill>
                  <a:srgbClr val="6B7280"/>
                </a:solidFill>
                <a:latin typeface="Calibri"/>
              </a:defRPr>
            </a:pPr>
            <a:r>
              <a:t>Optimal reserve varies by segment competition.</a:t>
            </a:r>
            <a:br/>
            <a:r>
              <a:t>Revenue peaks at $2.50-$3.50, then declines as fill rate drops.</a:t>
            </a:r>
          </a:p>
        </p:txBody>
      </p:sp>
      <p:sp>
        <p:nvSpPr>
          <p:cNvPr id="69" name="Rectangle 68"/>
          <p:cNvSpPr/>
          <p:nvPr/>
        </p:nvSpPr>
        <p:spPr>
          <a:xfrm>
            <a:off x="6675120" y="4059935"/>
            <a:ext cx="384048" cy="832103"/>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29400" y="4937760"/>
            <a:ext cx="475488" cy="182880"/>
          </a:xfrm>
          <a:prstGeom prst="rect">
            <a:avLst/>
          </a:prstGeom>
          <a:noFill/>
        </p:spPr>
        <p:txBody>
          <a:bodyPr wrap="square"/>
          <a:lstStyle/>
          <a:p>
            <a:pPr algn="ctr">
              <a:defRPr sz="700" b="0">
                <a:solidFill>
                  <a:srgbClr val="6B7280"/>
                </a:solidFill>
                <a:latin typeface="Calibri"/>
              </a:defRPr>
            </a:pPr>
            <a:r>
              <a:t>$0.50</a:t>
            </a:r>
          </a:p>
        </p:txBody>
      </p:sp>
      <p:sp>
        <p:nvSpPr>
          <p:cNvPr id="71" name="Rectangle 70"/>
          <p:cNvSpPr/>
          <p:nvPr/>
        </p:nvSpPr>
        <p:spPr>
          <a:xfrm>
            <a:off x="7196328" y="3893515"/>
            <a:ext cx="384048" cy="99852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150608" y="4937760"/>
            <a:ext cx="475488" cy="182880"/>
          </a:xfrm>
          <a:prstGeom prst="rect">
            <a:avLst/>
          </a:prstGeom>
          <a:noFill/>
        </p:spPr>
        <p:txBody>
          <a:bodyPr wrap="square"/>
          <a:lstStyle/>
          <a:p>
            <a:pPr algn="ctr">
              <a:defRPr sz="700" b="0">
                <a:solidFill>
                  <a:srgbClr val="6B7280"/>
                </a:solidFill>
                <a:latin typeface="Calibri"/>
              </a:defRPr>
            </a:pPr>
            <a:r>
              <a:t>$1.00</a:t>
            </a:r>
          </a:p>
        </p:txBody>
      </p:sp>
      <p:sp>
        <p:nvSpPr>
          <p:cNvPr id="73" name="Rectangle 72"/>
          <p:cNvSpPr/>
          <p:nvPr/>
        </p:nvSpPr>
        <p:spPr>
          <a:xfrm>
            <a:off x="7717536" y="3765499"/>
            <a:ext cx="384048" cy="11265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671815" y="4937760"/>
            <a:ext cx="475488" cy="182880"/>
          </a:xfrm>
          <a:prstGeom prst="rect">
            <a:avLst/>
          </a:prstGeom>
          <a:noFill/>
        </p:spPr>
        <p:txBody>
          <a:bodyPr wrap="square"/>
          <a:lstStyle/>
          <a:p>
            <a:pPr algn="ctr">
              <a:defRPr sz="700" b="0">
                <a:solidFill>
                  <a:srgbClr val="6B7280"/>
                </a:solidFill>
                <a:latin typeface="Calibri"/>
              </a:defRPr>
            </a:pPr>
            <a:r>
              <a:t>$1.50</a:t>
            </a:r>
          </a:p>
        </p:txBody>
      </p:sp>
      <p:sp>
        <p:nvSpPr>
          <p:cNvPr id="75" name="Rectangle 74"/>
          <p:cNvSpPr/>
          <p:nvPr/>
        </p:nvSpPr>
        <p:spPr>
          <a:xfrm>
            <a:off x="8238744" y="3675887"/>
            <a:ext cx="384048" cy="1216151"/>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193023" y="4937760"/>
            <a:ext cx="475488" cy="182880"/>
          </a:xfrm>
          <a:prstGeom prst="rect">
            <a:avLst/>
          </a:prstGeom>
          <a:noFill/>
        </p:spPr>
        <p:txBody>
          <a:bodyPr wrap="square"/>
          <a:lstStyle/>
          <a:p>
            <a:pPr algn="ctr">
              <a:defRPr sz="700" b="0">
                <a:solidFill>
                  <a:srgbClr val="6B7280"/>
                </a:solidFill>
                <a:latin typeface="Calibri"/>
              </a:defRPr>
            </a:pPr>
            <a:r>
              <a:t>$2.00</a:t>
            </a:r>
          </a:p>
        </p:txBody>
      </p:sp>
      <p:sp>
        <p:nvSpPr>
          <p:cNvPr id="77" name="Rectangle 76"/>
          <p:cNvSpPr/>
          <p:nvPr/>
        </p:nvSpPr>
        <p:spPr>
          <a:xfrm>
            <a:off x="8759952" y="3611879"/>
            <a:ext cx="384048" cy="12801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714232" y="4937760"/>
            <a:ext cx="475488" cy="182880"/>
          </a:xfrm>
          <a:prstGeom prst="rect">
            <a:avLst/>
          </a:prstGeom>
          <a:noFill/>
        </p:spPr>
        <p:txBody>
          <a:bodyPr wrap="square"/>
          <a:lstStyle/>
          <a:p>
            <a:pPr algn="ctr">
              <a:defRPr sz="700" b="0">
                <a:solidFill>
                  <a:srgbClr val="6B7280"/>
                </a:solidFill>
                <a:latin typeface="Calibri"/>
              </a:defRPr>
            </a:pPr>
            <a:r>
              <a:t>$2.50</a:t>
            </a:r>
          </a:p>
        </p:txBody>
      </p:sp>
      <p:sp>
        <p:nvSpPr>
          <p:cNvPr id="79" name="Rectangle 78"/>
          <p:cNvSpPr/>
          <p:nvPr/>
        </p:nvSpPr>
        <p:spPr>
          <a:xfrm>
            <a:off x="9281159" y="3650284"/>
            <a:ext cx="384048" cy="1241755"/>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235439" y="4937760"/>
            <a:ext cx="475488" cy="182880"/>
          </a:xfrm>
          <a:prstGeom prst="rect">
            <a:avLst/>
          </a:prstGeom>
          <a:noFill/>
        </p:spPr>
        <p:txBody>
          <a:bodyPr wrap="square"/>
          <a:lstStyle/>
          <a:p>
            <a:pPr algn="ctr">
              <a:defRPr sz="700" b="0">
                <a:solidFill>
                  <a:srgbClr val="6B7280"/>
                </a:solidFill>
                <a:latin typeface="Calibri"/>
              </a:defRPr>
            </a:pPr>
            <a:r>
              <a:t>$3.00</a:t>
            </a:r>
          </a:p>
        </p:txBody>
      </p:sp>
      <p:sp>
        <p:nvSpPr>
          <p:cNvPr id="81" name="Rectangle 80"/>
          <p:cNvSpPr/>
          <p:nvPr/>
        </p:nvSpPr>
        <p:spPr>
          <a:xfrm>
            <a:off x="9802367" y="3727094"/>
            <a:ext cx="384048" cy="1164945"/>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756647" y="4937760"/>
            <a:ext cx="475488" cy="182880"/>
          </a:xfrm>
          <a:prstGeom prst="rect">
            <a:avLst/>
          </a:prstGeom>
          <a:noFill/>
        </p:spPr>
        <p:txBody>
          <a:bodyPr wrap="square"/>
          <a:lstStyle/>
          <a:p>
            <a:pPr algn="ctr">
              <a:defRPr sz="700" b="0">
                <a:solidFill>
                  <a:srgbClr val="6B7280"/>
                </a:solidFill>
                <a:latin typeface="Calibri"/>
              </a:defRPr>
            </a:pPr>
            <a:r>
              <a:t>$3.50</a:t>
            </a:r>
          </a:p>
        </p:txBody>
      </p:sp>
      <p:sp>
        <p:nvSpPr>
          <p:cNvPr id="83" name="Rectangle 82"/>
          <p:cNvSpPr/>
          <p:nvPr/>
        </p:nvSpPr>
        <p:spPr>
          <a:xfrm>
            <a:off x="10323576" y="3842308"/>
            <a:ext cx="384048" cy="1049731"/>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277855" y="4937760"/>
            <a:ext cx="475488" cy="182880"/>
          </a:xfrm>
          <a:prstGeom prst="rect">
            <a:avLst/>
          </a:prstGeom>
          <a:noFill/>
        </p:spPr>
        <p:txBody>
          <a:bodyPr wrap="square"/>
          <a:lstStyle/>
          <a:p>
            <a:pPr algn="ctr">
              <a:defRPr sz="700" b="0">
                <a:solidFill>
                  <a:srgbClr val="6B7280"/>
                </a:solidFill>
                <a:latin typeface="Calibri"/>
              </a:defRPr>
            </a:pPr>
            <a:r>
              <a:t>$4.00</a:t>
            </a:r>
          </a:p>
        </p:txBody>
      </p:sp>
      <p:sp>
        <p:nvSpPr>
          <p:cNvPr id="85" name="Rectangle 84"/>
          <p:cNvSpPr/>
          <p:nvPr/>
        </p:nvSpPr>
        <p:spPr>
          <a:xfrm>
            <a:off x="10844784" y="4149547"/>
            <a:ext cx="384048" cy="7424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799063" y="4937760"/>
            <a:ext cx="475488" cy="182880"/>
          </a:xfrm>
          <a:prstGeom prst="rect">
            <a:avLst/>
          </a:prstGeom>
          <a:noFill/>
        </p:spPr>
        <p:txBody>
          <a:bodyPr wrap="square"/>
          <a:lstStyle/>
          <a:p>
            <a:pPr algn="ctr">
              <a:defRPr sz="700" b="0">
                <a:solidFill>
                  <a:srgbClr val="6B7280"/>
                </a:solidFill>
                <a:latin typeface="Calibri"/>
              </a:defRPr>
            </a:pPr>
            <a:r>
              <a:t>$5.00</a:t>
            </a:r>
          </a:p>
        </p:txBody>
      </p:sp>
      <p:sp>
        <p:nvSpPr>
          <p:cNvPr id="87" name="Rectangle 86"/>
          <p:cNvSpPr/>
          <p:nvPr/>
        </p:nvSpPr>
        <p:spPr>
          <a:xfrm>
            <a:off x="548640" y="5394960"/>
            <a:ext cx="11064240" cy="9144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77240" y="5468112"/>
            <a:ext cx="1371600" cy="274320"/>
          </a:xfrm>
          <a:prstGeom prst="rect">
            <a:avLst/>
          </a:prstGeom>
          <a:noFill/>
        </p:spPr>
        <p:txBody>
          <a:bodyPr wrap="square"/>
          <a:lstStyle/>
          <a:p>
            <a:pPr algn="l">
              <a:defRPr sz="1000" b="1">
                <a:solidFill>
                  <a:srgbClr val="1D4ED8"/>
                </a:solidFill>
                <a:latin typeface="Calibri"/>
              </a:defRPr>
            </a:pPr>
            <a:r>
              <a:t>Key Insight</a:t>
            </a:r>
          </a:p>
        </p:txBody>
      </p:sp>
      <p:sp>
        <p:nvSpPr>
          <p:cNvPr id="89" name="TextBox 88"/>
          <p:cNvSpPr txBox="1"/>
          <p:nvPr/>
        </p:nvSpPr>
        <p:spPr>
          <a:xfrm>
            <a:off x="777240" y="5715000"/>
            <a:ext cx="10515600" cy="457200"/>
          </a:xfrm>
          <a:prstGeom prst="rect">
            <a:avLst/>
          </a:prstGeom>
          <a:noFill/>
        </p:spPr>
        <p:txBody>
          <a:bodyPr wrap="square"/>
          <a:lstStyle/>
          <a:p>
            <a:pPr algn="l">
              <a:defRPr sz="1000" b="0">
                <a:solidFill>
                  <a:srgbClr val="142850"/>
                </a:solidFill>
                <a:latin typeface="Calibri"/>
              </a:defRPr>
            </a:pPr>
            <a:r>
              <a:t>GSP yields 6-7% higher revenue than VCG across all segments due to non-truthful bidding dynamics. The revenue-optimal reserve ($2.50) differs from the welfare-optimal reserve ($1.50) — this tension between monetization and user experience is fundamental to auction system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7315200" cy="457200"/>
          </a:xfrm>
          <a:prstGeom prst="rect">
            <a:avLst/>
          </a:prstGeom>
          <a:noFill/>
        </p:spPr>
        <p:txBody>
          <a:bodyPr wrap="square"/>
          <a:lstStyle/>
          <a:p>
            <a:pPr algn="l">
              <a:defRPr sz="2800" b="1">
                <a:solidFill>
                  <a:srgbClr val="111827"/>
                </a:solidFill>
                <a:latin typeface="Calibri"/>
              </a:defRPr>
            </a:pPr>
            <a:r>
              <a:t>Budget Pacing &amp; Adversarial Robustness</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24-hour pacing simulation with adversarial whale gaming analysis and mitigation strategies</a:t>
            </a:r>
          </a:p>
        </p:txBody>
      </p:sp>
      <p:sp>
        <p:nvSpPr>
          <p:cNvPr id="4" name="Rectangle 3"/>
          <p:cNvSpPr/>
          <p:nvPr/>
        </p:nvSpPr>
        <p:spPr>
          <a:xfrm>
            <a:off x="548640"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4864" cy="9144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81328"/>
            <a:ext cx="2286000" cy="228600"/>
          </a:xfrm>
          <a:prstGeom prst="rect">
            <a:avLst/>
          </a:prstGeom>
          <a:noFill/>
        </p:spPr>
        <p:txBody>
          <a:bodyPr wrap="square"/>
          <a:lstStyle/>
          <a:p>
            <a:pPr algn="l">
              <a:defRPr sz="800" b="1">
                <a:solidFill>
                  <a:srgbClr val="6B7280"/>
                </a:solidFill>
                <a:latin typeface="Calibri"/>
              </a:defRPr>
            </a:pPr>
            <a:r>
              <a:t>24H REVENUE</a:t>
            </a:r>
          </a:p>
        </p:txBody>
      </p:sp>
      <p:sp>
        <p:nvSpPr>
          <p:cNvPr id="7" name="TextBox 6"/>
          <p:cNvSpPr txBox="1"/>
          <p:nvPr/>
        </p:nvSpPr>
        <p:spPr>
          <a:xfrm>
            <a:off x="777240" y="1691640"/>
            <a:ext cx="2286000" cy="365760"/>
          </a:xfrm>
          <a:prstGeom prst="rect">
            <a:avLst/>
          </a:prstGeom>
          <a:noFill/>
        </p:spPr>
        <p:txBody>
          <a:bodyPr wrap="square"/>
          <a:lstStyle/>
          <a:p>
            <a:pPr algn="l">
              <a:defRPr sz="2200" b="1">
                <a:solidFill>
                  <a:srgbClr val="111827"/>
                </a:solidFill>
                <a:latin typeface="Consolas"/>
              </a:defRPr>
            </a:pPr>
            <a:r>
              <a:t>$8,247</a:t>
            </a:r>
          </a:p>
        </p:txBody>
      </p:sp>
      <p:sp>
        <p:nvSpPr>
          <p:cNvPr id="8" name="TextBox 7"/>
          <p:cNvSpPr txBox="1"/>
          <p:nvPr/>
        </p:nvSpPr>
        <p:spPr>
          <a:xfrm>
            <a:off x="777240" y="2029967"/>
            <a:ext cx="2286000" cy="228600"/>
          </a:xfrm>
          <a:prstGeom prst="rect">
            <a:avLst/>
          </a:prstGeom>
          <a:noFill/>
        </p:spPr>
        <p:txBody>
          <a:bodyPr wrap="square"/>
          <a:lstStyle/>
          <a:p>
            <a:pPr algn="l">
              <a:defRPr sz="900" b="0">
                <a:solidFill>
                  <a:srgbClr val="6B7280"/>
                </a:solidFill>
                <a:latin typeface="Calibri"/>
              </a:defRPr>
            </a:pPr>
            <a:r>
              <a:t>Young Tech segment</a:t>
            </a:r>
          </a:p>
        </p:txBody>
      </p:sp>
      <p:sp>
        <p:nvSpPr>
          <p:cNvPr id="9" name="Rectangle 8"/>
          <p:cNvSpPr/>
          <p:nvPr/>
        </p:nvSpPr>
        <p:spPr>
          <a:xfrm>
            <a:off x="3337560"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371600"/>
            <a:ext cx="54864"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481328"/>
            <a:ext cx="2286000" cy="228600"/>
          </a:xfrm>
          <a:prstGeom prst="rect">
            <a:avLst/>
          </a:prstGeom>
          <a:noFill/>
        </p:spPr>
        <p:txBody>
          <a:bodyPr wrap="square"/>
          <a:lstStyle/>
          <a:p>
            <a:pPr algn="l">
              <a:defRPr sz="800" b="1">
                <a:solidFill>
                  <a:srgbClr val="6B7280"/>
                </a:solidFill>
                <a:latin typeface="Calibri"/>
              </a:defRPr>
            </a:pPr>
            <a:r>
              <a:t>PEAK HOUR</a:t>
            </a:r>
          </a:p>
        </p:txBody>
      </p:sp>
      <p:sp>
        <p:nvSpPr>
          <p:cNvPr id="12" name="TextBox 11"/>
          <p:cNvSpPr txBox="1"/>
          <p:nvPr/>
        </p:nvSpPr>
        <p:spPr>
          <a:xfrm>
            <a:off x="3566160" y="1691640"/>
            <a:ext cx="2286000" cy="365760"/>
          </a:xfrm>
          <a:prstGeom prst="rect">
            <a:avLst/>
          </a:prstGeom>
          <a:noFill/>
        </p:spPr>
        <p:txBody>
          <a:bodyPr wrap="square"/>
          <a:lstStyle/>
          <a:p>
            <a:pPr algn="l">
              <a:defRPr sz="2200" b="1">
                <a:solidFill>
                  <a:srgbClr val="111827"/>
                </a:solidFill>
                <a:latin typeface="Consolas"/>
              </a:defRPr>
            </a:pPr>
            <a:r>
              <a:t>20:00</a:t>
            </a:r>
          </a:p>
        </p:txBody>
      </p:sp>
      <p:sp>
        <p:nvSpPr>
          <p:cNvPr id="13" name="TextBox 12"/>
          <p:cNvSpPr txBox="1"/>
          <p:nvPr/>
        </p:nvSpPr>
        <p:spPr>
          <a:xfrm>
            <a:off x="3566160" y="2029967"/>
            <a:ext cx="2286000" cy="228600"/>
          </a:xfrm>
          <a:prstGeom prst="rect">
            <a:avLst/>
          </a:prstGeom>
          <a:noFill/>
        </p:spPr>
        <p:txBody>
          <a:bodyPr wrap="square"/>
          <a:lstStyle/>
          <a:p>
            <a:pPr algn="l">
              <a:defRPr sz="900" b="0">
                <a:solidFill>
                  <a:srgbClr val="6B7280"/>
                </a:solidFill>
                <a:latin typeface="Calibri"/>
              </a:defRPr>
            </a:pPr>
            <a:r>
              <a:t>$521 revenue</a:t>
            </a:r>
          </a:p>
        </p:txBody>
      </p:sp>
      <p:sp>
        <p:nvSpPr>
          <p:cNvPr id="14" name="Rectangle 13"/>
          <p:cNvSpPr/>
          <p:nvPr/>
        </p:nvSpPr>
        <p:spPr>
          <a:xfrm>
            <a:off x="6126479"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79" y="1371600"/>
            <a:ext cx="54864" cy="9144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481328"/>
            <a:ext cx="2286000" cy="228600"/>
          </a:xfrm>
          <a:prstGeom prst="rect">
            <a:avLst/>
          </a:prstGeom>
          <a:noFill/>
        </p:spPr>
        <p:txBody>
          <a:bodyPr wrap="square"/>
          <a:lstStyle/>
          <a:p>
            <a:pPr algn="l">
              <a:defRPr sz="800" b="1">
                <a:solidFill>
                  <a:srgbClr val="6B7280"/>
                </a:solidFill>
                <a:latin typeface="Calibri"/>
              </a:defRPr>
            </a:pPr>
            <a:r>
              <a:t>RESERVE RANGE</a:t>
            </a:r>
          </a:p>
        </p:txBody>
      </p:sp>
      <p:sp>
        <p:nvSpPr>
          <p:cNvPr id="17" name="TextBox 16"/>
          <p:cNvSpPr txBox="1"/>
          <p:nvPr/>
        </p:nvSpPr>
        <p:spPr>
          <a:xfrm>
            <a:off x="6355079" y="1691640"/>
            <a:ext cx="2286000" cy="365760"/>
          </a:xfrm>
          <a:prstGeom prst="rect">
            <a:avLst/>
          </a:prstGeom>
          <a:noFill/>
        </p:spPr>
        <p:txBody>
          <a:bodyPr wrap="square"/>
          <a:lstStyle/>
          <a:p>
            <a:pPr algn="l">
              <a:defRPr sz="2200" b="1">
                <a:solidFill>
                  <a:srgbClr val="111827"/>
                </a:solidFill>
                <a:latin typeface="Consolas"/>
              </a:defRPr>
            </a:pPr>
            <a:r>
              <a:t>$0.40–$0.60</a:t>
            </a:r>
          </a:p>
        </p:txBody>
      </p:sp>
      <p:sp>
        <p:nvSpPr>
          <p:cNvPr id="18" name="TextBox 17"/>
          <p:cNvSpPr txBox="1"/>
          <p:nvPr/>
        </p:nvSpPr>
        <p:spPr>
          <a:xfrm>
            <a:off x="6355079" y="2029967"/>
            <a:ext cx="2286000" cy="228600"/>
          </a:xfrm>
          <a:prstGeom prst="rect">
            <a:avLst/>
          </a:prstGeom>
          <a:noFill/>
        </p:spPr>
        <p:txBody>
          <a:bodyPr wrap="square"/>
          <a:lstStyle/>
          <a:p>
            <a:pPr algn="l">
              <a:defRPr sz="900" b="0">
                <a:solidFill>
                  <a:srgbClr val="6B7280"/>
                </a:solidFill>
                <a:latin typeface="Calibri"/>
              </a:defRPr>
            </a:pPr>
            <a:r>
              <a:t>2.3x variation</a:t>
            </a:r>
          </a:p>
        </p:txBody>
      </p:sp>
      <p:sp>
        <p:nvSpPr>
          <p:cNvPr id="19" name="Rectangle 18"/>
          <p:cNvSpPr/>
          <p:nvPr/>
        </p:nvSpPr>
        <p:spPr>
          <a:xfrm>
            <a:off x="8915399"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399" y="1371600"/>
            <a:ext cx="54864"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3999" y="1481328"/>
            <a:ext cx="2286000" cy="228600"/>
          </a:xfrm>
          <a:prstGeom prst="rect">
            <a:avLst/>
          </a:prstGeom>
          <a:noFill/>
        </p:spPr>
        <p:txBody>
          <a:bodyPr wrap="square"/>
          <a:lstStyle/>
          <a:p>
            <a:pPr algn="l">
              <a:defRPr sz="800" b="1">
                <a:solidFill>
                  <a:srgbClr val="6B7280"/>
                </a:solidFill>
                <a:latin typeface="Calibri"/>
              </a:defRPr>
            </a:pPr>
            <a:r>
              <a:t>BUDGET DEPLETION</a:t>
            </a:r>
          </a:p>
        </p:txBody>
      </p:sp>
      <p:sp>
        <p:nvSpPr>
          <p:cNvPr id="22" name="TextBox 21"/>
          <p:cNvSpPr txBox="1"/>
          <p:nvPr/>
        </p:nvSpPr>
        <p:spPr>
          <a:xfrm>
            <a:off x="9143999" y="1691640"/>
            <a:ext cx="2286000" cy="365760"/>
          </a:xfrm>
          <a:prstGeom prst="rect">
            <a:avLst/>
          </a:prstGeom>
          <a:noFill/>
        </p:spPr>
        <p:txBody>
          <a:bodyPr wrap="square"/>
          <a:lstStyle/>
          <a:p>
            <a:pPr algn="l">
              <a:defRPr sz="2200" b="1">
                <a:solidFill>
                  <a:srgbClr val="111827"/>
                </a:solidFill>
                <a:latin typeface="Consolas"/>
              </a:defRPr>
            </a:pPr>
            <a:r>
              <a:t>67%</a:t>
            </a:r>
          </a:p>
        </p:txBody>
      </p:sp>
      <p:sp>
        <p:nvSpPr>
          <p:cNvPr id="23" name="TextBox 22"/>
          <p:cNvSpPr txBox="1"/>
          <p:nvPr/>
        </p:nvSpPr>
        <p:spPr>
          <a:xfrm>
            <a:off x="9143999" y="2029967"/>
            <a:ext cx="2286000" cy="228600"/>
          </a:xfrm>
          <a:prstGeom prst="rect">
            <a:avLst/>
          </a:prstGeom>
          <a:noFill/>
        </p:spPr>
        <p:txBody>
          <a:bodyPr wrap="square"/>
          <a:lstStyle/>
          <a:p>
            <a:pPr algn="l">
              <a:defRPr sz="900" b="0">
                <a:solidFill>
                  <a:srgbClr val="6B7280"/>
                </a:solidFill>
                <a:latin typeface="Calibri"/>
              </a:defRPr>
            </a:pPr>
            <a:r>
              <a:t>End of day remaining</a:t>
            </a:r>
          </a:p>
        </p:txBody>
      </p:sp>
      <p:sp>
        <p:nvSpPr>
          <p:cNvPr id="24" name="Rectangle 23"/>
          <p:cNvSpPr/>
          <p:nvPr/>
        </p:nvSpPr>
        <p:spPr>
          <a:xfrm>
            <a:off x="548640" y="2606040"/>
            <a:ext cx="548640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697480"/>
            <a:ext cx="4572000" cy="274320"/>
          </a:xfrm>
          <a:prstGeom prst="rect">
            <a:avLst/>
          </a:prstGeom>
          <a:noFill/>
        </p:spPr>
        <p:txBody>
          <a:bodyPr wrap="square"/>
          <a:lstStyle/>
          <a:p>
            <a:pPr algn="l">
              <a:defRPr sz="1200" b="1">
                <a:solidFill>
                  <a:srgbClr val="111827"/>
                </a:solidFill>
                <a:latin typeface="Calibri"/>
              </a:defRPr>
            </a:pPr>
            <a:r>
              <a:t>Hourly Revenue &amp; Reserve Price</a:t>
            </a:r>
          </a:p>
        </p:txBody>
      </p:sp>
      <p:sp>
        <p:nvSpPr>
          <p:cNvPr id="26" name="TextBox 25"/>
          <p:cNvSpPr txBox="1"/>
          <p:nvPr/>
        </p:nvSpPr>
        <p:spPr>
          <a:xfrm>
            <a:off x="731520" y="2926080"/>
            <a:ext cx="4572000" cy="228600"/>
          </a:xfrm>
          <a:prstGeom prst="rect">
            <a:avLst/>
          </a:prstGeom>
          <a:noFill/>
        </p:spPr>
        <p:txBody>
          <a:bodyPr wrap="square"/>
          <a:lstStyle/>
          <a:p>
            <a:pPr algn="l">
              <a:defRPr sz="900" b="0">
                <a:solidFill>
                  <a:srgbClr val="6B7280"/>
                </a:solidFill>
                <a:latin typeface="Calibri"/>
              </a:defRPr>
            </a:pPr>
            <a:r>
              <a:t>Revenue tracks engagement multipliers; reserves adapt to competition</a:t>
            </a:r>
          </a:p>
        </p:txBody>
      </p:sp>
      <p:sp>
        <p:nvSpPr>
          <p:cNvPr id="27" name="Rectangle 26"/>
          <p:cNvSpPr/>
          <p:nvPr/>
        </p:nvSpPr>
        <p:spPr>
          <a:xfrm>
            <a:off x="777240" y="4535424"/>
            <a:ext cx="155448" cy="493776"/>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8408" y="4700016"/>
            <a:ext cx="155448" cy="32918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79576" y="4782312"/>
            <a:ext cx="155448" cy="24688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380744" y="4864608"/>
            <a:ext cx="155448" cy="1645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581912" y="4864608"/>
            <a:ext cx="155448" cy="1645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783080" y="4700016"/>
            <a:ext cx="155448" cy="32918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84248" y="4370832"/>
            <a:ext cx="155448" cy="65836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185416" y="3959352"/>
            <a:ext cx="155448" cy="106984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386584" y="3712463"/>
            <a:ext cx="155448" cy="131673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587752" y="3547872"/>
            <a:ext cx="155448" cy="14813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88920" y="3580790"/>
            <a:ext cx="155448" cy="144840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990088" y="3679545"/>
            <a:ext cx="155448" cy="134965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191256" y="3794760"/>
            <a:ext cx="155448" cy="123444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392424" y="3844137"/>
            <a:ext cx="155448" cy="118506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593592" y="3745382"/>
            <a:ext cx="155448" cy="1283817"/>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794759" y="3630168"/>
            <a:ext cx="155448" cy="139903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995928" y="3514953"/>
            <a:ext cx="155448" cy="1514246"/>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97096" y="3416198"/>
            <a:ext cx="155448" cy="1613001"/>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398264" y="3383280"/>
            <a:ext cx="155448" cy="1645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99431" y="3465576"/>
            <a:ext cx="155448" cy="156362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800600" y="3580790"/>
            <a:ext cx="155448" cy="1448409"/>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01768" y="3745382"/>
            <a:ext cx="155448" cy="1283817"/>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202936" y="4041648"/>
            <a:ext cx="155448" cy="98755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04103" y="4370832"/>
            <a:ext cx="155448" cy="658368"/>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5047488"/>
            <a:ext cx="274320" cy="182880"/>
          </a:xfrm>
          <a:prstGeom prst="rect">
            <a:avLst/>
          </a:prstGeom>
          <a:noFill/>
        </p:spPr>
        <p:txBody>
          <a:bodyPr wrap="square"/>
          <a:lstStyle/>
          <a:p>
            <a:pPr algn="ctr">
              <a:defRPr sz="700" b="0">
                <a:solidFill>
                  <a:srgbClr val="6B7280"/>
                </a:solidFill>
                <a:latin typeface="Calibri"/>
              </a:defRPr>
            </a:pPr>
            <a:r>
              <a:t>00h</a:t>
            </a:r>
          </a:p>
        </p:txBody>
      </p:sp>
      <p:sp>
        <p:nvSpPr>
          <p:cNvPr id="52" name="TextBox 51"/>
          <p:cNvSpPr txBox="1"/>
          <p:nvPr/>
        </p:nvSpPr>
        <p:spPr>
          <a:xfrm>
            <a:off x="1984248" y="5047488"/>
            <a:ext cx="274320" cy="182880"/>
          </a:xfrm>
          <a:prstGeom prst="rect">
            <a:avLst/>
          </a:prstGeom>
          <a:noFill/>
        </p:spPr>
        <p:txBody>
          <a:bodyPr wrap="square"/>
          <a:lstStyle/>
          <a:p>
            <a:pPr algn="ctr">
              <a:defRPr sz="700" b="0">
                <a:solidFill>
                  <a:srgbClr val="6B7280"/>
                </a:solidFill>
                <a:latin typeface="Calibri"/>
              </a:defRPr>
            </a:pPr>
            <a:r>
              <a:t>06h</a:t>
            </a:r>
          </a:p>
        </p:txBody>
      </p:sp>
      <p:sp>
        <p:nvSpPr>
          <p:cNvPr id="53" name="TextBox 52"/>
          <p:cNvSpPr txBox="1"/>
          <p:nvPr/>
        </p:nvSpPr>
        <p:spPr>
          <a:xfrm>
            <a:off x="3191256" y="5047488"/>
            <a:ext cx="274320" cy="182880"/>
          </a:xfrm>
          <a:prstGeom prst="rect">
            <a:avLst/>
          </a:prstGeom>
          <a:noFill/>
        </p:spPr>
        <p:txBody>
          <a:bodyPr wrap="square"/>
          <a:lstStyle/>
          <a:p>
            <a:pPr algn="ctr">
              <a:defRPr sz="700" b="0">
                <a:solidFill>
                  <a:srgbClr val="6B7280"/>
                </a:solidFill>
                <a:latin typeface="Calibri"/>
              </a:defRPr>
            </a:pPr>
            <a:r>
              <a:t>12h</a:t>
            </a:r>
          </a:p>
        </p:txBody>
      </p:sp>
      <p:sp>
        <p:nvSpPr>
          <p:cNvPr id="54" name="TextBox 53"/>
          <p:cNvSpPr txBox="1"/>
          <p:nvPr/>
        </p:nvSpPr>
        <p:spPr>
          <a:xfrm>
            <a:off x="4398264" y="5047488"/>
            <a:ext cx="274320" cy="182880"/>
          </a:xfrm>
          <a:prstGeom prst="rect">
            <a:avLst/>
          </a:prstGeom>
          <a:noFill/>
        </p:spPr>
        <p:txBody>
          <a:bodyPr wrap="square"/>
          <a:lstStyle/>
          <a:p>
            <a:pPr algn="ctr">
              <a:defRPr sz="700" b="0">
                <a:solidFill>
                  <a:srgbClr val="6B7280"/>
                </a:solidFill>
                <a:latin typeface="Calibri"/>
              </a:defRPr>
            </a:pPr>
            <a:r>
              <a:t>18h</a:t>
            </a:r>
          </a:p>
        </p:txBody>
      </p:sp>
      <p:sp>
        <p:nvSpPr>
          <p:cNvPr id="55" name="TextBox 54"/>
          <p:cNvSpPr txBox="1"/>
          <p:nvPr/>
        </p:nvSpPr>
        <p:spPr>
          <a:xfrm>
            <a:off x="5404103" y="5047488"/>
            <a:ext cx="274320" cy="182880"/>
          </a:xfrm>
          <a:prstGeom prst="rect">
            <a:avLst/>
          </a:prstGeom>
          <a:noFill/>
        </p:spPr>
        <p:txBody>
          <a:bodyPr wrap="square"/>
          <a:lstStyle/>
          <a:p>
            <a:pPr algn="ctr">
              <a:defRPr sz="700" b="0">
                <a:solidFill>
                  <a:srgbClr val="6B7280"/>
                </a:solidFill>
                <a:latin typeface="Calibri"/>
              </a:defRPr>
            </a:pPr>
            <a:r>
              <a:t>23h</a:t>
            </a:r>
          </a:p>
        </p:txBody>
      </p:sp>
      <p:sp>
        <p:nvSpPr>
          <p:cNvPr id="56" name="Rectangle 55"/>
          <p:cNvSpPr/>
          <p:nvPr/>
        </p:nvSpPr>
        <p:spPr>
          <a:xfrm>
            <a:off x="6400800" y="2606040"/>
            <a:ext cx="521208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83680" y="2697480"/>
            <a:ext cx="4572000" cy="274320"/>
          </a:xfrm>
          <a:prstGeom prst="rect">
            <a:avLst/>
          </a:prstGeom>
          <a:noFill/>
        </p:spPr>
        <p:txBody>
          <a:bodyPr wrap="square"/>
          <a:lstStyle/>
          <a:p>
            <a:pPr algn="l">
              <a:defRPr sz="1200" b="1">
                <a:solidFill>
                  <a:srgbClr val="111827"/>
                </a:solidFill>
                <a:latin typeface="Calibri"/>
              </a:defRPr>
            </a:pPr>
            <a:r>
              <a:t>Budget Depletion Dynamics</a:t>
            </a:r>
          </a:p>
        </p:txBody>
      </p:sp>
      <p:sp>
        <p:nvSpPr>
          <p:cNvPr id="58" name="TextBox 57"/>
          <p:cNvSpPr txBox="1"/>
          <p:nvPr/>
        </p:nvSpPr>
        <p:spPr>
          <a:xfrm>
            <a:off x="6766560" y="3154680"/>
            <a:ext cx="2011680" cy="201168"/>
          </a:xfrm>
          <a:prstGeom prst="rect">
            <a:avLst/>
          </a:prstGeom>
          <a:noFill/>
        </p:spPr>
        <p:txBody>
          <a:bodyPr wrap="square"/>
          <a:lstStyle/>
          <a:p>
            <a:pPr algn="l">
              <a:defRPr sz="1000" b="1">
                <a:solidFill>
                  <a:srgbClr val="0891B2"/>
                </a:solidFill>
                <a:latin typeface="Calibri"/>
              </a:defRPr>
            </a:pPr>
            <a:r>
              <a:t>Bid Shading</a:t>
            </a:r>
          </a:p>
        </p:txBody>
      </p:sp>
      <p:sp>
        <p:nvSpPr>
          <p:cNvPr id="59" name="TextBox 58"/>
          <p:cNvSpPr txBox="1"/>
          <p:nvPr/>
        </p:nvSpPr>
        <p:spPr>
          <a:xfrm>
            <a:off x="6766560" y="3374136"/>
            <a:ext cx="4572000" cy="201168"/>
          </a:xfrm>
          <a:prstGeom prst="rect">
            <a:avLst/>
          </a:prstGeom>
          <a:noFill/>
        </p:spPr>
        <p:txBody>
          <a:bodyPr wrap="square"/>
          <a:lstStyle/>
          <a:p>
            <a:pPr algn="l">
              <a:defRPr sz="900" b="0">
                <a:solidFill>
                  <a:srgbClr val="111827"/>
                </a:solidFill>
                <a:latin typeface="Consolas"/>
              </a:defRPr>
            </a:pPr>
            <a:r>
              <a:t>factor = 0.5 + 0.5 × (remaining / total)</a:t>
            </a:r>
          </a:p>
        </p:txBody>
      </p:sp>
      <p:sp>
        <p:nvSpPr>
          <p:cNvPr id="60" name="TextBox 59"/>
          <p:cNvSpPr txBox="1"/>
          <p:nvPr/>
        </p:nvSpPr>
        <p:spPr>
          <a:xfrm>
            <a:off x="6766560" y="3575304"/>
            <a:ext cx="4572000" cy="182880"/>
          </a:xfrm>
          <a:prstGeom prst="rect">
            <a:avLst/>
          </a:prstGeom>
          <a:noFill/>
        </p:spPr>
        <p:txBody>
          <a:bodyPr wrap="square"/>
          <a:lstStyle/>
          <a:p>
            <a:pPr algn="l">
              <a:defRPr sz="800" b="0">
                <a:solidFill>
                  <a:srgbClr val="6B7280"/>
                </a:solidFill>
                <a:latin typeface="Calibri"/>
              </a:defRPr>
            </a:pPr>
            <a:r>
              <a:t>Full bid at 100%, scales to 50% at 0%</a:t>
            </a:r>
          </a:p>
        </p:txBody>
      </p:sp>
      <p:sp>
        <p:nvSpPr>
          <p:cNvPr id="61" name="TextBox 60"/>
          <p:cNvSpPr txBox="1"/>
          <p:nvPr/>
        </p:nvSpPr>
        <p:spPr>
          <a:xfrm>
            <a:off x="6766560" y="3749040"/>
            <a:ext cx="2011680" cy="201168"/>
          </a:xfrm>
          <a:prstGeom prst="rect">
            <a:avLst/>
          </a:prstGeom>
          <a:noFill/>
        </p:spPr>
        <p:txBody>
          <a:bodyPr wrap="square"/>
          <a:lstStyle/>
          <a:p>
            <a:pPr algn="l">
              <a:defRPr sz="1000" b="1">
                <a:solidFill>
                  <a:srgbClr val="0891B2"/>
                </a:solidFill>
                <a:latin typeface="Calibri"/>
              </a:defRPr>
            </a:pPr>
            <a:r>
              <a:t>Scarcity Effect</a:t>
            </a:r>
          </a:p>
        </p:txBody>
      </p:sp>
      <p:sp>
        <p:nvSpPr>
          <p:cNvPr id="62" name="TextBox 61"/>
          <p:cNvSpPr txBox="1"/>
          <p:nvPr/>
        </p:nvSpPr>
        <p:spPr>
          <a:xfrm>
            <a:off x="6766560" y="3968496"/>
            <a:ext cx="4572000" cy="201168"/>
          </a:xfrm>
          <a:prstGeom prst="rect">
            <a:avLst/>
          </a:prstGeom>
          <a:noFill/>
        </p:spPr>
        <p:txBody>
          <a:bodyPr wrap="square"/>
          <a:lstStyle/>
          <a:p>
            <a:pPr algn="l">
              <a:defRPr sz="900" b="0">
                <a:solidFill>
                  <a:srgbClr val="111827"/>
                </a:solidFill>
                <a:latin typeface="Consolas"/>
              </a:defRPr>
            </a:pPr>
            <a:r>
              <a:t>Aggregate budget depletes → competition thins</a:t>
            </a:r>
          </a:p>
        </p:txBody>
      </p:sp>
      <p:sp>
        <p:nvSpPr>
          <p:cNvPr id="63" name="TextBox 62"/>
          <p:cNvSpPr txBox="1"/>
          <p:nvPr/>
        </p:nvSpPr>
        <p:spPr>
          <a:xfrm>
            <a:off x="6766560" y="4169664"/>
            <a:ext cx="4572000" cy="182880"/>
          </a:xfrm>
          <a:prstGeom prst="rect">
            <a:avLst/>
          </a:prstGeom>
          <a:noFill/>
        </p:spPr>
        <p:txBody>
          <a:bodyPr wrap="square"/>
          <a:lstStyle/>
          <a:p>
            <a:pPr algn="l">
              <a:defRPr sz="800" b="0">
                <a:solidFill>
                  <a:srgbClr val="6B7280"/>
                </a:solidFill>
                <a:latin typeface="Calibri"/>
              </a:defRPr>
            </a:pPr>
            <a:r>
              <a:t>Remaining advertisers face less competition</a:t>
            </a:r>
          </a:p>
        </p:txBody>
      </p:sp>
      <p:sp>
        <p:nvSpPr>
          <p:cNvPr id="64" name="TextBox 63"/>
          <p:cNvSpPr txBox="1"/>
          <p:nvPr/>
        </p:nvSpPr>
        <p:spPr>
          <a:xfrm>
            <a:off x="6766560" y="4343400"/>
            <a:ext cx="2011680" cy="201168"/>
          </a:xfrm>
          <a:prstGeom prst="rect">
            <a:avLst/>
          </a:prstGeom>
          <a:noFill/>
        </p:spPr>
        <p:txBody>
          <a:bodyPr wrap="square"/>
          <a:lstStyle/>
          <a:p>
            <a:pPr algn="l">
              <a:defRPr sz="1000" b="1">
                <a:solidFill>
                  <a:srgbClr val="0891B2"/>
                </a:solidFill>
                <a:latin typeface="Calibri"/>
              </a:defRPr>
            </a:pPr>
            <a:r>
              <a:t>Adversarial Gaming</a:t>
            </a:r>
          </a:p>
        </p:txBody>
      </p:sp>
      <p:sp>
        <p:nvSpPr>
          <p:cNvPr id="65" name="TextBox 64"/>
          <p:cNvSpPr txBox="1"/>
          <p:nvPr/>
        </p:nvSpPr>
        <p:spPr>
          <a:xfrm>
            <a:off x="6766560" y="4562856"/>
            <a:ext cx="4572000" cy="201168"/>
          </a:xfrm>
          <a:prstGeom prst="rect">
            <a:avLst/>
          </a:prstGeom>
          <a:noFill/>
        </p:spPr>
        <p:txBody>
          <a:bodyPr wrap="square"/>
          <a:lstStyle/>
          <a:p>
            <a:pPr algn="l">
              <a:defRPr sz="900" b="0">
                <a:solidFill>
                  <a:srgbClr val="111827"/>
                </a:solidFill>
                <a:latin typeface="Consolas"/>
              </a:defRPr>
            </a:pPr>
            <a:r>
              <a:t>Whales detect 2-3x reserve variation</a:t>
            </a:r>
          </a:p>
        </p:txBody>
      </p:sp>
      <p:sp>
        <p:nvSpPr>
          <p:cNvPr id="66" name="TextBox 65"/>
          <p:cNvSpPr txBox="1"/>
          <p:nvPr/>
        </p:nvSpPr>
        <p:spPr>
          <a:xfrm>
            <a:off x="6766560" y="4764024"/>
            <a:ext cx="4572000" cy="182880"/>
          </a:xfrm>
          <a:prstGeom prst="rect">
            <a:avLst/>
          </a:prstGeom>
          <a:noFill/>
        </p:spPr>
        <p:txBody>
          <a:bodyPr wrap="square"/>
          <a:lstStyle/>
          <a:p>
            <a:pPr algn="l">
              <a:defRPr sz="800" b="0">
                <a:solidFill>
                  <a:srgbClr val="6B7280"/>
                </a:solidFill>
                <a:latin typeface="Calibri"/>
              </a:defRPr>
            </a:pPr>
            <a:r>
              <a:t>Shift bids to exploit cheap windows → 5-15% erosion</a:t>
            </a:r>
          </a:p>
        </p:txBody>
      </p:sp>
      <p:sp>
        <p:nvSpPr>
          <p:cNvPr id="67" name="TextBox 66"/>
          <p:cNvSpPr txBox="1"/>
          <p:nvPr/>
        </p:nvSpPr>
        <p:spPr>
          <a:xfrm>
            <a:off x="6766560" y="4937760"/>
            <a:ext cx="2011680" cy="201168"/>
          </a:xfrm>
          <a:prstGeom prst="rect">
            <a:avLst/>
          </a:prstGeom>
          <a:noFill/>
        </p:spPr>
        <p:txBody>
          <a:bodyPr wrap="square"/>
          <a:lstStyle/>
          <a:p>
            <a:pPr algn="l">
              <a:defRPr sz="1000" b="1">
                <a:solidFill>
                  <a:srgbClr val="0891B2"/>
                </a:solidFill>
                <a:latin typeface="Calibri"/>
              </a:defRPr>
            </a:pPr>
            <a:r>
              <a:t>Mitigation</a:t>
            </a:r>
          </a:p>
        </p:txBody>
      </p:sp>
      <p:sp>
        <p:nvSpPr>
          <p:cNvPr id="68" name="TextBox 67"/>
          <p:cNvSpPr txBox="1"/>
          <p:nvPr/>
        </p:nvSpPr>
        <p:spPr>
          <a:xfrm>
            <a:off x="6766560" y="5157216"/>
            <a:ext cx="4572000" cy="201168"/>
          </a:xfrm>
          <a:prstGeom prst="rect">
            <a:avLst/>
          </a:prstGeom>
          <a:noFill/>
        </p:spPr>
        <p:txBody>
          <a:bodyPr wrap="square"/>
          <a:lstStyle/>
          <a:p>
            <a:pPr algn="l">
              <a:defRPr sz="900" b="0">
                <a:solidFill>
                  <a:srgbClr val="111827"/>
                </a:solidFill>
                <a:latin typeface="Consolas"/>
              </a:defRPr>
            </a:pPr>
            <a:r>
              <a:t>Randomized perturbation + personalized floors</a:t>
            </a:r>
          </a:p>
        </p:txBody>
      </p:sp>
      <p:sp>
        <p:nvSpPr>
          <p:cNvPr id="69" name="TextBox 68"/>
          <p:cNvSpPr txBox="1"/>
          <p:nvPr/>
        </p:nvSpPr>
        <p:spPr>
          <a:xfrm>
            <a:off x="6766560" y="5358384"/>
            <a:ext cx="4572000" cy="182880"/>
          </a:xfrm>
          <a:prstGeom prst="rect">
            <a:avLst/>
          </a:prstGeom>
          <a:noFill/>
        </p:spPr>
        <p:txBody>
          <a:bodyPr wrap="square"/>
          <a:lstStyle/>
          <a:p>
            <a:pPr algn="l">
              <a:defRPr sz="800" b="0">
                <a:solidFill>
                  <a:srgbClr val="6B7280"/>
                </a:solidFill>
                <a:latin typeface="Calibri"/>
              </a:defRPr>
            </a:pPr>
            <a:r>
              <a:t>Prevent pattern detection, preserve revenue</a:t>
            </a:r>
          </a:p>
        </p:txBody>
      </p:sp>
      <p:sp>
        <p:nvSpPr>
          <p:cNvPr id="70" name="Rectangle 69"/>
          <p:cNvSpPr/>
          <p:nvPr/>
        </p:nvSpPr>
        <p:spPr>
          <a:xfrm>
            <a:off x="548640" y="5577840"/>
            <a:ext cx="11064240" cy="77724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48640" y="5577840"/>
            <a:ext cx="54864" cy="7772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77240" y="5669280"/>
            <a:ext cx="10515600" cy="548640"/>
          </a:xfrm>
          <a:prstGeom prst="rect">
            <a:avLst/>
          </a:prstGeom>
          <a:noFill/>
        </p:spPr>
        <p:txBody>
          <a:bodyPr wrap="square"/>
          <a:lstStyle/>
          <a:p>
            <a:pPr algn="l">
              <a:defRPr sz="1000" b="0">
                <a:solidFill>
                  <a:srgbClr val="166534"/>
                </a:solidFill>
                <a:latin typeface="Calibri"/>
              </a:defRPr>
            </a:pPr>
            <a:r>
              <a:t>Reserve prices vary 2.3x by time of day, but advertisers aren't passive. Sophisticated whales detect the pattern and shift bids to exploit cheap windows, eroding 5-15% of revenue. Production systems must randomize reserves and use personalized floors to maintain adversarial robustness.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7315200" cy="457200"/>
          </a:xfrm>
          <a:prstGeom prst="rect">
            <a:avLst/>
          </a:prstGeom>
          <a:noFill/>
        </p:spPr>
        <p:txBody>
          <a:bodyPr wrap="square"/>
          <a:lstStyle/>
          <a:p>
            <a:pPr algn="l">
              <a:defRPr sz="2800" b="1">
                <a:solidFill>
                  <a:srgbClr val="111827"/>
                </a:solidFill>
                <a:latin typeface="Calibri"/>
              </a:defRPr>
            </a:pPr>
            <a:r>
              <a:t>Quality Score Feedback Loop</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How quality scores diverge through CTR prediction feedback — the natural selection mechanism</a:t>
            </a:r>
          </a:p>
        </p:txBody>
      </p:sp>
      <p:sp>
        <p:nvSpPr>
          <p:cNvPr id="4" name="Rectangle 3"/>
          <p:cNvSpPr/>
          <p:nvPr/>
        </p:nvSpPr>
        <p:spPr>
          <a:xfrm>
            <a:off x="548640"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4864" cy="914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81328"/>
            <a:ext cx="2286000" cy="228600"/>
          </a:xfrm>
          <a:prstGeom prst="rect">
            <a:avLst/>
          </a:prstGeom>
          <a:noFill/>
        </p:spPr>
        <p:txBody>
          <a:bodyPr wrap="square"/>
          <a:lstStyle/>
          <a:p>
            <a:pPr algn="l">
              <a:defRPr sz="800" b="1">
                <a:solidFill>
                  <a:srgbClr val="6B7280"/>
                </a:solidFill>
                <a:latin typeface="Calibri"/>
              </a:defRPr>
            </a:pPr>
            <a:r>
              <a:t>INITIAL STD DEV</a:t>
            </a:r>
          </a:p>
        </p:txBody>
      </p:sp>
      <p:sp>
        <p:nvSpPr>
          <p:cNvPr id="7" name="TextBox 6"/>
          <p:cNvSpPr txBox="1"/>
          <p:nvPr/>
        </p:nvSpPr>
        <p:spPr>
          <a:xfrm>
            <a:off x="777240" y="1691640"/>
            <a:ext cx="2286000" cy="365760"/>
          </a:xfrm>
          <a:prstGeom prst="rect">
            <a:avLst/>
          </a:prstGeom>
          <a:noFill/>
        </p:spPr>
        <p:txBody>
          <a:bodyPr wrap="square"/>
          <a:lstStyle/>
          <a:p>
            <a:pPr algn="l">
              <a:defRPr sz="2200" b="1">
                <a:solidFill>
                  <a:srgbClr val="111827"/>
                </a:solidFill>
                <a:latin typeface="Consolas"/>
              </a:defRPr>
            </a:pPr>
            <a:r>
              <a:t>0.1842</a:t>
            </a:r>
          </a:p>
        </p:txBody>
      </p:sp>
      <p:sp>
        <p:nvSpPr>
          <p:cNvPr id="8" name="TextBox 7"/>
          <p:cNvSpPr txBox="1"/>
          <p:nvPr/>
        </p:nvSpPr>
        <p:spPr>
          <a:xfrm>
            <a:off x="777240" y="2029967"/>
            <a:ext cx="2286000" cy="228600"/>
          </a:xfrm>
          <a:prstGeom prst="rect">
            <a:avLst/>
          </a:prstGeom>
          <a:noFill/>
        </p:spPr>
        <p:txBody>
          <a:bodyPr wrap="square"/>
          <a:lstStyle/>
          <a:p>
            <a:pPr algn="l">
              <a:defRPr sz="900" b="0">
                <a:solidFill>
                  <a:srgbClr val="6B7280"/>
                </a:solidFill>
                <a:latin typeface="Calibri"/>
              </a:defRPr>
            </a:pPr>
            <a:r>
              <a:t>Quality distribution</a:t>
            </a:r>
          </a:p>
        </p:txBody>
      </p:sp>
      <p:sp>
        <p:nvSpPr>
          <p:cNvPr id="9" name="Rectangle 8"/>
          <p:cNvSpPr/>
          <p:nvPr/>
        </p:nvSpPr>
        <p:spPr>
          <a:xfrm>
            <a:off x="3337560"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371600"/>
            <a:ext cx="54864"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481328"/>
            <a:ext cx="2286000" cy="228600"/>
          </a:xfrm>
          <a:prstGeom prst="rect">
            <a:avLst/>
          </a:prstGeom>
          <a:noFill/>
        </p:spPr>
        <p:txBody>
          <a:bodyPr wrap="square"/>
          <a:lstStyle/>
          <a:p>
            <a:pPr algn="l">
              <a:defRPr sz="800" b="1">
                <a:solidFill>
                  <a:srgbClr val="6B7280"/>
                </a:solidFill>
                <a:latin typeface="Calibri"/>
              </a:defRPr>
            </a:pPr>
            <a:r>
              <a:t>FINAL STD DEV</a:t>
            </a:r>
          </a:p>
        </p:txBody>
      </p:sp>
      <p:sp>
        <p:nvSpPr>
          <p:cNvPr id="12" name="TextBox 11"/>
          <p:cNvSpPr txBox="1"/>
          <p:nvPr/>
        </p:nvSpPr>
        <p:spPr>
          <a:xfrm>
            <a:off x="3566160" y="1691640"/>
            <a:ext cx="2286000" cy="365760"/>
          </a:xfrm>
          <a:prstGeom prst="rect">
            <a:avLst/>
          </a:prstGeom>
          <a:noFill/>
        </p:spPr>
        <p:txBody>
          <a:bodyPr wrap="square"/>
          <a:lstStyle/>
          <a:p>
            <a:pPr algn="l">
              <a:defRPr sz="2200" b="1">
                <a:solidFill>
                  <a:srgbClr val="111827"/>
                </a:solidFill>
                <a:latin typeface="Consolas"/>
              </a:defRPr>
            </a:pPr>
            <a:r>
              <a:t>0.2156</a:t>
            </a:r>
          </a:p>
        </p:txBody>
      </p:sp>
      <p:sp>
        <p:nvSpPr>
          <p:cNvPr id="13" name="TextBox 12"/>
          <p:cNvSpPr txBox="1"/>
          <p:nvPr/>
        </p:nvSpPr>
        <p:spPr>
          <a:xfrm>
            <a:off x="3566160" y="2029967"/>
            <a:ext cx="2286000" cy="228600"/>
          </a:xfrm>
          <a:prstGeom prst="rect">
            <a:avLst/>
          </a:prstGeom>
          <a:noFill/>
        </p:spPr>
        <p:txBody>
          <a:bodyPr wrap="square"/>
          <a:lstStyle/>
          <a:p>
            <a:pPr algn="l">
              <a:defRPr sz="900" b="0">
                <a:solidFill>
                  <a:srgbClr val="6B7280"/>
                </a:solidFill>
                <a:latin typeface="Calibri"/>
              </a:defRPr>
            </a:pPr>
            <a:r>
              <a:t>+17% divergence</a:t>
            </a:r>
          </a:p>
        </p:txBody>
      </p:sp>
      <p:sp>
        <p:nvSpPr>
          <p:cNvPr id="14" name="Rectangle 13"/>
          <p:cNvSpPr/>
          <p:nvPr/>
        </p:nvSpPr>
        <p:spPr>
          <a:xfrm>
            <a:off x="6126479"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79" y="1371600"/>
            <a:ext cx="54864"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481328"/>
            <a:ext cx="2286000" cy="228600"/>
          </a:xfrm>
          <a:prstGeom prst="rect">
            <a:avLst/>
          </a:prstGeom>
          <a:noFill/>
        </p:spPr>
        <p:txBody>
          <a:bodyPr wrap="square"/>
          <a:lstStyle/>
          <a:p>
            <a:pPr algn="l">
              <a:defRPr sz="800" b="1">
                <a:solidFill>
                  <a:srgbClr val="6B7280"/>
                </a:solidFill>
                <a:latin typeface="Calibri"/>
              </a:defRPr>
            </a:pPr>
            <a:r>
              <a:t>HIGH QUALITY (&gt;0.7)</a:t>
            </a:r>
          </a:p>
        </p:txBody>
      </p:sp>
      <p:sp>
        <p:nvSpPr>
          <p:cNvPr id="17" name="TextBox 16"/>
          <p:cNvSpPr txBox="1"/>
          <p:nvPr/>
        </p:nvSpPr>
        <p:spPr>
          <a:xfrm>
            <a:off x="6355079" y="1691640"/>
            <a:ext cx="2286000" cy="365760"/>
          </a:xfrm>
          <a:prstGeom prst="rect">
            <a:avLst/>
          </a:prstGeom>
          <a:noFill/>
        </p:spPr>
        <p:txBody>
          <a:bodyPr wrap="square"/>
          <a:lstStyle/>
          <a:p>
            <a:pPr algn="l">
              <a:defRPr sz="2200" b="1">
                <a:solidFill>
                  <a:srgbClr val="111827"/>
                </a:solidFill>
                <a:latin typeface="Consolas"/>
              </a:defRPr>
            </a:pPr>
            <a:r>
              <a:t>28→32</a:t>
            </a:r>
          </a:p>
        </p:txBody>
      </p:sp>
      <p:sp>
        <p:nvSpPr>
          <p:cNvPr id="18" name="TextBox 17"/>
          <p:cNvSpPr txBox="1"/>
          <p:nvPr/>
        </p:nvSpPr>
        <p:spPr>
          <a:xfrm>
            <a:off x="6355079" y="2029967"/>
            <a:ext cx="2286000" cy="228600"/>
          </a:xfrm>
          <a:prstGeom prst="rect">
            <a:avLst/>
          </a:prstGeom>
          <a:noFill/>
        </p:spPr>
        <p:txBody>
          <a:bodyPr wrap="square"/>
          <a:lstStyle/>
          <a:p>
            <a:pPr algn="l">
              <a:defRPr sz="900" b="0">
                <a:solidFill>
                  <a:srgbClr val="6B7280"/>
                </a:solidFill>
                <a:latin typeface="Calibri"/>
              </a:defRPr>
            </a:pPr>
            <a:r>
              <a:t>Virtuous cycle</a:t>
            </a:r>
          </a:p>
        </p:txBody>
      </p:sp>
      <p:sp>
        <p:nvSpPr>
          <p:cNvPr id="19" name="Rectangle 18"/>
          <p:cNvSpPr/>
          <p:nvPr/>
        </p:nvSpPr>
        <p:spPr>
          <a:xfrm>
            <a:off x="8915399"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399" y="1371600"/>
            <a:ext cx="54864" cy="9144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3999" y="1481328"/>
            <a:ext cx="2286000" cy="228600"/>
          </a:xfrm>
          <a:prstGeom prst="rect">
            <a:avLst/>
          </a:prstGeom>
          <a:noFill/>
        </p:spPr>
        <p:txBody>
          <a:bodyPr wrap="square"/>
          <a:lstStyle/>
          <a:p>
            <a:pPr algn="l">
              <a:defRPr sz="800" b="1">
                <a:solidFill>
                  <a:srgbClr val="6B7280"/>
                </a:solidFill>
                <a:latin typeface="Calibri"/>
              </a:defRPr>
            </a:pPr>
            <a:r>
              <a:t>LOW QUALITY (&lt;0.3)</a:t>
            </a:r>
          </a:p>
        </p:txBody>
      </p:sp>
      <p:sp>
        <p:nvSpPr>
          <p:cNvPr id="22" name="TextBox 21"/>
          <p:cNvSpPr txBox="1"/>
          <p:nvPr/>
        </p:nvSpPr>
        <p:spPr>
          <a:xfrm>
            <a:off x="9143999" y="1691640"/>
            <a:ext cx="2286000" cy="365760"/>
          </a:xfrm>
          <a:prstGeom prst="rect">
            <a:avLst/>
          </a:prstGeom>
          <a:noFill/>
        </p:spPr>
        <p:txBody>
          <a:bodyPr wrap="square"/>
          <a:lstStyle/>
          <a:p>
            <a:pPr algn="l">
              <a:defRPr sz="2200" b="1">
                <a:solidFill>
                  <a:srgbClr val="111827"/>
                </a:solidFill>
                <a:latin typeface="Consolas"/>
              </a:defRPr>
            </a:pPr>
            <a:r>
              <a:t>12→18</a:t>
            </a:r>
          </a:p>
        </p:txBody>
      </p:sp>
      <p:sp>
        <p:nvSpPr>
          <p:cNvPr id="23" name="TextBox 22"/>
          <p:cNvSpPr txBox="1"/>
          <p:nvPr/>
        </p:nvSpPr>
        <p:spPr>
          <a:xfrm>
            <a:off x="9143999" y="2029967"/>
            <a:ext cx="2286000" cy="228600"/>
          </a:xfrm>
          <a:prstGeom prst="rect">
            <a:avLst/>
          </a:prstGeom>
          <a:noFill/>
        </p:spPr>
        <p:txBody>
          <a:bodyPr wrap="square"/>
          <a:lstStyle/>
          <a:p>
            <a:pPr algn="l">
              <a:defRPr sz="900" b="0">
                <a:solidFill>
                  <a:srgbClr val="6B7280"/>
                </a:solidFill>
                <a:latin typeface="Calibri"/>
              </a:defRPr>
            </a:pPr>
            <a:r>
              <a:t>Death spiral</a:t>
            </a:r>
          </a:p>
        </p:txBody>
      </p:sp>
      <p:sp>
        <p:nvSpPr>
          <p:cNvPr id="24" name="Rectangle 23"/>
          <p:cNvSpPr/>
          <p:nvPr/>
        </p:nvSpPr>
        <p:spPr>
          <a:xfrm>
            <a:off x="548640" y="2606040"/>
            <a:ext cx="530352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606040"/>
            <a:ext cx="530352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788920"/>
            <a:ext cx="4572000" cy="274320"/>
          </a:xfrm>
          <a:prstGeom prst="rect">
            <a:avLst/>
          </a:prstGeom>
          <a:noFill/>
        </p:spPr>
        <p:txBody>
          <a:bodyPr wrap="square"/>
          <a:lstStyle/>
          <a:p>
            <a:pPr algn="l">
              <a:defRPr sz="1300" b="1">
                <a:solidFill>
                  <a:srgbClr val="16A34A"/>
                </a:solidFill>
                <a:latin typeface="Calibri"/>
              </a:defRPr>
            </a:pPr>
            <a:r>
              <a:t>Virtuous Cycle (Winners)</a:t>
            </a:r>
          </a:p>
        </p:txBody>
      </p:sp>
      <p:sp>
        <p:nvSpPr>
          <p:cNvPr id="27" name="TextBox 26"/>
          <p:cNvSpPr txBox="1"/>
          <p:nvPr/>
        </p:nvSpPr>
        <p:spPr>
          <a:xfrm>
            <a:off x="777240" y="3154680"/>
            <a:ext cx="4846320" cy="320040"/>
          </a:xfrm>
          <a:prstGeom prst="rect">
            <a:avLst/>
          </a:prstGeom>
          <a:noFill/>
        </p:spPr>
        <p:txBody>
          <a:bodyPr wrap="square"/>
          <a:lstStyle/>
          <a:p>
            <a:pPr algn="l">
              <a:defRPr sz="1100" b="0">
                <a:solidFill>
                  <a:srgbClr val="374151"/>
                </a:solidFill>
                <a:latin typeface="Calibri"/>
              </a:defRPr>
            </a:pPr>
            <a:r>
              <a:t>1. Win auction slot → Impression served</a:t>
            </a:r>
          </a:p>
        </p:txBody>
      </p:sp>
      <p:sp>
        <p:nvSpPr>
          <p:cNvPr id="28" name="TextBox 27"/>
          <p:cNvSpPr txBox="1"/>
          <p:nvPr/>
        </p:nvSpPr>
        <p:spPr>
          <a:xfrm>
            <a:off x="777240" y="3520440"/>
            <a:ext cx="4846320" cy="320040"/>
          </a:xfrm>
          <a:prstGeom prst="rect">
            <a:avLst/>
          </a:prstGeom>
          <a:noFill/>
        </p:spPr>
        <p:txBody>
          <a:bodyPr wrap="square"/>
          <a:lstStyle/>
          <a:p>
            <a:pPr algn="l">
              <a:defRPr sz="1100" b="0">
                <a:solidFill>
                  <a:srgbClr val="374151"/>
                </a:solidFill>
                <a:latin typeface="Calibri"/>
              </a:defRPr>
            </a:pPr>
            <a:r>
              <a:t>2. User clicks → Actual CTR observed</a:t>
            </a:r>
          </a:p>
        </p:txBody>
      </p:sp>
      <p:sp>
        <p:nvSpPr>
          <p:cNvPr id="29" name="TextBox 28"/>
          <p:cNvSpPr txBox="1"/>
          <p:nvPr/>
        </p:nvSpPr>
        <p:spPr>
          <a:xfrm>
            <a:off x="777240" y="3886200"/>
            <a:ext cx="4846320" cy="320040"/>
          </a:xfrm>
          <a:prstGeom prst="rect">
            <a:avLst/>
          </a:prstGeom>
          <a:noFill/>
        </p:spPr>
        <p:txBody>
          <a:bodyPr wrap="square"/>
          <a:lstStyle/>
          <a:p>
            <a:pPr algn="l">
              <a:defRPr sz="1100" b="0">
                <a:solidFill>
                  <a:srgbClr val="374151"/>
                </a:solidFill>
                <a:latin typeface="Calibri"/>
              </a:defRPr>
            </a:pPr>
            <a:r>
              <a:t>3. actual_ctr &gt; predicted_ctr → Quality increases</a:t>
            </a:r>
          </a:p>
        </p:txBody>
      </p:sp>
      <p:sp>
        <p:nvSpPr>
          <p:cNvPr id="30" name="TextBox 29"/>
          <p:cNvSpPr txBox="1"/>
          <p:nvPr/>
        </p:nvSpPr>
        <p:spPr>
          <a:xfrm>
            <a:off x="777240" y="4251960"/>
            <a:ext cx="4846320" cy="320040"/>
          </a:xfrm>
          <a:prstGeom prst="rect">
            <a:avLst/>
          </a:prstGeom>
          <a:noFill/>
        </p:spPr>
        <p:txBody>
          <a:bodyPr wrap="square"/>
          <a:lstStyle/>
          <a:p>
            <a:pPr algn="l">
              <a:defRPr sz="1100" b="0">
                <a:solidFill>
                  <a:srgbClr val="374151"/>
                </a:solidFill>
                <a:latin typeface="Calibri"/>
              </a:defRPr>
            </a:pPr>
            <a:r>
              <a:t>4. Higher quality → Better effective bid</a:t>
            </a:r>
          </a:p>
        </p:txBody>
      </p:sp>
      <p:sp>
        <p:nvSpPr>
          <p:cNvPr id="31" name="TextBox 30"/>
          <p:cNvSpPr txBox="1"/>
          <p:nvPr/>
        </p:nvSpPr>
        <p:spPr>
          <a:xfrm>
            <a:off x="777240" y="4617720"/>
            <a:ext cx="4846320" cy="320040"/>
          </a:xfrm>
          <a:prstGeom prst="rect">
            <a:avLst/>
          </a:prstGeom>
          <a:noFill/>
        </p:spPr>
        <p:txBody>
          <a:bodyPr wrap="square"/>
          <a:lstStyle/>
          <a:p>
            <a:pPr algn="l">
              <a:defRPr sz="1100" b="0">
                <a:solidFill>
                  <a:srgbClr val="374151"/>
                </a:solidFill>
                <a:latin typeface="Calibri"/>
              </a:defRPr>
            </a:pPr>
            <a:r>
              <a:t>5. Win more auctions → More data → Repeat</a:t>
            </a:r>
          </a:p>
        </p:txBody>
      </p:sp>
      <p:sp>
        <p:nvSpPr>
          <p:cNvPr id="32" name="TextBox 31"/>
          <p:cNvSpPr txBox="1"/>
          <p:nvPr/>
        </p:nvSpPr>
        <p:spPr>
          <a:xfrm>
            <a:off x="777240" y="5074920"/>
            <a:ext cx="4846320" cy="182880"/>
          </a:xfrm>
          <a:prstGeom prst="rect">
            <a:avLst/>
          </a:prstGeom>
          <a:noFill/>
        </p:spPr>
        <p:txBody>
          <a:bodyPr wrap="square"/>
          <a:lstStyle/>
          <a:p>
            <a:pPr algn="l">
              <a:defRPr sz="900" b="1">
                <a:solidFill>
                  <a:srgbClr val="16A34A"/>
                </a:solidFill>
                <a:latin typeface="Calibri"/>
              </a:defRPr>
            </a:pPr>
            <a:r>
              <a:t>Top Improvers: Finance Adv 23 (+0.047), SaaS Adv 41 (+0.039)</a:t>
            </a:r>
          </a:p>
        </p:txBody>
      </p:sp>
      <p:sp>
        <p:nvSpPr>
          <p:cNvPr id="33" name="Rectangle 32"/>
          <p:cNvSpPr/>
          <p:nvPr/>
        </p:nvSpPr>
        <p:spPr>
          <a:xfrm>
            <a:off x="6217920" y="2606040"/>
            <a:ext cx="539496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2606040"/>
            <a:ext cx="539496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2788920"/>
            <a:ext cx="4572000" cy="274320"/>
          </a:xfrm>
          <a:prstGeom prst="rect">
            <a:avLst/>
          </a:prstGeom>
          <a:noFill/>
        </p:spPr>
        <p:txBody>
          <a:bodyPr wrap="square"/>
          <a:lstStyle/>
          <a:p>
            <a:pPr algn="l">
              <a:defRPr sz="1300" b="1">
                <a:solidFill>
                  <a:srgbClr val="DC2626"/>
                </a:solidFill>
                <a:latin typeface="Calibri"/>
              </a:defRPr>
            </a:pPr>
            <a:r>
              <a:t>Death Spiral (Losers)</a:t>
            </a:r>
          </a:p>
        </p:txBody>
      </p:sp>
      <p:sp>
        <p:nvSpPr>
          <p:cNvPr id="36" name="TextBox 35"/>
          <p:cNvSpPr txBox="1"/>
          <p:nvPr/>
        </p:nvSpPr>
        <p:spPr>
          <a:xfrm>
            <a:off x="6446520" y="3154680"/>
            <a:ext cx="4937760" cy="320040"/>
          </a:xfrm>
          <a:prstGeom prst="rect">
            <a:avLst/>
          </a:prstGeom>
          <a:noFill/>
        </p:spPr>
        <p:txBody>
          <a:bodyPr wrap="square"/>
          <a:lstStyle/>
          <a:p>
            <a:pPr algn="l">
              <a:defRPr sz="1100" b="0">
                <a:solidFill>
                  <a:srgbClr val="374151"/>
                </a:solidFill>
                <a:latin typeface="Calibri"/>
              </a:defRPr>
            </a:pPr>
            <a:r>
              <a:t>1. Lose auction → No impression served</a:t>
            </a:r>
          </a:p>
        </p:txBody>
      </p:sp>
      <p:sp>
        <p:nvSpPr>
          <p:cNvPr id="37" name="TextBox 36"/>
          <p:cNvSpPr txBox="1"/>
          <p:nvPr/>
        </p:nvSpPr>
        <p:spPr>
          <a:xfrm>
            <a:off x="6446520" y="3520440"/>
            <a:ext cx="4937760" cy="320040"/>
          </a:xfrm>
          <a:prstGeom prst="rect">
            <a:avLst/>
          </a:prstGeom>
          <a:noFill/>
        </p:spPr>
        <p:txBody>
          <a:bodyPr wrap="square"/>
          <a:lstStyle/>
          <a:p>
            <a:pPr algn="l">
              <a:defRPr sz="1100" b="0">
                <a:solidFill>
                  <a:srgbClr val="374151"/>
                </a:solidFill>
                <a:latin typeface="Calibri"/>
              </a:defRPr>
            </a:pPr>
            <a:r>
              <a:t>2. No user interaction → No CTR data</a:t>
            </a:r>
          </a:p>
        </p:txBody>
      </p:sp>
      <p:sp>
        <p:nvSpPr>
          <p:cNvPr id="38" name="TextBox 37"/>
          <p:cNvSpPr txBox="1"/>
          <p:nvPr/>
        </p:nvSpPr>
        <p:spPr>
          <a:xfrm>
            <a:off x="6446520" y="3886200"/>
            <a:ext cx="4937760" cy="320040"/>
          </a:xfrm>
          <a:prstGeom prst="rect">
            <a:avLst/>
          </a:prstGeom>
          <a:noFill/>
        </p:spPr>
        <p:txBody>
          <a:bodyPr wrap="square"/>
          <a:lstStyle/>
          <a:p>
            <a:pPr algn="l">
              <a:defRPr sz="1100" b="0">
                <a:solidFill>
                  <a:srgbClr val="374151"/>
                </a:solidFill>
                <a:latin typeface="Calibri"/>
              </a:defRPr>
            </a:pPr>
            <a:r>
              <a:t>3. Stale pCTR prediction → Quality decays</a:t>
            </a:r>
          </a:p>
        </p:txBody>
      </p:sp>
      <p:sp>
        <p:nvSpPr>
          <p:cNvPr id="39" name="TextBox 38"/>
          <p:cNvSpPr txBox="1"/>
          <p:nvPr/>
        </p:nvSpPr>
        <p:spPr>
          <a:xfrm>
            <a:off x="6446520" y="4251960"/>
            <a:ext cx="4937760" cy="320040"/>
          </a:xfrm>
          <a:prstGeom prst="rect">
            <a:avLst/>
          </a:prstGeom>
          <a:noFill/>
        </p:spPr>
        <p:txBody>
          <a:bodyPr wrap="square"/>
          <a:lstStyle/>
          <a:p>
            <a:pPr algn="l">
              <a:defRPr sz="1100" b="0">
                <a:solidFill>
                  <a:srgbClr val="374151"/>
                </a:solidFill>
                <a:latin typeface="Calibri"/>
              </a:defRPr>
            </a:pPr>
            <a:r>
              <a:t>4. Lower quality → Lower effective bid</a:t>
            </a:r>
          </a:p>
        </p:txBody>
      </p:sp>
      <p:sp>
        <p:nvSpPr>
          <p:cNvPr id="40" name="TextBox 39"/>
          <p:cNvSpPr txBox="1"/>
          <p:nvPr/>
        </p:nvSpPr>
        <p:spPr>
          <a:xfrm>
            <a:off x="6446520" y="4617720"/>
            <a:ext cx="4937760" cy="320040"/>
          </a:xfrm>
          <a:prstGeom prst="rect">
            <a:avLst/>
          </a:prstGeom>
          <a:noFill/>
        </p:spPr>
        <p:txBody>
          <a:bodyPr wrap="square"/>
          <a:lstStyle/>
          <a:p>
            <a:pPr algn="l">
              <a:defRPr sz="1100" b="0">
                <a:solidFill>
                  <a:srgbClr val="374151"/>
                </a:solidFill>
                <a:latin typeface="Calibri"/>
              </a:defRPr>
            </a:pPr>
            <a:r>
              <a:t>5. Lose more auctions → Less data → Repeat</a:t>
            </a:r>
          </a:p>
        </p:txBody>
      </p:sp>
      <p:sp>
        <p:nvSpPr>
          <p:cNvPr id="41" name="TextBox 40"/>
          <p:cNvSpPr txBox="1"/>
          <p:nvPr/>
        </p:nvSpPr>
        <p:spPr>
          <a:xfrm>
            <a:off x="6446520" y="5074920"/>
            <a:ext cx="4937760" cy="182880"/>
          </a:xfrm>
          <a:prstGeom prst="rect">
            <a:avLst/>
          </a:prstGeom>
          <a:noFill/>
        </p:spPr>
        <p:txBody>
          <a:bodyPr wrap="square"/>
          <a:lstStyle/>
          <a:p>
            <a:pPr algn="l">
              <a:defRPr sz="900" b="1">
                <a:solidFill>
                  <a:srgbClr val="DC2626"/>
                </a:solidFill>
                <a:latin typeface="Calibri"/>
              </a:defRPr>
            </a:pPr>
            <a:r>
              <a:t>Top Decliners: CPG Adv 67 (-0.043), Gaming Adv 12 (-0.038)</a:t>
            </a:r>
          </a:p>
        </p:txBody>
      </p:sp>
      <p:sp>
        <p:nvSpPr>
          <p:cNvPr id="42" name="Rectangle 41"/>
          <p:cNvSpPr/>
          <p:nvPr/>
        </p:nvSpPr>
        <p:spPr>
          <a:xfrm>
            <a:off x="548640" y="5577840"/>
            <a:ext cx="11064240" cy="777240"/>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5577840"/>
            <a:ext cx="54864" cy="7772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669280"/>
            <a:ext cx="10515600" cy="548640"/>
          </a:xfrm>
          <a:prstGeom prst="rect">
            <a:avLst/>
          </a:prstGeom>
          <a:noFill/>
        </p:spPr>
        <p:txBody>
          <a:bodyPr wrap="square"/>
          <a:lstStyle/>
          <a:p>
            <a:pPr algn="l">
              <a:defRPr sz="1000" b="0">
                <a:solidFill>
                  <a:srgbClr val="92400E"/>
                </a:solidFill>
                <a:latin typeface="Calibri"/>
              </a:defRPr>
            </a:pPr>
            <a:r>
              <a:t>Quality scores are ENDOGENOUS to auction outcomes. This feedback loop determines advertiser population dynamics — platforms must provide 'warm-up' periods (exploration budget) for new advertisers to prevent premature death spirals for potentially good campaigns.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7315200" cy="457200"/>
          </a:xfrm>
          <a:prstGeom prst="rect">
            <a:avLst/>
          </a:prstGeom>
          <a:noFill/>
        </p:spPr>
        <p:txBody>
          <a:bodyPr wrap="square"/>
          <a:lstStyle/>
          <a:p>
            <a:pPr algn="l">
              <a:defRPr sz="2800" b="1">
                <a:solidFill>
                  <a:srgbClr val="111827"/>
                </a:solidFill>
                <a:latin typeface="Calibri"/>
              </a:defRPr>
            </a:pPr>
            <a:r>
              <a:t>Exploration vs Exploitation</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Thompson Sampling multi-armed bandit for optimal model routing decisions</a:t>
            </a:r>
          </a:p>
        </p:txBody>
      </p:sp>
      <p:sp>
        <p:nvSpPr>
          <p:cNvPr id="4" name="Rectangle 3"/>
          <p:cNvSpPr/>
          <p:nvPr/>
        </p:nvSpPr>
        <p:spPr>
          <a:xfrm>
            <a:off x="548640"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4864"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81328"/>
            <a:ext cx="2286000" cy="228600"/>
          </a:xfrm>
          <a:prstGeom prst="rect">
            <a:avLst/>
          </a:prstGeom>
          <a:noFill/>
        </p:spPr>
        <p:txBody>
          <a:bodyPr wrap="square"/>
          <a:lstStyle/>
          <a:p>
            <a:pPr algn="l">
              <a:defRPr sz="800" b="1">
                <a:solidFill>
                  <a:srgbClr val="6B7280"/>
                </a:solidFill>
                <a:latin typeface="Calibri"/>
              </a:defRPr>
            </a:pPr>
            <a:r>
              <a:t>BEST MODEL</a:t>
            </a:r>
          </a:p>
        </p:txBody>
      </p:sp>
      <p:sp>
        <p:nvSpPr>
          <p:cNvPr id="7" name="TextBox 6"/>
          <p:cNvSpPr txBox="1"/>
          <p:nvPr/>
        </p:nvSpPr>
        <p:spPr>
          <a:xfrm>
            <a:off x="777240" y="1691640"/>
            <a:ext cx="2286000" cy="365760"/>
          </a:xfrm>
          <a:prstGeom prst="rect">
            <a:avLst/>
          </a:prstGeom>
          <a:noFill/>
        </p:spPr>
        <p:txBody>
          <a:bodyPr wrap="square"/>
          <a:lstStyle/>
          <a:p>
            <a:pPr algn="l">
              <a:defRPr sz="2200" b="1">
                <a:solidFill>
                  <a:srgbClr val="111827"/>
                </a:solidFill>
                <a:latin typeface="Consolas"/>
              </a:defRPr>
            </a:pPr>
            <a:r>
              <a:t>DLRM</a:t>
            </a:r>
          </a:p>
        </p:txBody>
      </p:sp>
      <p:sp>
        <p:nvSpPr>
          <p:cNvPr id="8" name="TextBox 7"/>
          <p:cNvSpPr txBox="1"/>
          <p:nvPr/>
        </p:nvSpPr>
        <p:spPr>
          <a:xfrm>
            <a:off x="777240" y="2029967"/>
            <a:ext cx="2286000" cy="228600"/>
          </a:xfrm>
          <a:prstGeom prst="rect">
            <a:avLst/>
          </a:prstGeom>
          <a:noFill/>
        </p:spPr>
        <p:txBody>
          <a:bodyPr wrap="square"/>
          <a:lstStyle/>
          <a:p>
            <a:pPr algn="l">
              <a:defRPr sz="900" b="0">
                <a:solidFill>
                  <a:srgbClr val="6B7280"/>
                </a:solidFill>
                <a:latin typeface="Calibri"/>
              </a:defRPr>
            </a:pPr>
            <a:r>
              <a:t>Posterior mean: 0.78</a:t>
            </a:r>
          </a:p>
        </p:txBody>
      </p:sp>
      <p:sp>
        <p:nvSpPr>
          <p:cNvPr id="9" name="Rectangle 8"/>
          <p:cNvSpPr/>
          <p:nvPr/>
        </p:nvSpPr>
        <p:spPr>
          <a:xfrm>
            <a:off x="3337560"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371600"/>
            <a:ext cx="54864"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481328"/>
            <a:ext cx="2286000" cy="228600"/>
          </a:xfrm>
          <a:prstGeom prst="rect">
            <a:avLst/>
          </a:prstGeom>
          <a:noFill/>
        </p:spPr>
        <p:txBody>
          <a:bodyPr wrap="square"/>
          <a:lstStyle/>
          <a:p>
            <a:pPr algn="l">
              <a:defRPr sz="800" b="1">
                <a:solidFill>
                  <a:srgbClr val="6B7280"/>
                </a:solidFill>
                <a:latin typeface="Calibri"/>
              </a:defRPr>
            </a:pPr>
            <a:r>
              <a:t>TOTAL REGRET</a:t>
            </a:r>
          </a:p>
        </p:txBody>
      </p:sp>
      <p:sp>
        <p:nvSpPr>
          <p:cNvPr id="12" name="TextBox 11"/>
          <p:cNvSpPr txBox="1"/>
          <p:nvPr/>
        </p:nvSpPr>
        <p:spPr>
          <a:xfrm>
            <a:off x="3566160" y="1691640"/>
            <a:ext cx="2286000" cy="365760"/>
          </a:xfrm>
          <a:prstGeom prst="rect">
            <a:avLst/>
          </a:prstGeom>
          <a:noFill/>
        </p:spPr>
        <p:txBody>
          <a:bodyPr wrap="square"/>
          <a:lstStyle/>
          <a:p>
            <a:pPr algn="l">
              <a:defRPr sz="2200" b="1">
                <a:solidFill>
                  <a:srgbClr val="111827"/>
                </a:solidFill>
                <a:latin typeface="Consolas"/>
              </a:defRPr>
            </a:pPr>
            <a:r>
              <a:t>8.2</a:t>
            </a:r>
          </a:p>
        </p:txBody>
      </p:sp>
      <p:sp>
        <p:nvSpPr>
          <p:cNvPr id="13" name="TextBox 12"/>
          <p:cNvSpPr txBox="1"/>
          <p:nvPr/>
        </p:nvSpPr>
        <p:spPr>
          <a:xfrm>
            <a:off x="3566160" y="2029967"/>
            <a:ext cx="2286000" cy="228600"/>
          </a:xfrm>
          <a:prstGeom prst="rect">
            <a:avLst/>
          </a:prstGeom>
          <a:noFill/>
        </p:spPr>
        <p:txBody>
          <a:bodyPr wrap="square"/>
          <a:lstStyle/>
          <a:p>
            <a:pPr algn="l">
              <a:defRPr sz="900" b="0">
                <a:solidFill>
                  <a:srgbClr val="6B7280"/>
                </a:solidFill>
                <a:latin typeface="Calibri"/>
              </a:defRPr>
            </a:pPr>
            <a:r>
              <a:t>6.1% of optimal</a:t>
            </a:r>
          </a:p>
        </p:txBody>
      </p:sp>
      <p:sp>
        <p:nvSpPr>
          <p:cNvPr id="14" name="Rectangle 13"/>
          <p:cNvSpPr/>
          <p:nvPr/>
        </p:nvSpPr>
        <p:spPr>
          <a:xfrm>
            <a:off x="6126479"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79" y="1371600"/>
            <a:ext cx="54864" cy="9144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481328"/>
            <a:ext cx="2286000" cy="228600"/>
          </a:xfrm>
          <a:prstGeom prst="rect">
            <a:avLst/>
          </a:prstGeom>
          <a:noFill/>
        </p:spPr>
        <p:txBody>
          <a:bodyPr wrap="square"/>
          <a:lstStyle/>
          <a:p>
            <a:pPr algn="l">
              <a:defRPr sz="800" b="1">
                <a:solidFill>
                  <a:srgbClr val="6B7280"/>
                </a:solidFill>
                <a:latin typeface="Calibri"/>
              </a:defRPr>
            </a:pPr>
            <a:r>
              <a:t>FINAL EXPLORE RATE</a:t>
            </a:r>
          </a:p>
        </p:txBody>
      </p:sp>
      <p:sp>
        <p:nvSpPr>
          <p:cNvPr id="17" name="TextBox 16"/>
          <p:cNvSpPr txBox="1"/>
          <p:nvPr/>
        </p:nvSpPr>
        <p:spPr>
          <a:xfrm>
            <a:off x="6355079" y="1691640"/>
            <a:ext cx="2286000" cy="365760"/>
          </a:xfrm>
          <a:prstGeom prst="rect">
            <a:avLst/>
          </a:prstGeom>
          <a:noFill/>
        </p:spPr>
        <p:txBody>
          <a:bodyPr wrap="square"/>
          <a:lstStyle/>
          <a:p>
            <a:pPr algn="l">
              <a:defRPr sz="2200" b="1">
                <a:solidFill>
                  <a:srgbClr val="111827"/>
                </a:solidFill>
                <a:latin typeface="Consolas"/>
              </a:defRPr>
            </a:pPr>
            <a:r>
              <a:t>5%</a:t>
            </a:r>
          </a:p>
        </p:txBody>
      </p:sp>
      <p:sp>
        <p:nvSpPr>
          <p:cNvPr id="18" name="TextBox 17"/>
          <p:cNvSpPr txBox="1"/>
          <p:nvPr/>
        </p:nvSpPr>
        <p:spPr>
          <a:xfrm>
            <a:off x="6355079" y="2029967"/>
            <a:ext cx="2286000" cy="228600"/>
          </a:xfrm>
          <a:prstGeom prst="rect">
            <a:avLst/>
          </a:prstGeom>
          <a:noFill/>
        </p:spPr>
        <p:txBody>
          <a:bodyPr wrap="square"/>
          <a:lstStyle/>
          <a:p>
            <a:pPr algn="l">
              <a:defRPr sz="900" b="0">
                <a:solidFill>
                  <a:srgbClr val="6B7280"/>
                </a:solidFill>
                <a:latin typeface="Calibri"/>
              </a:defRPr>
            </a:pPr>
            <a:r>
              <a:t>Converges from ~50%</a:t>
            </a:r>
          </a:p>
        </p:txBody>
      </p:sp>
      <p:sp>
        <p:nvSpPr>
          <p:cNvPr id="19" name="Rectangle 18"/>
          <p:cNvSpPr/>
          <p:nvPr/>
        </p:nvSpPr>
        <p:spPr>
          <a:xfrm>
            <a:off x="8915399" y="1371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399" y="1371600"/>
            <a:ext cx="54864" cy="914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3999" y="1481328"/>
            <a:ext cx="2286000" cy="228600"/>
          </a:xfrm>
          <a:prstGeom prst="rect">
            <a:avLst/>
          </a:prstGeom>
          <a:noFill/>
        </p:spPr>
        <p:txBody>
          <a:bodyPr wrap="square"/>
          <a:lstStyle/>
          <a:p>
            <a:pPr algn="l">
              <a:defRPr sz="800" b="1">
                <a:solidFill>
                  <a:srgbClr val="6B7280"/>
                </a:solidFill>
                <a:latin typeface="Calibri"/>
              </a:defRPr>
            </a:pPr>
            <a:r>
              <a:t>TRIALS</a:t>
            </a:r>
          </a:p>
        </p:txBody>
      </p:sp>
      <p:sp>
        <p:nvSpPr>
          <p:cNvPr id="22" name="TextBox 21"/>
          <p:cNvSpPr txBox="1"/>
          <p:nvPr/>
        </p:nvSpPr>
        <p:spPr>
          <a:xfrm>
            <a:off x="9143999" y="1691640"/>
            <a:ext cx="2286000" cy="365760"/>
          </a:xfrm>
          <a:prstGeom prst="rect">
            <a:avLst/>
          </a:prstGeom>
          <a:noFill/>
        </p:spPr>
        <p:txBody>
          <a:bodyPr wrap="square"/>
          <a:lstStyle/>
          <a:p>
            <a:pPr algn="l">
              <a:defRPr sz="2200" b="1">
                <a:solidFill>
                  <a:srgbClr val="111827"/>
                </a:solidFill>
                <a:latin typeface="Consolas"/>
              </a:defRPr>
            </a:pPr>
            <a:r>
              <a:t>100</a:t>
            </a:r>
          </a:p>
        </p:txBody>
      </p:sp>
      <p:sp>
        <p:nvSpPr>
          <p:cNvPr id="23" name="TextBox 22"/>
          <p:cNvSpPr txBox="1"/>
          <p:nvPr/>
        </p:nvSpPr>
        <p:spPr>
          <a:xfrm>
            <a:off x="9143999" y="2029967"/>
            <a:ext cx="2286000" cy="228600"/>
          </a:xfrm>
          <a:prstGeom prst="rect">
            <a:avLst/>
          </a:prstGeom>
          <a:noFill/>
        </p:spPr>
        <p:txBody>
          <a:bodyPr wrap="square"/>
          <a:lstStyle/>
          <a:p>
            <a:pPr algn="l">
              <a:defRPr sz="900" b="0">
                <a:solidFill>
                  <a:srgbClr val="6B7280"/>
                </a:solidFill>
                <a:latin typeface="Calibri"/>
              </a:defRPr>
            </a:pPr>
            <a:r>
              <a:t>Model routing decisions</a:t>
            </a:r>
          </a:p>
        </p:txBody>
      </p:sp>
      <p:sp>
        <p:nvSpPr>
          <p:cNvPr id="24" name="Rectangle 23"/>
          <p:cNvSpPr/>
          <p:nvPr/>
        </p:nvSpPr>
        <p:spPr>
          <a:xfrm>
            <a:off x="548640" y="2606040"/>
            <a:ext cx="548640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697480"/>
            <a:ext cx="5120640" cy="274320"/>
          </a:xfrm>
          <a:prstGeom prst="rect">
            <a:avLst/>
          </a:prstGeom>
          <a:noFill/>
        </p:spPr>
        <p:txBody>
          <a:bodyPr wrap="square"/>
          <a:lstStyle/>
          <a:p>
            <a:pPr algn="l">
              <a:defRPr sz="1200" b="1">
                <a:solidFill>
                  <a:srgbClr val="111827"/>
                </a:solidFill>
                <a:latin typeface="Calibri"/>
              </a:defRPr>
            </a:pPr>
            <a:r>
              <a:t>Model Performance After 100 Trials</a:t>
            </a:r>
          </a:p>
        </p:txBody>
      </p:sp>
      <p:sp>
        <p:nvSpPr>
          <p:cNvPr id="26" name="Rectangle 25"/>
          <p:cNvSpPr/>
          <p:nvPr/>
        </p:nvSpPr>
        <p:spPr>
          <a:xfrm>
            <a:off x="640080" y="3017520"/>
            <a:ext cx="5303520" cy="256032"/>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035808"/>
            <a:ext cx="1042416" cy="256032"/>
          </a:xfrm>
          <a:prstGeom prst="rect">
            <a:avLst/>
          </a:prstGeom>
          <a:noFill/>
        </p:spPr>
        <p:txBody>
          <a:bodyPr wrap="square"/>
          <a:lstStyle/>
          <a:p>
            <a:pPr algn="l">
              <a:defRPr sz="800" b="1">
                <a:solidFill>
                  <a:srgbClr val="1D4ED8"/>
                </a:solidFill>
                <a:latin typeface="Calibri"/>
              </a:defRPr>
            </a:pPr>
            <a:r>
              <a:t>Model</a:t>
            </a:r>
          </a:p>
        </p:txBody>
      </p:sp>
      <p:sp>
        <p:nvSpPr>
          <p:cNvPr id="28" name="TextBox 27"/>
          <p:cNvSpPr txBox="1"/>
          <p:nvPr/>
        </p:nvSpPr>
        <p:spPr>
          <a:xfrm>
            <a:off x="1728216" y="3035808"/>
            <a:ext cx="1042416" cy="256032"/>
          </a:xfrm>
          <a:prstGeom prst="rect">
            <a:avLst/>
          </a:prstGeom>
          <a:noFill/>
        </p:spPr>
        <p:txBody>
          <a:bodyPr wrap="square"/>
          <a:lstStyle/>
          <a:p>
            <a:pPr algn="l">
              <a:defRPr sz="800" b="1">
                <a:solidFill>
                  <a:srgbClr val="1D4ED8"/>
                </a:solidFill>
                <a:latin typeface="Calibri"/>
              </a:defRPr>
            </a:pPr>
            <a:r>
              <a:t>Successes</a:t>
            </a:r>
          </a:p>
        </p:txBody>
      </p:sp>
      <p:sp>
        <p:nvSpPr>
          <p:cNvPr id="29" name="TextBox 28"/>
          <p:cNvSpPr txBox="1"/>
          <p:nvPr/>
        </p:nvSpPr>
        <p:spPr>
          <a:xfrm>
            <a:off x="2770632" y="3035808"/>
            <a:ext cx="1042416" cy="256032"/>
          </a:xfrm>
          <a:prstGeom prst="rect">
            <a:avLst/>
          </a:prstGeom>
          <a:noFill/>
        </p:spPr>
        <p:txBody>
          <a:bodyPr wrap="square"/>
          <a:lstStyle/>
          <a:p>
            <a:pPr algn="l">
              <a:defRPr sz="800" b="1">
                <a:solidFill>
                  <a:srgbClr val="1D4ED8"/>
                </a:solidFill>
                <a:latin typeface="Calibri"/>
              </a:defRPr>
            </a:pPr>
            <a:r>
              <a:t>Failures</a:t>
            </a:r>
          </a:p>
        </p:txBody>
      </p:sp>
      <p:sp>
        <p:nvSpPr>
          <p:cNvPr id="30" name="TextBox 29"/>
          <p:cNvSpPr txBox="1"/>
          <p:nvPr/>
        </p:nvSpPr>
        <p:spPr>
          <a:xfrm>
            <a:off x="3813048" y="3035808"/>
            <a:ext cx="1042416" cy="256032"/>
          </a:xfrm>
          <a:prstGeom prst="rect">
            <a:avLst/>
          </a:prstGeom>
          <a:noFill/>
        </p:spPr>
        <p:txBody>
          <a:bodyPr wrap="square"/>
          <a:lstStyle/>
          <a:p>
            <a:pPr algn="l">
              <a:defRPr sz="800" b="1">
                <a:solidFill>
                  <a:srgbClr val="1D4ED8"/>
                </a:solidFill>
                <a:latin typeface="Calibri"/>
              </a:defRPr>
            </a:pPr>
            <a:r>
              <a:t>Posterior</a:t>
            </a:r>
          </a:p>
        </p:txBody>
      </p:sp>
      <p:sp>
        <p:nvSpPr>
          <p:cNvPr id="31" name="TextBox 30"/>
          <p:cNvSpPr txBox="1"/>
          <p:nvPr/>
        </p:nvSpPr>
        <p:spPr>
          <a:xfrm>
            <a:off x="4855464" y="3035808"/>
            <a:ext cx="1042416" cy="256032"/>
          </a:xfrm>
          <a:prstGeom prst="rect">
            <a:avLst/>
          </a:prstGeom>
          <a:noFill/>
        </p:spPr>
        <p:txBody>
          <a:bodyPr wrap="square"/>
          <a:lstStyle/>
          <a:p>
            <a:pPr algn="l">
              <a:defRPr sz="800" b="1">
                <a:solidFill>
                  <a:srgbClr val="1D4ED8"/>
                </a:solidFill>
                <a:latin typeface="Calibri"/>
              </a:defRPr>
            </a:pPr>
            <a:r>
              <a:t>Selection %</a:t>
            </a:r>
          </a:p>
        </p:txBody>
      </p:sp>
      <p:sp>
        <p:nvSpPr>
          <p:cNvPr id="32" name="TextBox 31"/>
          <p:cNvSpPr txBox="1"/>
          <p:nvPr/>
        </p:nvSpPr>
        <p:spPr>
          <a:xfrm>
            <a:off x="685800" y="3291840"/>
            <a:ext cx="1042416" cy="256032"/>
          </a:xfrm>
          <a:prstGeom prst="rect">
            <a:avLst/>
          </a:prstGeom>
          <a:noFill/>
        </p:spPr>
        <p:txBody>
          <a:bodyPr wrap="square"/>
          <a:lstStyle/>
          <a:p>
            <a:pPr algn="l">
              <a:defRPr sz="900" b="0">
                <a:solidFill>
                  <a:srgbClr val="374151"/>
                </a:solidFill>
                <a:latin typeface="Calibri"/>
              </a:defRPr>
            </a:pPr>
            <a:r>
              <a:t>DLRM Deep Model</a:t>
            </a:r>
          </a:p>
        </p:txBody>
      </p:sp>
      <p:sp>
        <p:nvSpPr>
          <p:cNvPr id="33" name="TextBox 32"/>
          <p:cNvSpPr txBox="1"/>
          <p:nvPr/>
        </p:nvSpPr>
        <p:spPr>
          <a:xfrm>
            <a:off x="1728216" y="3291840"/>
            <a:ext cx="1042416" cy="256032"/>
          </a:xfrm>
          <a:prstGeom prst="rect">
            <a:avLst/>
          </a:prstGeom>
          <a:noFill/>
        </p:spPr>
        <p:txBody>
          <a:bodyPr wrap="square"/>
          <a:lstStyle/>
          <a:p>
            <a:pPr algn="l">
              <a:defRPr sz="900" b="0">
                <a:solidFill>
                  <a:srgbClr val="374151"/>
                </a:solidFill>
                <a:latin typeface="Calibri"/>
              </a:defRPr>
            </a:pPr>
            <a:r>
              <a:t>52</a:t>
            </a:r>
          </a:p>
        </p:txBody>
      </p:sp>
      <p:sp>
        <p:nvSpPr>
          <p:cNvPr id="34" name="TextBox 33"/>
          <p:cNvSpPr txBox="1"/>
          <p:nvPr/>
        </p:nvSpPr>
        <p:spPr>
          <a:xfrm>
            <a:off x="2770632" y="3291840"/>
            <a:ext cx="1042416" cy="256032"/>
          </a:xfrm>
          <a:prstGeom prst="rect">
            <a:avLst/>
          </a:prstGeom>
          <a:noFill/>
        </p:spPr>
        <p:txBody>
          <a:bodyPr wrap="square"/>
          <a:lstStyle/>
          <a:p>
            <a:pPr algn="l">
              <a:defRPr sz="900" b="0">
                <a:solidFill>
                  <a:srgbClr val="374151"/>
                </a:solidFill>
                <a:latin typeface="Calibri"/>
              </a:defRPr>
            </a:pPr>
            <a:r>
              <a:t>15</a:t>
            </a:r>
          </a:p>
        </p:txBody>
      </p:sp>
      <p:sp>
        <p:nvSpPr>
          <p:cNvPr id="35" name="TextBox 34"/>
          <p:cNvSpPr txBox="1"/>
          <p:nvPr/>
        </p:nvSpPr>
        <p:spPr>
          <a:xfrm>
            <a:off x="3813048" y="3291840"/>
            <a:ext cx="1042416" cy="256032"/>
          </a:xfrm>
          <a:prstGeom prst="rect">
            <a:avLst/>
          </a:prstGeom>
          <a:noFill/>
        </p:spPr>
        <p:txBody>
          <a:bodyPr wrap="square"/>
          <a:lstStyle/>
          <a:p>
            <a:pPr algn="l">
              <a:defRPr sz="900" b="0">
                <a:solidFill>
                  <a:srgbClr val="374151"/>
                </a:solidFill>
                <a:latin typeface="Calibri"/>
              </a:defRPr>
            </a:pPr>
            <a:r>
              <a:t>0.7761</a:t>
            </a:r>
          </a:p>
        </p:txBody>
      </p:sp>
      <p:sp>
        <p:nvSpPr>
          <p:cNvPr id="36" name="TextBox 35"/>
          <p:cNvSpPr txBox="1"/>
          <p:nvPr/>
        </p:nvSpPr>
        <p:spPr>
          <a:xfrm>
            <a:off x="4855464" y="3291840"/>
            <a:ext cx="1042416" cy="256032"/>
          </a:xfrm>
          <a:prstGeom prst="rect">
            <a:avLst/>
          </a:prstGeom>
          <a:noFill/>
        </p:spPr>
        <p:txBody>
          <a:bodyPr wrap="square"/>
          <a:lstStyle/>
          <a:p>
            <a:pPr algn="l">
              <a:defRPr sz="900" b="0">
                <a:solidFill>
                  <a:srgbClr val="374151"/>
                </a:solidFill>
                <a:latin typeface="Calibri"/>
              </a:defRPr>
            </a:pPr>
            <a:r>
              <a:t>62.0%</a:t>
            </a:r>
          </a:p>
        </p:txBody>
      </p:sp>
      <p:sp>
        <p:nvSpPr>
          <p:cNvPr id="37" name="Rectangle 36"/>
          <p:cNvSpPr/>
          <p:nvPr/>
        </p:nvSpPr>
        <p:spPr>
          <a:xfrm>
            <a:off x="685800" y="3520440"/>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3547872"/>
            <a:ext cx="1042416" cy="256032"/>
          </a:xfrm>
          <a:prstGeom prst="rect">
            <a:avLst/>
          </a:prstGeom>
          <a:noFill/>
        </p:spPr>
        <p:txBody>
          <a:bodyPr wrap="square"/>
          <a:lstStyle/>
          <a:p>
            <a:pPr algn="l">
              <a:defRPr sz="900" b="0">
                <a:solidFill>
                  <a:srgbClr val="374151"/>
                </a:solidFill>
                <a:latin typeface="Calibri"/>
              </a:defRPr>
            </a:pPr>
            <a:r>
              <a:t>Two-Tower</a:t>
            </a:r>
          </a:p>
        </p:txBody>
      </p:sp>
      <p:sp>
        <p:nvSpPr>
          <p:cNvPr id="39" name="TextBox 38"/>
          <p:cNvSpPr txBox="1"/>
          <p:nvPr/>
        </p:nvSpPr>
        <p:spPr>
          <a:xfrm>
            <a:off x="1728216" y="3547872"/>
            <a:ext cx="1042416" cy="256032"/>
          </a:xfrm>
          <a:prstGeom prst="rect">
            <a:avLst/>
          </a:prstGeom>
          <a:noFill/>
        </p:spPr>
        <p:txBody>
          <a:bodyPr wrap="square"/>
          <a:lstStyle/>
          <a:p>
            <a:pPr algn="l">
              <a:defRPr sz="900" b="0">
                <a:solidFill>
                  <a:srgbClr val="374151"/>
                </a:solidFill>
                <a:latin typeface="Calibri"/>
              </a:defRPr>
            </a:pPr>
            <a:r>
              <a:t>18</a:t>
            </a:r>
          </a:p>
        </p:txBody>
      </p:sp>
      <p:sp>
        <p:nvSpPr>
          <p:cNvPr id="40" name="TextBox 39"/>
          <p:cNvSpPr txBox="1"/>
          <p:nvPr/>
        </p:nvSpPr>
        <p:spPr>
          <a:xfrm>
            <a:off x="2770632" y="3547872"/>
            <a:ext cx="1042416" cy="256032"/>
          </a:xfrm>
          <a:prstGeom prst="rect">
            <a:avLst/>
          </a:prstGeom>
          <a:noFill/>
        </p:spPr>
        <p:txBody>
          <a:bodyPr wrap="square"/>
          <a:lstStyle/>
          <a:p>
            <a:pPr algn="l">
              <a:defRPr sz="900" b="0">
                <a:solidFill>
                  <a:srgbClr val="374151"/>
                </a:solidFill>
                <a:latin typeface="Calibri"/>
              </a:defRPr>
            </a:pPr>
            <a:r>
              <a:t>14</a:t>
            </a:r>
          </a:p>
        </p:txBody>
      </p:sp>
      <p:sp>
        <p:nvSpPr>
          <p:cNvPr id="41" name="TextBox 40"/>
          <p:cNvSpPr txBox="1"/>
          <p:nvPr/>
        </p:nvSpPr>
        <p:spPr>
          <a:xfrm>
            <a:off x="3813048" y="3547872"/>
            <a:ext cx="1042416" cy="256032"/>
          </a:xfrm>
          <a:prstGeom prst="rect">
            <a:avLst/>
          </a:prstGeom>
          <a:noFill/>
        </p:spPr>
        <p:txBody>
          <a:bodyPr wrap="square"/>
          <a:lstStyle/>
          <a:p>
            <a:pPr algn="l">
              <a:defRPr sz="900" b="0">
                <a:solidFill>
                  <a:srgbClr val="374151"/>
                </a:solidFill>
                <a:latin typeface="Calibri"/>
              </a:defRPr>
            </a:pPr>
            <a:r>
              <a:t>0.5588</a:t>
            </a:r>
          </a:p>
        </p:txBody>
      </p:sp>
      <p:sp>
        <p:nvSpPr>
          <p:cNvPr id="42" name="TextBox 41"/>
          <p:cNvSpPr txBox="1"/>
          <p:nvPr/>
        </p:nvSpPr>
        <p:spPr>
          <a:xfrm>
            <a:off x="4855464" y="3547872"/>
            <a:ext cx="1042416" cy="256032"/>
          </a:xfrm>
          <a:prstGeom prst="rect">
            <a:avLst/>
          </a:prstGeom>
          <a:noFill/>
        </p:spPr>
        <p:txBody>
          <a:bodyPr wrap="square"/>
          <a:lstStyle/>
          <a:p>
            <a:pPr algn="l">
              <a:defRPr sz="900" b="0">
                <a:solidFill>
                  <a:srgbClr val="374151"/>
                </a:solidFill>
                <a:latin typeface="Calibri"/>
              </a:defRPr>
            </a:pPr>
            <a:r>
              <a:t>15.0%</a:t>
            </a:r>
          </a:p>
        </p:txBody>
      </p:sp>
      <p:sp>
        <p:nvSpPr>
          <p:cNvPr id="43" name="Rectangle 42"/>
          <p:cNvSpPr/>
          <p:nvPr/>
        </p:nvSpPr>
        <p:spPr>
          <a:xfrm>
            <a:off x="685800" y="3776472"/>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3803904"/>
            <a:ext cx="1042416" cy="256032"/>
          </a:xfrm>
          <a:prstGeom prst="rect">
            <a:avLst/>
          </a:prstGeom>
          <a:noFill/>
        </p:spPr>
        <p:txBody>
          <a:bodyPr wrap="square"/>
          <a:lstStyle/>
          <a:p>
            <a:pPr algn="l">
              <a:defRPr sz="900" b="0">
                <a:solidFill>
                  <a:srgbClr val="374151"/>
                </a:solidFill>
                <a:latin typeface="Calibri"/>
              </a:defRPr>
            </a:pPr>
            <a:r>
              <a:t>Contextual Bandit</a:t>
            </a:r>
          </a:p>
        </p:txBody>
      </p:sp>
      <p:sp>
        <p:nvSpPr>
          <p:cNvPr id="45" name="TextBox 44"/>
          <p:cNvSpPr txBox="1"/>
          <p:nvPr/>
        </p:nvSpPr>
        <p:spPr>
          <a:xfrm>
            <a:off x="1728216" y="3803904"/>
            <a:ext cx="1042416" cy="256032"/>
          </a:xfrm>
          <a:prstGeom prst="rect">
            <a:avLst/>
          </a:prstGeom>
          <a:noFill/>
        </p:spPr>
        <p:txBody>
          <a:bodyPr wrap="square"/>
          <a:lstStyle/>
          <a:p>
            <a:pPr algn="l">
              <a:defRPr sz="900" b="0">
                <a:solidFill>
                  <a:srgbClr val="374151"/>
                </a:solidFill>
                <a:latin typeface="Calibri"/>
              </a:defRPr>
            </a:pPr>
            <a:r>
              <a:t>9</a:t>
            </a:r>
          </a:p>
        </p:txBody>
      </p:sp>
      <p:sp>
        <p:nvSpPr>
          <p:cNvPr id="46" name="TextBox 45"/>
          <p:cNvSpPr txBox="1"/>
          <p:nvPr/>
        </p:nvSpPr>
        <p:spPr>
          <a:xfrm>
            <a:off x="2770632" y="3803904"/>
            <a:ext cx="1042416" cy="256032"/>
          </a:xfrm>
          <a:prstGeom prst="rect">
            <a:avLst/>
          </a:prstGeom>
          <a:noFill/>
        </p:spPr>
        <p:txBody>
          <a:bodyPr wrap="square"/>
          <a:lstStyle/>
          <a:p>
            <a:pPr algn="l">
              <a:defRPr sz="900" b="0">
                <a:solidFill>
                  <a:srgbClr val="374151"/>
                </a:solidFill>
                <a:latin typeface="Calibri"/>
              </a:defRPr>
            </a:pPr>
            <a:r>
              <a:t>6</a:t>
            </a:r>
          </a:p>
        </p:txBody>
      </p:sp>
      <p:sp>
        <p:nvSpPr>
          <p:cNvPr id="47" name="TextBox 46"/>
          <p:cNvSpPr txBox="1"/>
          <p:nvPr/>
        </p:nvSpPr>
        <p:spPr>
          <a:xfrm>
            <a:off x="3813048" y="3803904"/>
            <a:ext cx="1042416" cy="256032"/>
          </a:xfrm>
          <a:prstGeom prst="rect">
            <a:avLst/>
          </a:prstGeom>
          <a:noFill/>
        </p:spPr>
        <p:txBody>
          <a:bodyPr wrap="square"/>
          <a:lstStyle/>
          <a:p>
            <a:pPr algn="l">
              <a:defRPr sz="900" b="0">
                <a:solidFill>
                  <a:srgbClr val="374151"/>
                </a:solidFill>
                <a:latin typeface="Calibri"/>
              </a:defRPr>
            </a:pPr>
            <a:r>
              <a:t>0.5882</a:t>
            </a:r>
          </a:p>
        </p:txBody>
      </p:sp>
      <p:sp>
        <p:nvSpPr>
          <p:cNvPr id="48" name="TextBox 47"/>
          <p:cNvSpPr txBox="1"/>
          <p:nvPr/>
        </p:nvSpPr>
        <p:spPr>
          <a:xfrm>
            <a:off x="4855464" y="3803904"/>
            <a:ext cx="1042416" cy="256032"/>
          </a:xfrm>
          <a:prstGeom prst="rect">
            <a:avLst/>
          </a:prstGeom>
          <a:noFill/>
        </p:spPr>
        <p:txBody>
          <a:bodyPr wrap="square"/>
          <a:lstStyle/>
          <a:p>
            <a:pPr algn="l">
              <a:defRPr sz="900" b="0">
                <a:solidFill>
                  <a:srgbClr val="374151"/>
                </a:solidFill>
                <a:latin typeface="Calibri"/>
              </a:defRPr>
            </a:pPr>
            <a:r>
              <a:t>12.0%</a:t>
            </a:r>
          </a:p>
        </p:txBody>
      </p:sp>
      <p:sp>
        <p:nvSpPr>
          <p:cNvPr id="49" name="Rectangle 48"/>
          <p:cNvSpPr/>
          <p:nvPr/>
        </p:nvSpPr>
        <p:spPr>
          <a:xfrm>
            <a:off x="685800" y="4032504"/>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4059936"/>
            <a:ext cx="1042416" cy="256032"/>
          </a:xfrm>
          <a:prstGeom prst="rect">
            <a:avLst/>
          </a:prstGeom>
          <a:noFill/>
        </p:spPr>
        <p:txBody>
          <a:bodyPr wrap="square"/>
          <a:lstStyle/>
          <a:p>
            <a:pPr algn="l">
              <a:defRPr sz="900" b="0">
                <a:solidFill>
                  <a:srgbClr val="374151"/>
                </a:solidFill>
                <a:latin typeface="Calibri"/>
              </a:defRPr>
            </a:pPr>
            <a:r>
              <a:t>GBDT Ranker</a:t>
            </a:r>
          </a:p>
        </p:txBody>
      </p:sp>
      <p:sp>
        <p:nvSpPr>
          <p:cNvPr id="51" name="TextBox 50"/>
          <p:cNvSpPr txBox="1"/>
          <p:nvPr/>
        </p:nvSpPr>
        <p:spPr>
          <a:xfrm>
            <a:off x="1728216" y="4059936"/>
            <a:ext cx="1042416" cy="256032"/>
          </a:xfrm>
          <a:prstGeom prst="rect">
            <a:avLst/>
          </a:prstGeom>
          <a:noFill/>
        </p:spPr>
        <p:txBody>
          <a:bodyPr wrap="square"/>
          <a:lstStyle/>
          <a:p>
            <a:pPr algn="l">
              <a:defRPr sz="900" b="0">
                <a:solidFill>
                  <a:srgbClr val="374151"/>
                </a:solidFill>
                <a:latin typeface="Calibri"/>
              </a:defRPr>
            </a:pPr>
            <a:r>
              <a:t>6</a:t>
            </a:r>
          </a:p>
        </p:txBody>
      </p:sp>
      <p:sp>
        <p:nvSpPr>
          <p:cNvPr id="52" name="TextBox 51"/>
          <p:cNvSpPr txBox="1"/>
          <p:nvPr/>
        </p:nvSpPr>
        <p:spPr>
          <a:xfrm>
            <a:off x="2770632" y="4059936"/>
            <a:ext cx="1042416" cy="256032"/>
          </a:xfrm>
          <a:prstGeom prst="rect">
            <a:avLst/>
          </a:prstGeom>
          <a:noFill/>
        </p:spPr>
        <p:txBody>
          <a:bodyPr wrap="square"/>
          <a:lstStyle/>
          <a:p>
            <a:pPr algn="l">
              <a:defRPr sz="900" b="0">
                <a:solidFill>
                  <a:srgbClr val="374151"/>
                </a:solidFill>
                <a:latin typeface="Calibri"/>
              </a:defRPr>
            </a:pPr>
            <a:r>
              <a:t>9</a:t>
            </a:r>
          </a:p>
        </p:txBody>
      </p:sp>
      <p:sp>
        <p:nvSpPr>
          <p:cNvPr id="53" name="TextBox 52"/>
          <p:cNvSpPr txBox="1"/>
          <p:nvPr/>
        </p:nvSpPr>
        <p:spPr>
          <a:xfrm>
            <a:off x="3813048" y="4059936"/>
            <a:ext cx="1042416" cy="256032"/>
          </a:xfrm>
          <a:prstGeom prst="rect">
            <a:avLst/>
          </a:prstGeom>
          <a:noFill/>
        </p:spPr>
        <p:txBody>
          <a:bodyPr wrap="square"/>
          <a:lstStyle/>
          <a:p>
            <a:pPr algn="l">
              <a:defRPr sz="900" b="0">
                <a:solidFill>
                  <a:srgbClr val="374151"/>
                </a:solidFill>
                <a:latin typeface="Calibri"/>
              </a:defRPr>
            </a:pPr>
            <a:r>
              <a:t>0.4375</a:t>
            </a:r>
          </a:p>
        </p:txBody>
      </p:sp>
      <p:sp>
        <p:nvSpPr>
          <p:cNvPr id="54" name="TextBox 53"/>
          <p:cNvSpPr txBox="1"/>
          <p:nvPr/>
        </p:nvSpPr>
        <p:spPr>
          <a:xfrm>
            <a:off x="4855464" y="4059936"/>
            <a:ext cx="1042416" cy="256032"/>
          </a:xfrm>
          <a:prstGeom prst="rect">
            <a:avLst/>
          </a:prstGeom>
          <a:noFill/>
        </p:spPr>
        <p:txBody>
          <a:bodyPr wrap="square"/>
          <a:lstStyle/>
          <a:p>
            <a:pPr algn="l">
              <a:defRPr sz="900" b="0">
                <a:solidFill>
                  <a:srgbClr val="374151"/>
                </a:solidFill>
                <a:latin typeface="Calibri"/>
              </a:defRPr>
            </a:pPr>
            <a:r>
              <a:t>11.0%</a:t>
            </a:r>
          </a:p>
        </p:txBody>
      </p:sp>
      <p:sp>
        <p:nvSpPr>
          <p:cNvPr id="55" name="Rectangle 54"/>
          <p:cNvSpPr/>
          <p:nvPr/>
        </p:nvSpPr>
        <p:spPr>
          <a:xfrm>
            <a:off x="685800" y="4288536"/>
            <a:ext cx="521208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00800" y="2606040"/>
            <a:ext cx="52120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83680" y="2697480"/>
            <a:ext cx="4572000" cy="274320"/>
          </a:xfrm>
          <a:prstGeom prst="rect">
            <a:avLst/>
          </a:prstGeom>
          <a:noFill/>
        </p:spPr>
        <p:txBody>
          <a:bodyPr wrap="square"/>
          <a:lstStyle/>
          <a:p>
            <a:pPr algn="l">
              <a:defRPr sz="1200" b="1">
                <a:solidFill>
                  <a:srgbClr val="111827"/>
                </a:solidFill>
                <a:latin typeface="Calibri"/>
              </a:defRPr>
            </a:pPr>
            <a:r>
              <a:t>How Thompson Sampling Works</a:t>
            </a:r>
          </a:p>
        </p:txBody>
      </p:sp>
      <p:sp>
        <p:nvSpPr>
          <p:cNvPr id="58" name="TextBox 57"/>
          <p:cNvSpPr txBox="1"/>
          <p:nvPr/>
        </p:nvSpPr>
        <p:spPr>
          <a:xfrm>
            <a:off x="6675120" y="3063240"/>
            <a:ext cx="2286000" cy="182880"/>
          </a:xfrm>
          <a:prstGeom prst="rect">
            <a:avLst/>
          </a:prstGeom>
          <a:noFill/>
        </p:spPr>
        <p:txBody>
          <a:bodyPr wrap="square"/>
          <a:lstStyle/>
          <a:p>
            <a:pPr algn="l">
              <a:defRPr sz="1000" b="1">
                <a:solidFill>
                  <a:srgbClr val="7C3AED"/>
                </a:solidFill>
                <a:latin typeface="Calibri"/>
              </a:defRPr>
            </a:pPr>
            <a:r>
              <a:t>1. Maintain Posteriors</a:t>
            </a:r>
          </a:p>
        </p:txBody>
      </p:sp>
      <p:sp>
        <p:nvSpPr>
          <p:cNvPr id="59" name="TextBox 58"/>
          <p:cNvSpPr txBox="1"/>
          <p:nvPr/>
        </p:nvSpPr>
        <p:spPr>
          <a:xfrm>
            <a:off x="8778240" y="3063240"/>
            <a:ext cx="2743200" cy="320040"/>
          </a:xfrm>
          <a:prstGeom prst="rect">
            <a:avLst/>
          </a:prstGeom>
          <a:noFill/>
        </p:spPr>
        <p:txBody>
          <a:bodyPr wrap="square"/>
          <a:lstStyle/>
          <a:p>
            <a:pPr algn="l">
              <a:defRPr sz="900" b="0">
                <a:solidFill>
                  <a:srgbClr val="374151"/>
                </a:solidFill>
                <a:latin typeface="Calibri"/>
              </a:defRPr>
            </a:pPr>
            <a:r>
              <a:t>Each model has a Beta(α, β) distribution tracking success/failure counts</a:t>
            </a:r>
          </a:p>
        </p:txBody>
      </p:sp>
      <p:sp>
        <p:nvSpPr>
          <p:cNvPr id="60" name="TextBox 59"/>
          <p:cNvSpPr txBox="1"/>
          <p:nvPr/>
        </p:nvSpPr>
        <p:spPr>
          <a:xfrm>
            <a:off x="6675120" y="3502152"/>
            <a:ext cx="2286000" cy="182880"/>
          </a:xfrm>
          <a:prstGeom prst="rect">
            <a:avLst/>
          </a:prstGeom>
          <a:noFill/>
        </p:spPr>
        <p:txBody>
          <a:bodyPr wrap="square"/>
          <a:lstStyle/>
          <a:p>
            <a:pPr algn="l">
              <a:defRPr sz="1000" b="1">
                <a:solidFill>
                  <a:srgbClr val="7C3AED"/>
                </a:solidFill>
                <a:latin typeface="Calibri"/>
              </a:defRPr>
            </a:pPr>
            <a:r>
              <a:t>2. Sample</a:t>
            </a:r>
          </a:p>
        </p:txBody>
      </p:sp>
      <p:sp>
        <p:nvSpPr>
          <p:cNvPr id="61" name="TextBox 60"/>
          <p:cNvSpPr txBox="1"/>
          <p:nvPr/>
        </p:nvSpPr>
        <p:spPr>
          <a:xfrm>
            <a:off x="8778240" y="3502152"/>
            <a:ext cx="2743200" cy="320040"/>
          </a:xfrm>
          <a:prstGeom prst="rect">
            <a:avLst/>
          </a:prstGeom>
          <a:noFill/>
        </p:spPr>
        <p:txBody>
          <a:bodyPr wrap="square"/>
          <a:lstStyle/>
          <a:p>
            <a:pPr algn="l">
              <a:defRPr sz="900" b="0">
                <a:solidFill>
                  <a:srgbClr val="374151"/>
                </a:solidFill>
                <a:latin typeface="Calibri"/>
              </a:defRPr>
            </a:pPr>
            <a:r>
              <a:t>Draw random sample from each model's posterior — the stochastic element</a:t>
            </a:r>
          </a:p>
        </p:txBody>
      </p:sp>
      <p:sp>
        <p:nvSpPr>
          <p:cNvPr id="62" name="TextBox 61"/>
          <p:cNvSpPr txBox="1"/>
          <p:nvPr/>
        </p:nvSpPr>
        <p:spPr>
          <a:xfrm>
            <a:off x="6675120" y="3941064"/>
            <a:ext cx="2286000" cy="182880"/>
          </a:xfrm>
          <a:prstGeom prst="rect">
            <a:avLst/>
          </a:prstGeom>
          <a:noFill/>
        </p:spPr>
        <p:txBody>
          <a:bodyPr wrap="square"/>
          <a:lstStyle/>
          <a:p>
            <a:pPr algn="l">
              <a:defRPr sz="1000" b="1">
                <a:solidFill>
                  <a:srgbClr val="7C3AED"/>
                </a:solidFill>
                <a:latin typeface="Calibri"/>
              </a:defRPr>
            </a:pPr>
            <a:r>
              <a:t>3. Select Best Sample</a:t>
            </a:r>
          </a:p>
        </p:txBody>
      </p:sp>
      <p:sp>
        <p:nvSpPr>
          <p:cNvPr id="63" name="TextBox 62"/>
          <p:cNvSpPr txBox="1"/>
          <p:nvPr/>
        </p:nvSpPr>
        <p:spPr>
          <a:xfrm>
            <a:off x="8778240" y="3941064"/>
            <a:ext cx="2743200" cy="320040"/>
          </a:xfrm>
          <a:prstGeom prst="rect">
            <a:avLst/>
          </a:prstGeom>
          <a:noFill/>
        </p:spPr>
        <p:txBody>
          <a:bodyPr wrap="square"/>
          <a:lstStyle/>
          <a:p>
            <a:pPr algn="l">
              <a:defRPr sz="900" b="0">
                <a:solidFill>
                  <a:srgbClr val="374151"/>
                </a:solidFill>
                <a:latin typeface="Calibri"/>
              </a:defRPr>
            </a:pPr>
            <a:r>
              <a:t>Pick model with highest sample value — naturally favors uncertain models</a:t>
            </a:r>
          </a:p>
        </p:txBody>
      </p:sp>
      <p:sp>
        <p:nvSpPr>
          <p:cNvPr id="64" name="TextBox 63"/>
          <p:cNvSpPr txBox="1"/>
          <p:nvPr/>
        </p:nvSpPr>
        <p:spPr>
          <a:xfrm>
            <a:off x="6675120" y="4379976"/>
            <a:ext cx="2286000" cy="182880"/>
          </a:xfrm>
          <a:prstGeom prst="rect">
            <a:avLst/>
          </a:prstGeom>
          <a:noFill/>
        </p:spPr>
        <p:txBody>
          <a:bodyPr wrap="square"/>
          <a:lstStyle/>
          <a:p>
            <a:pPr algn="l">
              <a:defRPr sz="1000" b="1">
                <a:solidFill>
                  <a:srgbClr val="7C3AED"/>
                </a:solidFill>
                <a:latin typeface="Calibri"/>
              </a:defRPr>
            </a:pPr>
            <a:r>
              <a:t>4. Observe &amp; Update</a:t>
            </a:r>
          </a:p>
        </p:txBody>
      </p:sp>
      <p:sp>
        <p:nvSpPr>
          <p:cNvPr id="65" name="TextBox 64"/>
          <p:cNvSpPr txBox="1"/>
          <p:nvPr/>
        </p:nvSpPr>
        <p:spPr>
          <a:xfrm>
            <a:off x="8778240" y="4379976"/>
            <a:ext cx="2743200" cy="320040"/>
          </a:xfrm>
          <a:prstGeom prst="rect">
            <a:avLst/>
          </a:prstGeom>
          <a:noFill/>
        </p:spPr>
        <p:txBody>
          <a:bodyPr wrap="square"/>
          <a:lstStyle/>
          <a:p>
            <a:pPr algn="l">
              <a:defRPr sz="900" b="0">
                <a:solidFill>
                  <a:srgbClr val="374151"/>
                </a:solidFill>
                <a:latin typeface="Calibri"/>
              </a:defRPr>
            </a:pPr>
            <a:r>
              <a:t>See if the routing decision succeeded, then update the posterior</a:t>
            </a:r>
          </a:p>
        </p:txBody>
      </p:sp>
      <p:sp>
        <p:nvSpPr>
          <p:cNvPr id="66" name="TextBox 65"/>
          <p:cNvSpPr txBox="1"/>
          <p:nvPr/>
        </p:nvSpPr>
        <p:spPr>
          <a:xfrm>
            <a:off x="6675120" y="4818888"/>
            <a:ext cx="2286000" cy="182880"/>
          </a:xfrm>
          <a:prstGeom prst="rect">
            <a:avLst/>
          </a:prstGeom>
          <a:noFill/>
        </p:spPr>
        <p:txBody>
          <a:bodyPr wrap="square"/>
          <a:lstStyle/>
          <a:p>
            <a:pPr algn="l">
              <a:defRPr sz="1000" b="1">
                <a:solidFill>
                  <a:srgbClr val="7C3AED"/>
                </a:solidFill>
                <a:latin typeface="Calibri"/>
              </a:defRPr>
            </a:pPr>
            <a:r>
              <a:t>5. Converge</a:t>
            </a:r>
          </a:p>
        </p:txBody>
      </p:sp>
      <p:sp>
        <p:nvSpPr>
          <p:cNvPr id="67" name="TextBox 66"/>
          <p:cNvSpPr txBox="1"/>
          <p:nvPr/>
        </p:nvSpPr>
        <p:spPr>
          <a:xfrm>
            <a:off x="8778240" y="4818888"/>
            <a:ext cx="2743200" cy="320040"/>
          </a:xfrm>
          <a:prstGeom prst="rect">
            <a:avLst/>
          </a:prstGeom>
          <a:noFill/>
        </p:spPr>
        <p:txBody>
          <a:bodyPr wrap="square"/>
          <a:lstStyle/>
          <a:p>
            <a:pPr algn="l">
              <a:defRPr sz="900" b="0">
                <a:solidFill>
                  <a:srgbClr val="374151"/>
                </a:solidFill>
                <a:latin typeface="Calibri"/>
              </a:defRPr>
            </a:pPr>
            <a:r>
              <a:t>Over time, posteriors narrow → less exploration, more exploitation</a:t>
            </a:r>
          </a:p>
        </p:txBody>
      </p:sp>
      <p:sp>
        <p:nvSpPr>
          <p:cNvPr id="68" name="Rectangle 67"/>
          <p:cNvSpPr/>
          <p:nvPr/>
        </p:nvSpPr>
        <p:spPr>
          <a:xfrm>
            <a:off x="548640" y="5394960"/>
            <a:ext cx="11064240" cy="91440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48640" y="5394960"/>
            <a:ext cx="54864"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7240" y="5486400"/>
            <a:ext cx="10515600" cy="685800"/>
          </a:xfrm>
          <a:prstGeom prst="rect">
            <a:avLst/>
          </a:prstGeom>
          <a:noFill/>
        </p:spPr>
        <p:txBody>
          <a:bodyPr wrap="square"/>
          <a:lstStyle/>
          <a:p>
            <a:pPr algn="l">
              <a:defRPr sz="1000" b="0">
                <a:solidFill>
                  <a:srgbClr val="4C1D95"/>
                </a:solidFill>
                <a:latin typeface="Calibri"/>
              </a:defRPr>
            </a:pPr>
            <a:r>
              <a:t>The exploration rate is NOT a hyperparameter — it emerges naturally from posterior uncertainty. Early: wide posteriors → diverse selection. Later: narrow posteriors → consistent exploitation. This achieves near-optimal regret bounds (Lai-Robbins). At scale, an 8% exploration rate on 1B daily impressions = 80M suboptimal impressions, but discovering a 2% CTR lift across 920M exploit impressions far exceeds the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7315200" cy="457200"/>
          </a:xfrm>
          <a:prstGeom prst="rect">
            <a:avLst/>
          </a:prstGeom>
          <a:noFill/>
        </p:spPr>
        <p:txBody>
          <a:bodyPr wrap="square"/>
          <a:lstStyle/>
          <a:p>
            <a:pPr algn="l">
              <a:defRPr sz="2800" b="1">
                <a:solidFill>
                  <a:srgbClr val="111827"/>
                </a:solidFill>
                <a:latin typeface="Calibri"/>
              </a:defRPr>
            </a:pPr>
            <a:r>
              <a:t>Cascade Ranking &amp; Latency Economics</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The true cost isn't just compute — it's latency. ~1% site conversion drop per 100ms of ad rendering delay.</a:t>
            </a:r>
          </a:p>
        </p:txBody>
      </p:sp>
      <p:sp>
        <p:nvSpPr>
          <p:cNvPr id="4" name="Rectangle 3"/>
          <p:cNvSpPr/>
          <p:nvPr/>
        </p:nvSpPr>
        <p:spPr>
          <a:xfrm>
            <a:off x="548640" y="1463040"/>
            <a:ext cx="260604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2606040" cy="54864"/>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2240280" cy="228600"/>
          </a:xfrm>
          <a:prstGeom prst="rect">
            <a:avLst/>
          </a:prstGeom>
          <a:noFill/>
        </p:spPr>
        <p:txBody>
          <a:bodyPr wrap="square"/>
          <a:lstStyle/>
          <a:p>
            <a:pPr algn="l">
              <a:defRPr sz="1100" b="1">
                <a:solidFill>
                  <a:srgbClr val="0891B2"/>
                </a:solidFill>
                <a:latin typeface="Calibri"/>
              </a:defRPr>
            </a:pPr>
            <a:r>
              <a:t>Stage 1: Retrieval</a:t>
            </a:r>
          </a:p>
        </p:txBody>
      </p:sp>
      <p:sp>
        <p:nvSpPr>
          <p:cNvPr id="7" name="TextBox 6"/>
          <p:cNvSpPr txBox="1"/>
          <p:nvPr/>
        </p:nvSpPr>
        <p:spPr>
          <a:xfrm>
            <a:off x="731520" y="1920240"/>
            <a:ext cx="2240280" cy="182880"/>
          </a:xfrm>
          <a:prstGeom prst="rect">
            <a:avLst/>
          </a:prstGeom>
          <a:noFill/>
        </p:spPr>
        <p:txBody>
          <a:bodyPr wrap="square"/>
          <a:lstStyle/>
          <a:p>
            <a:pPr algn="l">
              <a:defRPr sz="900" b="0">
                <a:solidFill>
                  <a:srgbClr val="6B7280"/>
                </a:solidFill>
                <a:latin typeface="Calibri"/>
              </a:defRPr>
            </a:pPr>
            <a:r>
              <a:t>Two-Tower (ANN)</a:t>
            </a:r>
          </a:p>
        </p:txBody>
      </p:sp>
      <p:sp>
        <p:nvSpPr>
          <p:cNvPr id="8" name="TextBox 7"/>
          <p:cNvSpPr txBox="1"/>
          <p:nvPr/>
        </p:nvSpPr>
        <p:spPr>
          <a:xfrm>
            <a:off x="731520" y="2194560"/>
            <a:ext cx="2240280" cy="365760"/>
          </a:xfrm>
          <a:prstGeom prst="rect">
            <a:avLst/>
          </a:prstGeom>
          <a:noFill/>
        </p:spPr>
        <p:txBody>
          <a:bodyPr wrap="square"/>
          <a:lstStyle/>
          <a:p>
            <a:pPr algn="l">
              <a:defRPr sz="2200" b="1">
                <a:solidFill>
                  <a:srgbClr val="111827"/>
                </a:solidFill>
                <a:latin typeface="Consolas"/>
              </a:defRPr>
            </a:pPr>
            <a:r>
              <a:t>80 → 45</a:t>
            </a:r>
          </a:p>
        </p:txBody>
      </p:sp>
      <p:sp>
        <p:nvSpPr>
          <p:cNvPr id="9" name="TextBox 8"/>
          <p:cNvSpPr txBox="1"/>
          <p:nvPr/>
        </p:nvSpPr>
        <p:spPr>
          <a:xfrm>
            <a:off x="731520" y="2697480"/>
            <a:ext cx="2240280" cy="182880"/>
          </a:xfrm>
          <a:prstGeom prst="rect">
            <a:avLst/>
          </a:prstGeom>
          <a:noFill/>
        </p:spPr>
        <p:txBody>
          <a:bodyPr wrap="square"/>
          <a:lstStyle/>
          <a:p>
            <a:pPr algn="l">
              <a:defRPr sz="900" b="0">
                <a:solidFill>
                  <a:srgbClr val="6B7280"/>
                </a:solidFill>
                <a:latin typeface="Calibri"/>
              </a:defRPr>
            </a:pPr>
            <a:r>
              <a:t>Compute: 0.8 units</a:t>
            </a:r>
          </a:p>
        </p:txBody>
      </p:sp>
      <p:sp>
        <p:nvSpPr>
          <p:cNvPr id="10" name="TextBox 9"/>
          <p:cNvSpPr txBox="1"/>
          <p:nvPr/>
        </p:nvSpPr>
        <p:spPr>
          <a:xfrm>
            <a:off x="731520" y="2880360"/>
            <a:ext cx="2240280" cy="182880"/>
          </a:xfrm>
          <a:prstGeom prst="rect">
            <a:avLst/>
          </a:prstGeom>
          <a:noFill/>
        </p:spPr>
        <p:txBody>
          <a:bodyPr wrap="square"/>
          <a:lstStyle/>
          <a:p>
            <a:pPr algn="l">
              <a:defRPr sz="900" b="0">
                <a:solidFill>
                  <a:srgbClr val="6B7280"/>
                </a:solidFill>
                <a:latin typeface="Calibri"/>
              </a:defRPr>
            </a:pPr>
            <a:r>
              <a:t>Latency: 5ms</a:t>
            </a:r>
          </a:p>
        </p:txBody>
      </p:sp>
      <p:sp>
        <p:nvSpPr>
          <p:cNvPr id="11" name="TextBox 10"/>
          <p:cNvSpPr txBox="1"/>
          <p:nvPr/>
        </p:nvSpPr>
        <p:spPr>
          <a:xfrm>
            <a:off x="3154680" y="2103120"/>
            <a:ext cx="274320" cy="365760"/>
          </a:xfrm>
          <a:prstGeom prst="rect">
            <a:avLst/>
          </a:prstGeom>
          <a:noFill/>
        </p:spPr>
        <p:txBody>
          <a:bodyPr wrap="square"/>
          <a:lstStyle/>
          <a:p>
            <a:pPr algn="ctr">
              <a:defRPr sz="2200" b="1">
                <a:solidFill>
                  <a:srgbClr val="D1D5DB"/>
                </a:solidFill>
                <a:latin typeface="Calibri"/>
              </a:defRPr>
            </a:pPr>
            <a:r>
              <a:t>→</a:t>
            </a:r>
          </a:p>
        </p:txBody>
      </p:sp>
      <p:sp>
        <p:nvSpPr>
          <p:cNvPr id="12" name="Rectangle 11"/>
          <p:cNvSpPr/>
          <p:nvPr/>
        </p:nvSpPr>
        <p:spPr>
          <a:xfrm>
            <a:off x="3429000" y="1463040"/>
            <a:ext cx="260604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463040"/>
            <a:ext cx="2606040"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1645920"/>
            <a:ext cx="2240280" cy="228600"/>
          </a:xfrm>
          <a:prstGeom prst="rect">
            <a:avLst/>
          </a:prstGeom>
          <a:noFill/>
        </p:spPr>
        <p:txBody>
          <a:bodyPr wrap="square"/>
          <a:lstStyle/>
          <a:p>
            <a:pPr algn="l">
              <a:defRPr sz="1100" b="1">
                <a:solidFill>
                  <a:srgbClr val="1D4ED8"/>
                </a:solidFill>
                <a:latin typeface="Calibri"/>
              </a:defRPr>
            </a:pPr>
            <a:r>
              <a:t>Stage 2: Ranking</a:t>
            </a:r>
          </a:p>
        </p:txBody>
      </p:sp>
      <p:sp>
        <p:nvSpPr>
          <p:cNvPr id="15" name="TextBox 14"/>
          <p:cNvSpPr txBox="1"/>
          <p:nvPr/>
        </p:nvSpPr>
        <p:spPr>
          <a:xfrm>
            <a:off x="3611880" y="1920240"/>
            <a:ext cx="2240280" cy="182880"/>
          </a:xfrm>
          <a:prstGeom prst="rect">
            <a:avLst/>
          </a:prstGeom>
          <a:noFill/>
        </p:spPr>
        <p:txBody>
          <a:bodyPr wrap="square"/>
          <a:lstStyle/>
          <a:p>
            <a:pPr algn="l">
              <a:defRPr sz="900" b="0">
                <a:solidFill>
                  <a:srgbClr val="6B7280"/>
                </a:solidFill>
                <a:latin typeface="Calibri"/>
              </a:defRPr>
            </a:pPr>
            <a:r>
              <a:t>DLRM Deep Model</a:t>
            </a:r>
          </a:p>
        </p:txBody>
      </p:sp>
      <p:sp>
        <p:nvSpPr>
          <p:cNvPr id="16" name="TextBox 15"/>
          <p:cNvSpPr txBox="1"/>
          <p:nvPr/>
        </p:nvSpPr>
        <p:spPr>
          <a:xfrm>
            <a:off x="3611880" y="2194560"/>
            <a:ext cx="2240280" cy="365760"/>
          </a:xfrm>
          <a:prstGeom prst="rect">
            <a:avLst/>
          </a:prstGeom>
          <a:noFill/>
        </p:spPr>
        <p:txBody>
          <a:bodyPr wrap="square"/>
          <a:lstStyle/>
          <a:p>
            <a:pPr algn="l">
              <a:defRPr sz="2200" b="1">
                <a:solidFill>
                  <a:srgbClr val="111827"/>
                </a:solidFill>
                <a:latin typeface="Consolas"/>
              </a:defRPr>
            </a:pPr>
            <a:r>
              <a:t>45 → 20</a:t>
            </a:r>
          </a:p>
        </p:txBody>
      </p:sp>
      <p:sp>
        <p:nvSpPr>
          <p:cNvPr id="17" name="TextBox 16"/>
          <p:cNvSpPr txBox="1"/>
          <p:nvPr/>
        </p:nvSpPr>
        <p:spPr>
          <a:xfrm>
            <a:off x="3611880" y="2697480"/>
            <a:ext cx="2240280" cy="182880"/>
          </a:xfrm>
          <a:prstGeom prst="rect">
            <a:avLst/>
          </a:prstGeom>
          <a:noFill/>
        </p:spPr>
        <p:txBody>
          <a:bodyPr wrap="square"/>
          <a:lstStyle/>
          <a:p>
            <a:pPr algn="l">
              <a:defRPr sz="900" b="0">
                <a:solidFill>
                  <a:srgbClr val="6B7280"/>
                </a:solidFill>
                <a:latin typeface="Calibri"/>
              </a:defRPr>
            </a:pPr>
            <a:r>
              <a:t>Compute: 45.0 units</a:t>
            </a:r>
          </a:p>
        </p:txBody>
      </p:sp>
      <p:sp>
        <p:nvSpPr>
          <p:cNvPr id="18" name="TextBox 17"/>
          <p:cNvSpPr txBox="1"/>
          <p:nvPr/>
        </p:nvSpPr>
        <p:spPr>
          <a:xfrm>
            <a:off x="3611880" y="2880360"/>
            <a:ext cx="2240280" cy="182880"/>
          </a:xfrm>
          <a:prstGeom prst="rect">
            <a:avLst/>
          </a:prstGeom>
          <a:noFill/>
        </p:spPr>
        <p:txBody>
          <a:bodyPr wrap="square"/>
          <a:lstStyle/>
          <a:p>
            <a:pPr algn="l">
              <a:defRPr sz="900" b="0">
                <a:solidFill>
                  <a:srgbClr val="6B7280"/>
                </a:solidFill>
                <a:latin typeface="Calibri"/>
              </a:defRPr>
            </a:pPr>
            <a:r>
              <a:t>Latency: 25ms</a:t>
            </a:r>
          </a:p>
        </p:txBody>
      </p:sp>
      <p:sp>
        <p:nvSpPr>
          <p:cNvPr id="19" name="TextBox 18"/>
          <p:cNvSpPr txBox="1"/>
          <p:nvPr/>
        </p:nvSpPr>
        <p:spPr>
          <a:xfrm>
            <a:off x="6035040" y="2103120"/>
            <a:ext cx="274320" cy="365760"/>
          </a:xfrm>
          <a:prstGeom prst="rect">
            <a:avLst/>
          </a:prstGeom>
          <a:noFill/>
        </p:spPr>
        <p:txBody>
          <a:bodyPr wrap="square"/>
          <a:lstStyle/>
          <a:p>
            <a:pPr algn="ctr">
              <a:defRPr sz="2200" b="1">
                <a:solidFill>
                  <a:srgbClr val="D1D5DB"/>
                </a:solidFill>
                <a:latin typeface="Calibri"/>
              </a:defRPr>
            </a:pPr>
            <a:r>
              <a:t>→</a:t>
            </a:r>
          </a:p>
        </p:txBody>
      </p:sp>
      <p:sp>
        <p:nvSpPr>
          <p:cNvPr id="20" name="Rectangle 19"/>
          <p:cNvSpPr/>
          <p:nvPr/>
        </p:nvSpPr>
        <p:spPr>
          <a:xfrm>
            <a:off x="6309359" y="1463040"/>
            <a:ext cx="260604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59" y="1463040"/>
            <a:ext cx="2606040" cy="54864"/>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1645920"/>
            <a:ext cx="2240280" cy="228600"/>
          </a:xfrm>
          <a:prstGeom prst="rect">
            <a:avLst/>
          </a:prstGeom>
          <a:noFill/>
        </p:spPr>
        <p:txBody>
          <a:bodyPr wrap="square"/>
          <a:lstStyle/>
          <a:p>
            <a:pPr algn="l">
              <a:defRPr sz="1100" b="1">
                <a:solidFill>
                  <a:srgbClr val="CA8A04"/>
                </a:solidFill>
                <a:latin typeface="Calibri"/>
              </a:defRPr>
            </a:pPr>
            <a:r>
              <a:t>Stage 3: Re-ranking</a:t>
            </a:r>
          </a:p>
        </p:txBody>
      </p:sp>
      <p:sp>
        <p:nvSpPr>
          <p:cNvPr id="23" name="TextBox 22"/>
          <p:cNvSpPr txBox="1"/>
          <p:nvPr/>
        </p:nvSpPr>
        <p:spPr>
          <a:xfrm>
            <a:off x="6492240" y="1920240"/>
            <a:ext cx="2240280" cy="182880"/>
          </a:xfrm>
          <a:prstGeom prst="rect">
            <a:avLst/>
          </a:prstGeom>
          <a:noFill/>
        </p:spPr>
        <p:txBody>
          <a:bodyPr wrap="square"/>
          <a:lstStyle/>
          <a:p>
            <a:pPr algn="l">
              <a:defRPr sz="900" b="0">
                <a:solidFill>
                  <a:srgbClr val="6B7280"/>
                </a:solidFill>
                <a:latin typeface="Calibri"/>
              </a:defRPr>
            </a:pPr>
            <a:r>
              <a:t>Business Rules</a:t>
            </a:r>
          </a:p>
        </p:txBody>
      </p:sp>
      <p:sp>
        <p:nvSpPr>
          <p:cNvPr id="24" name="TextBox 23"/>
          <p:cNvSpPr txBox="1"/>
          <p:nvPr/>
        </p:nvSpPr>
        <p:spPr>
          <a:xfrm>
            <a:off x="6492240" y="2194560"/>
            <a:ext cx="2240280" cy="365760"/>
          </a:xfrm>
          <a:prstGeom prst="rect">
            <a:avLst/>
          </a:prstGeom>
          <a:noFill/>
        </p:spPr>
        <p:txBody>
          <a:bodyPr wrap="square"/>
          <a:lstStyle/>
          <a:p>
            <a:pPr algn="l">
              <a:defRPr sz="2200" b="1">
                <a:solidFill>
                  <a:srgbClr val="111827"/>
                </a:solidFill>
                <a:latin typeface="Consolas"/>
              </a:defRPr>
            </a:pPr>
            <a:r>
              <a:t>20 → 8</a:t>
            </a:r>
          </a:p>
        </p:txBody>
      </p:sp>
      <p:sp>
        <p:nvSpPr>
          <p:cNvPr id="25" name="TextBox 24"/>
          <p:cNvSpPr txBox="1"/>
          <p:nvPr/>
        </p:nvSpPr>
        <p:spPr>
          <a:xfrm>
            <a:off x="6492240" y="2697480"/>
            <a:ext cx="2240280" cy="182880"/>
          </a:xfrm>
          <a:prstGeom prst="rect">
            <a:avLst/>
          </a:prstGeom>
          <a:noFill/>
        </p:spPr>
        <p:txBody>
          <a:bodyPr wrap="square"/>
          <a:lstStyle/>
          <a:p>
            <a:pPr algn="l">
              <a:defRPr sz="900" b="0">
                <a:solidFill>
                  <a:srgbClr val="6B7280"/>
                </a:solidFill>
                <a:latin typeface="Calibri"/>
              </a:defRPr>
            </a:pPr>
            <a:r>
              <a:t>Compute: 1.0 units</a:t>
            </a:r>
          </a:p>
        </p:txBody>
      </p:sp>
      <p:sp>
        <p:nvSpPr>
          <p:cNvPr id="26" name="TextBox 25"/>
          <p:cNvSpPr txBox="1"/>
          <p:nvPr/>
        </p:nvSpPr>
        <p:spPr>
          <a:xfrm>
            <a:off x="6492240" y="2880360"/>
            <a:ext cx="2240280" cy="182880"/>
          </a:xfrm>
          <a:prstGeom prst="rect">
            <a:avLst/>
          </a:prstGeom>
          <a:noFill/>
        </p:spPr>
        <p:txBody>
          <a:bodyPr wrap="square"/>
          <a:lstStyle/>
          <a:p>
            <a:pPr algn="l">
              <a:defRPr sz="900" b="0">
                <a:solidFill>
                  <a:srgbClr val="6B7280"/>
                </a:solidFill>
                <a:latin typeface="Calibri"/>
              </a:defRPr>
            </a:pPr>
            <a:r>
              <a:t>Latency: 2ms</a:t>
            </a:r>
          </a:p>
        </p:txBody>
      </p:sp>
      <p:sp>
        <p:nvSpPr>
          <p:cNvPr id="27" name="TextBox 26"/>
          <p:cNvSpPr txBox="1"/>
          <p:nvPr/>
        </p:nvSpPr>
        <p:spPr>
          <a:xfrm>
            <a:off x="8915400" y="2103120"/>
            <a:ext cx="274320" cy="365760"/>
          </a:xfrm>
          <a:prstGeom prst="rect">
            <a:avLst/>
          </a:prstGeom>
          <a:noFill/>
        </p:spPr>
        <p:txBody>
          <a:bodyPr wrap="square"/>
          <a:lstStyle/>
          <a:p>
            <a:pPr algn="ctr">
              <a:defRPr sz="2200" b="1">
                <a:solidFill>
                  <a:srgbClr val="D1D5DB"/>
                </a:solidFill>
                <a:latin typeface="Calibri"/>
              </a:defRPr>
            </a:pPr>
            <a:r>
              <a:t>→</a:t>
            </a:r>
          </a:p>
        </p:txBody>
      </p:sp>
      <p:sp>
        <p:nvSpPr>
          <p:cNvPr id="28" name="Rectangle 27"/>
          <p:cNvSpPr/>
          <p:nvPr/>
        </p:nvSpPr>
        <p:spPr>
          <a:xfrm>
            <a:off x="9189719" y="1463040"/>
            <a:ext cx="260604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89719" y="1463040"/>
            <a:ext cx="260604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72599" y="1645920"/>
            <a:ext cx="2240280" cy="228600"/>
          </a:xfrm>
          <a:prstGeom prst="rect">
            <a:avLst/>
          </a:prstGeom>
          <a:noFill/>
        </p:spPr>
        <p:txBody>
          <a:bodyPr wrap="square"/>
          <a:lstStyle/>
          <a:p>
            <a:pPr algn="l">
              <a:defRPr sz="1100" b="1">
                <a:solidFill>
                  <a:srgbClr val="16A34A"/>
                </a:solidFill>
                <a:latin typeface="Calibri"/>
              </a:defRPr>
            </a:pPr>
            <a:r>
              <a:t>Auction</a:t>
            </a:r>
          </a:p>
        </p:txBody>
      </p:sp>
      <p:sp>
        <p:nvSpPr>
          <p:cNvPr id="31" name="TextBox 30"/>
          <p:cNvSpPr txBox="1"/>
          <p:nvPr/>
        </p:nvSpPr>
        <p:spPr>
          <a:xfrm>
            <a:off x="9372599" y="1920240"/>
            <a:ext cx="2240280" cy="182880"/>
          </a:xfrm>
          <a:prstGeom prst="rect">
            <a:avLst/>
          </a:prstGeom>
          <a:noFill/>
        </p:spPr>
        <p:txBody>
          <a:bodyPr wrap="square"/>
          <a:lstStyle/>
          <a:p>
            <a:pPr algn="l">
              <a:defRPr sz="900" b="0">
                <a:solidFill>
                  <a:srgbClr val="6B7280"/>
                </a:solidFill>
                <a:latin typeface="Calibri"/>
              </a:defRPr>
            </a:pPr>
            <a:r>
              <a:t>GSP Mechanism</a:t>
            </a:r>
          </a:p>
        </p:txBody>
      </p:sp>
      <p:sp>
        <p:nvSpPr>
          <p:cNvPr id="32" name="TextBox 31"/>
          <p:cNvSpPr txBox="1"/>
          <p:nvPr/>
        </p:nvSpPr>
        <p:spPr>
          <a:xfrm>
            <a:off x="9372599" y="2194560"/>
            <a:ext cx="2240280" cy="365760"/>
          </a:xfrm>
          <a:prstGeom prst="rect">
            <a:avLst/>
          </a:prstGeom>
          <a:noFill/>
        </p:spPr>
        <p:txBody>
          <a:bodyPr wrap="square"/>
          <a:lstStyle/>
          <a:p>
            <a:pPr algn="l">
              <a:defRPr sz="2200" b="1">
                <a:solidFill>
                  <a:srgbClr val="111827"/>
                </a:solidFill>
                <a:latin typeface="Consolas"/>
              </a:defRPr>
            </a:pPr>
            <a:r>
              <a:t>8 → 5 winners</a:t>
            </a:r>
          </a:p>
        </p:txBody>
      </p:sp>
      <p:sp>
        <p:nvSpPr>
          <p:cNvPr id="33" name="TextBox 32"/>
          <p:cNvSpPr txBox="1"/>
          <p:nvPr/>
        </p:nvSpPr>
        <p:spPr>
          <a:xfrm>
            <a:off x="9372599" y="2697480"/>
            <a:ext cx="2240280" cy="182880"/>
          </a:xfrm>
          <a:prstGeom prst="rect">
            <a:avLst/>
          </a:prstGeom>
          <a:noFill/>
        </p:spPr>
        <p:txBody>
          <a:bodyPr wrap="square"/>
          <a:lstStyle/>
          <a:p>
            <a:pPr algn="l">
              <a:defRPr sz="900" b="0">
                <a:solidFill>
                  <a:srgbClr val="6B7280"/>
                </a:solidFill>
                <a:latin typeface="Calibri"/>
              </a:defRPr>
            </a:pPr>
            <a:r>
              <a:t>Compute: —</a:t>
            </a:r>
          </a:p>
        </p:txBody>
      </p:sp>
      <p:sp>
        <p:nvSpPr>
          <p:cNvPr id="34" name="TextBox 33"/>
          <p:cNvSpPr txBox="1"/>
          <p:nvPr/>
        </p:nvSpPr>
        <p:spPr>
          <a:xfrm>
            <a:off x="9372599" y="2880360"/>
            <a:ext cx="2240280" cy="182880"/>
          </a:xfrm>
          <a:prstGeom prst="rect">
            <a:avLst/>
          </a:prstGeom>
          <a:noFill/>
        </p:spPr>
        <p:txBody>
          <a:bodyPr wrap="square"/>
          <a:lstStyle/>
          <a:p>
            <a:pPr algn="l">
              <a:defRPr sz="900" b="0">
                <a:solidFill>
                  <a:srgbClr val="6B7280"/>
                </a:solidFill>
                <a:latin typeface="Calibri"/>
              </a:defRPr>
            </a:pPr>
            <a:r>
              <a:t>Latency: —</a:t>
            </a:r>
          </a:p>
        </p:txBody>
      </p:sp>
      <p:sp>
        <p:nvSpPr>
          <p:cNvPr id="35" name="Rectangle 34"/>
          <p:cNvSpPr/>
          <p:nvPr/>
        </p:nvSpPr>
        <p:spPr>
          <a:xfrm>
            <a:off x="548640" y="3657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3657600"/>
            <a:ext cx="54864"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3767328"/>
            <a:ext cx="2286000" cy="228600"/>
          </a:xfrm>
          <a:prstGeom prst="rect">
            <a:avLst/>
          </a:prstGeom>
          <a:noFill/>
        </p:spPr>
        <p:txBody>
          <a:bodyPr wrap="square"/>
          <a:lstStyle/>
          <a:p>
            <a:pPr algn="l">
              <a:defRPr sz="800" b="1">
                <a:solidFill>
                  <a:srgbClr val="6B7280"/>
                </a:solidFill>
                <a:latin typeface="Calibri"/>
              </a:defRPr>
            </a:pPr>
            <a:r>
              <a:t>COMPUTE SAVINGS</a:t>
            </a:r>
          </a:p>
        </p:txBody>
      </p:sp>
      <p:sp>
        <p:nvSpPr>
          <p:cNvPr id="38" name="TextBox 37"/>
          <p:cNvSpPr txBox="1"/>
          <p:nvPr/>
        </p:nvSpPr>
        <p:spPr>
          <a:xfrm>
            <a:off x="777240" y="3977639"/>
            <a:ext cx="2286000" cy="365760"/>
          </a:xfrm>
          <a:prstGeom prst="rect">
            <a:avLst/>
          </a:prstGeom>
          <a:noFill/>
        </p:spPr>
        <p:txBody>
          <a:bodyPr wrap="square"/>
          <a:lstStyle/>
          <a:p>
            <a:pPr algn="l">
              <a:defRPr sz="2200" b="1">
                <a:solidFill>
                  <a:srgbClr val="111827"/>
                </a:solidFill>
                <a:latin typeface="Consolas"/>
              </a:defRPr>
            </a:pPr>
            <a:r>
              <a:t>67.2%</a:t>
            </a:r>
          </a:p>
        </p:txBody>
      </p:sp>
      <p:sp>
        <p:nvSpPr>
          <p:cNvPr id="39" name="TextBox 38"/>
          <p:cNvSpPr txBox="1"/>
          <p:nvPr/>
        </p:nvSpPr>
        <p:spPr>
          <a:xfrm>
            <a:off x="777240" y="4315968"/>
            <a:ext cx="2286000" cy="228600"/>
          </a:xfrm>
          <a:prstGeom prst="rect">
            <a:avLst/>
          </a:prstGeom>
          <a:noFill/>
        </p:spPr>
        <p:txBody>
          <a:bodyPr wrap="square"/>
          <a:lstStyle/>
          <a:p>
            <a:pPr algn="l">
              <a:defRPr sz="900" b="0">
                <a:solidFill>
                  <a:srgbClr val="6B7280"/>
                </a:solidFill>
                <a:latin typeface="Calibri"/>
              </a:defRPr>
            </a:pPr>
            <a:r>
              <a:t>vs single-stage</a:t>
            </a:r>
          </a:p>
        </p:txBody>
      </p:sp>
      <p:sp>
        <p:nvSpPr>
          <p:cNvPr id="40" name="Rectangle 39"/>
          <p:cNvSpPr/>
          <p:nvPr/>
        </p:nvSpPr>
        <p:spPr>
          <a:xfrm>
            <a:off x="3429000" y="3657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429000" y="3657600"/>
            <a:ext cx="54864"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0" y="3767328"/>
            <a:ext cx="2286000" cy="228600"/>
          </a:xfrm>
          <a:prstGeom prst="rect">
            <a:avLst/>
          </a:prstGeom>
          <a:noFill/>
        </p:spPr>
        <p:txBody>
          <a:bodyPr wrap="square"/>
          <a:lstStyle/>
          <a:p>
            <a:pPr algn="l">
              <a:defRPr sz="800" b="1">
                <a:solidFill>
                  <a:srgbClr val="6B7280"/>
                </a:solidFill>
                <a:latin typeface="Calibri"/>
              </a:defRPr>
            </a:pPr>
            <a:r>
              <a:t>REVENUE IMPACT</a:t>
            </a:r>
          </a:p>
        </p:txBody>
      </p:sp>
      <p:sp>
        <p:nvSpPr>
          <p:cNvPr id="43" name="TextBox 42"/>
          <p:cNvSpPr txBox="1"/>
          <p:nvPr/>
        </p:nvSpPr>
        <p:spPr>
          <a:xfrm>
            <a:off x="3657600" y="3977639"/>
            <a:ext cx="2286000" cy="365760"/>
          </a:xfrm>
          <a:prstGeom prst="rect">
            <a:avLst/>
          </a:prstGeom>
          <a:noFill/>
        </p:spPr>
        <p:txBody>
          <a:bodyPr wrap="square"/>
          <a:lstStyle/>
          <a:p>
            <a:pPr algn="l">
              <a:defRPr sz="2200" b="1">
                <a:solidFill>
                  <a:srgbClr val="111827"/>
                </a:solidFill>
                <a:latin typeface="Consolas"/>
              </a:defRPr>
            </a:pPr>
            <a:r>
              <a:t>-4.8%</a:t>
            </a:r>
          </a:p>
        </p:txBody>
      </p:sp>
      <p:sp>
        <p:nvSpPr>
          <p:cNvPr id="44" name="TextBox 43"/>
          <p:cNvSpPr txBox="1"/>
          <p:nvPr/>
        </p:nvSpPr>
        <p:spPr>
          <a:xfrm>
            <a:off x="3657600" y="4315968"/>
            <a:ext cx="2286000" cy="228600"/>
          </a:xfrm>
          <a:prstGeom prst="rect">
            <a:avLst/>
          </a:prstGeom>
          <a:noFill/>
        </p:spPr>
        <p:txBody>
          <a:bodyPr wrap="square"/>
          <a:lstStyle/>
          <a:p>
            <a:pPr algn="l">
              <a:defRPr sz="900" b="0">
                <a:solidFill>
                  <a:srgbClr val="6B7280"/>
                </a:solidFill>
                <a:latin typeface="Calibri"/>
              </a:defRPr>
            </a:pPr>
            <a:r>
              <a:t>vs single-stage</a:t>
            </a:r>
          </a:p>
        </p:txBody>
      </p:sp>
      <p:sp>
        <p:nvSpPr>
          <p:cNvPr id="45" name="Rectangle 44"/>
          <p:cNvSpPr/>
          <p:nvPr/>
        </p:nvSpPr>
        <p:spPr>
          <a:xfrm>
            <a:off x="6309360" y="3657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3657600"/>
            <a:ext cx="54864" cy="9144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37960" y="3767328"/>
            <a:ext cx="2286000" cy="228600"/>
          </a:xfrm>
          <a:prstGeom prst="rect">
            <a:avLst/>
          </a:prstGeom>
          <a:noFill/>
        </p:spPr>
        <p:txBody>
          <a:bodyPr wrap="square"/>
          <a:lstStyle/>
          <a:p>
            <a:pPr algn="l">
              <a:defRPr sz="800" b="1">
                <a:solidFill>
                  <a:srgbClr val="6B7280"/>
                </a:solidFill>
                <a:latin typeface="Calibri"/>
              </a:defRPr>
            </a:pPr>
            <a:r>
              <a:t>REV/COMPUTE</a:t>
            </a:r>
          </a:p>
        </p:txBody>
      </p:sp>
      <p:sp>
        <p:nvSpPr>
          <p:cNvPr id="48" name="TextBox 47"/>
          <p:cNvSpPr txBox="1"/>
          <p:nvPr/>
        </p:nvSpPr>
        <p:spPr>
          <a:xfrm>
            <a:off x="6537960" y="3977639"/>
            <a:ext cx="2286000" cy="365760"/>
          </a:xfrm>
          <a:prstGeom prst="rect">
            <a:avLst/>
          </a:prstGeom>
          <a:noFill/>
        </p:spPr>
        <p:txBody>
          <a:bodyPr wrap="square"/>
          <a:lstStyle/>
          <a:p>
            <a:pPr algn="l">
              <a:defRPr sz="2200" b="1">
                <a:solidFill>
                  <a:srgbClr val="111827"/>
                </a:solidFill>
                <a:latin typeface="Consolas"/>
              </a:defRPr>
            </a:pPr>
            <a:r>
              <a:t>11.42</a:t>
            </a:r>
          </a:p>
        </p:txBody>
      </p:sp>
      <p:sp>
        <p:nvSpPr>
          <p:cNvPr id="49" name="TextBox 48"/>
          <p:cNvSpPr txBox="1"/>
          <p:nvPr/>
        </p:nvSpPr>
        <p:spPr>
          <a:xfrm>
            <a:off x="6537960" y="4315968"/>
            <a:ext cx="2286000" cy="228600"/>
          </a:xfrm>
          <a:prstGeom prst="rect">
            <a:avLst/>
          </a:prstGeom>
          <a:noFill/>
        </p:spPr>
        <p:txBody>
          <a:bodyPr wrap="square"/>
          <a:lstStyle/>
          <a:p>
            <a:pPr algn="l">
              <a:defRPr sz="900" b="0">
                <a:solidFill>
                  <a:srgbClr val="6B7280"/>
                </a:solidFill>
                <a:latin typeface="Calibri"/>
              </a:defRPr>
            </a:pPr>
            <a:r>
              <a:t>Cascade efficiency</a:t>
            </a:r>
          </a:p>
        </p:txBody>
      </p:sp>
      <p:sp>
        <p:nvSpPr>
          <p:cNvPr id="50" name="Rectangle 49"/>
          <p:cNvSpPr/>
          <p:nvPr/>
        </p:nvSpPr>
        <p:spPr>
          <a:xfrm>
            <a:off x="9189720" y="3657600"/>
            <a:ext cx="26060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189720" y="3657600"/>
            <a:ext cx="54864" cy="9144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18320" y="3767328"/>
            <a:ext cx="2286000" cy="228600"/>
          </a:xfrm>
          <a:prstGeom prst="rect">
            <a:avLst/>
          </a:prstGeom>
          <a:noFill/>
        </p:spPr>
        <p:txBody>
          <a:bodyPr wrap="square"/>
          <a:lstStyle/>
          <a:p>
            <a:pPr algn="l">
              <a:defRPr sz="800" b="1">
                <a:solidFill>
                  <a:srgbClr val="6B7280"/>
                </a:solidFill>
                <a:latin typeface="Calibri"/>
              </a:defRPr>
            </a:pPr>
            <a:r>
              <a:t>TOTAL LATENCY</a:t>
            </a:r>
          </a:p>
        </p:txBody>
      </p:sp>
      <p:sp>
        <p:nvSpPr>
          <p:cNvPr id="53" name="TextBox 52"/>
          <p:cNvSpPr txBox="1"/>
          <p:nvPr/>
        </p:nvSpPr>
        <p:spPr>
          <a:xfrm>
            <a:off x="9418320" y="3977639"/>
            <a:ext cx="2286000" cy="365760"/>
          </a:xfrm>
          <a:prstGeom prst="rect">
            <a:avLst/>
          </a:prstGeom>
          <a:noFill/>
        </p:spPr>
        <p:txBody>
          <a:bodyPr wrap="square"/>
          <a:lstStyle/>
          <a:p>
            <a:pPr algn="l">
              <a:defRPr sz="2200" b="1">
                <a:solidFill>
                  <a:srgbClr val="111827"/>
                </a:solidFill>
                <a:latin typeface="Consolas"/>
              </a:defRPr>
            </a:pPr>
            <a:r>
              <a:t>32ms</a:t>
            </a:r>
          </a:p>
        </p:txBody>
      </p:sp>
      <p:sp>
        <p:nvSpPr>
          <p:cNvPr id="54" name="TextBox 53"/>
          <p:cNvSpPr txBox="1"/>
          <p:nvPr/>
        </p:nvSpPr>
        <p:spPr>
          <a:xfrm>
            <a:off x="9418320" y="4315968"/>
            <a:ext cx="2286000" cy="228600"/>
          </a:xfrm>
          <a:prstGeom prst="rect">
            <a:avLst/>
          </a:prstGeom>
          <a:noFill/>
        </p:spPr>
        <p:txBody>
          <a:bodyPr wrap="square"/>
          <a:lstStyle/>
          <a:p>
            <a:pPr algn="l">
              <a:defRPr sz="900" b="0">
                <a:solidFill>
                  <a:srgbClr val="6B7280"/>
                </a:solidFill>
                <a:latin typeface="Calibri"/>
              </a:defRPr>
            </a:pPr>
            <a:r>
              <a:t>Within budget</a:t>
            </a:r>
          </a:p>
        </p:txBody>
      </p:sp>
      <p:sp>
        <p:nvSpPr>
          <p:cNvPr id="55" name="Rectangle 54"/>
          <p:cNvSpPr/>
          <p:nvPr/>
        </p:nvSpPr>
        <p:spPr>
          <a:xfrm>
            <a:off x="548640" y="4846320"/>
            <a:ext cx="1106424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4937759"/>
            <a:ext cx="10698480" cy="274320"/>
          </a:xfrm>
          <a:prstGeom prst="rect">
            <a:avLst/>
          </a:prstGeom>
          <a:noFill/>
        </p:spPr>
        <p:txBody>
          <a:bodyPr wrap="square"/>
          <a:lstStyle/>
          <a:p>
            <a:pPr algn="l">
              <a:defRPr sz="1200" b="1">
                <a:solidFill>
                  <a:srgbClr val="111827"/>
                </a:solidFill>
                <a:latin typeface="Calibri"/>
              </a:defRPr>
            </a:pPr>
            <a:r>
              <a:t>Cascade vs Single-Stage Comparison</a:t>
            </a:r>
          </a:p>
        </p:txBody>
      </p:sp>
      <p:sp>
        <p:nvSpPr>
          <p:cNvPr id="57" name="Rectangle 56"/>
          <p:cNvSpPr/>
          <p:nvPr/>
        </p:nvSpPr>
        <p:spPr>
          <a:xfrm>
            <a:off x="640080" y="5257799"/>
            <a:ext cx="10881360" cy="256032"/>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5800" y="5276087"/>
            <a:ext cx="2157984" cy="256032"/>
          </a:xfrm>
          <a:prstGeom prst="rect">
            <a:avLst/>
          </a:prstGeom>
          <a:noFill/>
        </p:spPr>
        <p:txBody>
          <a:bodyPr wrap="square"/>
          <a:lstStyle/>
          <a:p>
            <a:pPr algn="l">
              <a:defRPr sz="800" b="1">
                <a:solidFill>
                  <a:srgbClr val="1D4ED8"/>
                </a:solidFill>
                <a:latin typeface="Calibri"/>
              </a:defRPr>
            </a:pPr>
            <a:r>
              <a:t>Approach</a:t>
            </a:r>
          </a:p>
        </p:txBody>
      </p:sp>
      <p:sp>
        <p:nvSpPr>
          <p:cNvPr id="59" name="TextBox 58"/>
          <p:cNvSpPr txBox="1"/>
          <p:nvPr/>
        </p:nvSpPr>
        <p:spPr>
          <a:xfrm>
            <a:off x="2843784" y="5276087"/>
            <a:ext cx="2157984" cy="256032"/>
          </a:xfrm>
          <a:prstGeom prst="rect">
            <a:avLst/>
          </a:prstGeom>
          <a:noFill/>
        </p:spPr>
        <p:txBody>
          <a:bodyPr wrap="square"/>
          <a:lstStyle/>
          <a:p>
            <a:pPr algn="l">
              <a:defRPr sz="800" b="1">
                <a:solidFill>
                  <a:srgbClr val="1D4ED8"/>
                </a:solidFill>
                <a:latin typeface="Calibri"/>
              </a:defRPr>
            </a:pPr>
            <a:r>
              <a:t>Candidates Scored</a:t>
            </a:r>
          </a:p>
        </p:txBody>
      </p:sp>
      <p:sp>
        <p:nvSpPr>
          <p:cNvPr id="60" name="TextBox 59"/>
          <p:cNvSpPr txBox="1"/>
          <p:nvPr/>
        </p:nvSpPr>
        <p:spPr>
          <a:xfrm>
            <a:off x="5001768" y="5276087"/>
            <a:ext cx="2157984" cy="256032"/>
          </a:xfrm>
          <a:prstGeom prst="rect">
            <a:avLst/>
          </a:prstGeom>
          <a:noFill/>
        </p:spPr>
        <p:txBody>
          <a:bodyPr wrap="square"/>
          <a:lstStyle/>
          <a:p>
            <a:pPr algn="l">
              <a:defRPr sz="800" b="1">
                <a:solidFill>
                  <a:srgbClr val="1D4ED8"/>
                </a:solidFill>
                <a:latin typeface="Calibri"/>
              </a:defRPr>
            </a:pPr>
            <a:r>
              <a:t>Compute Cost</a:t>
            </a:r>
          </a:p>
        </p:txBody>
      </p:sp>
      <p:sp>
        <p:nvSpPr>
          <p:cNvPr id="61" name="TextBox 60"/>
          <p:cNvSpPr txBox="1"/>
          <p:nvPr/>
        </p:nvSpPr>
        <p:spPr>
          <a:xfrm>
            <a:off x="7159752" y="5276087"/>
            <a:ext cx="2157984" cy="256032"/>
          </a:xfrm>
          <a:prstGeom prst="rect">
            <a:avLst/>
          </a:prstGeom>
          <a:noFill/>
        </p:spPr>
        <p:txBody>
          <a:bodyPr wrap="square"/>
          <a:lstStyle/>
          <a:p>
            <a:pPr algn="l">
              <a:defRPr sz="800" b="1">
                <a:solidFill>
                  <a:srgbClr val="1D4ED8"/>
                </a:solidFill>
                <a:latin typeface="Calibri"/>
              </a:defRPr>
            </a:pPr>
            <a:r>
              <a:t>Revenue</a:t>
            </a:r>
          </a:p>
        </p:txBody>
      </p:sp>
      <p:sp>
        <p:nvSpPr>
          <p:cNvPr id="62" name="TextBox 61"/>
          <p:cNvSpPr txBox="1"/>
          <p:nvPr/>
        </p:nvSpPr>
        <p:spPr>
          <a:xfrm>
            <a:off x="9317736" y="5276087"/>
            <a:ext cx="2157984" cy="256032"/>
          </a:xfrm>
          <a:prstGeom prst="rect">
            <a:avLst/>
          </a:prstGeom>
          <a:noFill/>
        </p:spPr>
        <p:txBody>
          <a:bodyPr wrap="square"/>
          <a:lstStyle/>
          <a:p>
            <a:pPr algn="l">
              <a:defRPr sz="800" b="1">
                <a:solidFill>
                  <a:srgbClr val="1D4ED8"/>
                </a:solidFill>
                <a:latin typeface="Calibri"/>
              </a:defRPr>
            </a:pPr>
            <a:r>
              <a:t>Rev/Compute</a:t>
            </a:r>
          </a:p>
        </p:txBody>
      </p:sp>
      <p:sp>
        <p:nvSpPr>
          <p:cNvPr id="63" name="TextBox 62"/>
          <p:cNvSpPr txBox="1"/>
          <p:nvPr/>
        </p:nvSpPr>
        <p:spPr>
          <a:xfrm>
            <a:off x="685800" y="5532119"/>
            <a:ext cx="2157984" cy="256032"/>
          </a:xfrm>
          <a:prstGeom prst="rect">
            <a:avLst/>
          </a:prstGeom>
          <a:noFill/>
        </p:spPr>
        <p:txBody>
          <a:bodyPr wrap="square"/>
          <a:lstStyle/>
          <a:p>
            <a:pPr algn="l">
              <a:defRPr sz="900" b="0">
                <a:solidFill>
                  <a:srgbClr val="374151"/>
                </a:solidFill>
                <a:latin typeface="Calibri"/>
              </a:defRPr>
            </a:pPr>
            <a:r>
              <a:t>Cascade (3-stage)</a:t>
            </a:r>
          </a:p>
        </p:txBody>
      </p:sp>
      <p:sp>
        <p:nvSpPr>
          <p:cNvPr id="64" name="TextBox 63"/>
          <p:cNvSpPr txBox="1"/>
          <p:nvPr/>
        </p:nvSpPr>
        <p:spPr>
          <a:xfrm>
            <a:off x="2843784" y="5532119"/>
            <a:ext cx="2157984" cy="256032"/>
          </a:xfrm>
          <a:prstGeom prst="rect">
            <a:avLst/>
          </a:prstGeom>
          <a:noFill/>
        </p:spPr>
        <p:txBody>
          <a:bodyPr wrap="square"/>
          <a:lstStyle/>
          <a:p>
            <a:pPr algn="l">
              <a:defRPr sz="900" b="0">
                <a:solidFill>
                  <a:srgbClr val="374151"/>
                </a:solidFill>
                <a:latin typeface="Calibri"/>
              </a:defRPr>
            </a:pPr>
            <a:r>
              <a:t>80 + 45 + 20 = funnel</a:t>
            </a:r>
          </a:p>
        </p:txBody>
      </p:sp>
      <p:sp>
        <p:nvSpPr>
          <p:cNvPr id="65" name="TextBox 64"/>
          <p:cNvSpPr txBox="1"/>
          <p:nvPr/>
        </p:nvSpPr>
        <p:spPr>
          <a:xfrm>
            <a:off x="5001768" y="5532119"/>
            <a:ext cx="2157984" cy="256032"/>
          </a:xfrm>
          <a:prstGeom prst="rect">
            <a:avLst/>
          </a:prstGeom>
          <a:noFill/>
        </p:spPr>
        <p:txBody>
          <a:bodyPr wrap="square"/>
          <a:lstStyle/>
          <a:p>
            <a:pPr algn="l">
              <a:defRPr sz="900" b="0">
                <a:solidFill>
                  <a:srgbClr val="374151"/>
                </a:solidFill>
                <a:latin typeface="Calibri"/>
              </a:defRPr>
            </a:pPr>
            <a:r>
              <a:t>46.8 units</a:t>
            </a:r>
          </a:p>
        </p:txBody>
      </p:sp>
      <p:sp>
        <p:nvSpPr>
          <p:cNvPr id="66" name="TextBox 65"/>
          <p:cNvSpPr txBox="1"/>
          <p:nvPr/>
        </p:nvSpPr>
        <p:spPr>
          <a:xfrm>
            <a:off x="7159752" y="5532119"/>
            <a:ext cx="2157984" cy="256032"/>
          </a:xfrm>
          <a:prstGeom prst="rect">
            <a:avLst/>
          </a:prstGeom>
          <a:noFill/>
        </p:spPr>
        <p:txBody>
          <a:bodyPr wrap="square"/>
          <a:lstStyle/>
          <a:p>
            <a:pPr algn="l">
              <a:defRPr sz="900" b="0">
                <a:solidFill>
                  <a:srgbClr val="374151"/>
                </a:solidFill>
                <a:latin typeface="Calibri"/>
              </a:defRPr>
            </a:pPr>
            <a:r>
              <a:t>$642.18</a:t>
            </a:r>
          </a:p>
        </p:txBody>
      </p:sp>
      <p:sp>
        <p:nvSpPr>
          <p:cNvPr id="67" name="TextBox 66"/>
          <p:cNvSpPr txBox="1"/>
          <p:nvPr/>
        </p:nvSpPr>
        <p:spPr>
          <a:xfrm>
            <a:off x="9317736" y="5532119"/>
            <a:ext cx="2157984" cy="256032"/>
          </a:xfrm>
          <a:prstGeom prst="rect">
            <a:avLst/>
          </a:prstGeom>
          <a:noFill/>
        </p:spPr>
        <p:txBody>
          <a:bodyPr wrap="square"/>
          <a:lstStyle/>
          <a:p>
            <a:pPr algn="l">
              <a:defRPr sz="900" b="0">
                <a:solidFill>
                  <a:srgbClr val="374151"/>
                </a:solidFill>
                <a:latin typeface="Calibri"/>
              </a:defRPr>
            </a:pPr>
            <a:r>
              <a:t>11.42</a:t>
            </a:r>
          </a:p>
        </p:txBody>
      </p:sp>
      <p:sp>
        <p:nvSpPr>
          <p:cNvPr id="68" name="Rectangle 67"/>
          <p:cNvSpPr/>
          <p:nvPr/>
        </p:nvSpPr>
        <p:spPr>
          <a:xfrm>
            <a:off x="685800" y="5760720"/>
            <a:ext cx="10789919"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85800" y="5788151"/>
            <a:ext cx="2157984" cy="256032"/>
          </a:xfrm>
          <a:prstGeom prst="rect">
            <a:avLst/>
          </a:prstGeom>
          <a:noFill/>
        </p:spPr>
        <p:txBody>
          <a:bodyPr wrap="square"/>
          <a:lstStyle/>
          <a:p>
            <a:pPr algn="l">
              <a:defRPr sz="900" b="0">
                <a:solidFill>
                  <a:srgbClr val="374151"/>
                </a:solidFill>
                <a:latin typeface="Calibri"/>
              </a:defRPr>
            </a:pPr>
            <a:r>
              <a:t>Single-Stage (baseline)</a:t>
            </a:r>
          </a:p>
        </p:txBody>
      </p:sp>
      <p:sp>
        <p:nvSpPr>
          <p:cNvPr id="70" name="TextBox 69"/>
          <p:cNvSpPr txBox="1"/>
          <p:nvPr/>
        </p:nvSpPr>
        <p:spPr>
          <a:xfrm>
            <a:off x="2843784" y="5788151"/>
            <a:ext cx="2157984" cy="256032"/>
          </a:xfrm>
          <a:prstGeom prst="rect">
            <a:avLst/>
          </a:prstGeom>
          <a:noFill/>
        </p:spPr>
        <p:txBody>
          <a:bodyPr wrap="square"/>
          <a:lstStyle/>
          <a:p>
            <a:pPr algn="l">
              <a:defRPr sz="900" b="0">
                <a:solidFill>
                  <a:srgbClr val="374151"/>
                </a:solidFill>
                <a:latin typeface="Calibri"/>
              </a:defRPr>
            </a:pPr>
            <a:r>
              <a:t>80 (all with DLRM)</a:t>
            </a:r>
          </a:p>
        </p:txBody>
      </p:sp>
      <p:sp>
        <p:nvSpPr>
          <p:cNvPr id="71" name="TextBox 70"/>
          <p:cNvSpPr txBox="1"/>
          <p:nvPr/>
        </p:nvSpPr>
        <p:spPr>
          <a:xfrm>
            <a:off x="5001768" y="5788151"/>
            <a:ext cx="2157984" cy="256032"/>
          </a:xfrm>
          <a:prstGeom prst="rect">
            <a:avLst/>
          </a:prstGeom>
          <a:noFill/>
        </p:spPr>
        <p:txBody>
          <a:bodyPr wrap="square"/>
          <a:lstStyle/>
          <a:p>
            <a:pPr algn="l">
              <a:defRPr sz="900" b="0">
                <a:solidFill>
                  <a:srgbClr val="374151"/>
                </a:solidFill>
                <a:latin typeface="Calibri"/>
              </a:defRPr>
            </a:pPr>
            <a:r>
              <a:t>80.0 units</a:t>
            </a:r>
          </a:p>
        </p:txBody>
      </p:sp>
      <p:sp>
        <p:nvSpPr>
          <p:cNvPr id="72" name="TextBox 71"/>
          <p:cNvSpPr txBox="1"/>
          <p:nvPr/>
        </p:nvSpPr>
        <p:spPr>
          <a:xfrm>
            <a:off x="7159752" y="5788151"/>
            <a:ext cx="2157984" cy="256032"/>
          </a:xfrm>
          <a:prstGeom prst="rect">
            <a:avLst/>
          </a:prstGeom>
          <a:noFill/>
        </p:spPr>
        <p:txBody>
          <a:bodyPr wrap="square"/>
          <a:lstStyle/>
          <a:p>
            <a:pPr algn="l">
              <a:defRPr sz="900" b="0">
                <a:solidFill>
                  <a:srgbClr val="374151"/>
                </a:solidFill>
                <a:latin typeface="Calibri"/>
              </a:defRPr>
            </a:pPr>
            <a:r>
              <a:t>$674.91</a:t>
            </a:r>
          </a:p>
        </p:txBody>
      </p:sp>
      <p:sp>
        <p:nvSpPr>
          <p:cNvPr id="73" name="TextBox 72"/>
          <p:cNvSpPr txBox="1"/>
          <p:nvPr/>
        </p:nvSpPr>
        <p:spPr>
          <a:xfrm>
            <a:off x="9317736" y="5788151"/>
            <a:ext cx="2157984" cy="256032"/>
          </a:xfrm>
          <a:prstGeom prst="rect">
            <a:avLst/>
          </a:prstGeom>
          <a:noFill/>
        </p:spPr>
        <p:txBody>
          <a:bodyPr wrap="square"/>
          <a:lstStyle/>
          <a:p>
            <a:pPr algn="l">
              <a:defRPr sz="900" b="0">
                <a:solidFill>
                  <a:srgbClr val="374151"/>
                </a:solidFill>
                <a:latin typeface="Calibri"/>
              </a:defRPr>
            </a:pPr>
            <a:r>
              <a:t>8.44</a:t>
            </a:r>
          </a:p>
        </p:txBody>
      </p:sp>
      <p:sp>
        <p:nvSpPr>
          <p:cNvPr id="74" name="Rectangle 73"/>
          <p:cNvSpPr/>
          <p:nvPr/>
        </p:nvSpPr>
        <p:spPr>
          <a:xfrm>
            <a:off x="685800" y="6016752"/>
            <a:ext cx="10789919"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48640" y="6217920"/>
            <a:ext cx="11064240" cy="4572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7240" y="6263640"/>
            <a:ext cx="10515600" cy="320040"/>
          </a:xfrm>
          <a:prstGeom prst="rect">
            <a:avLst/>
          </a:prstGeom>
          <a:noFill/>
        </p:spPr>
        <p:txBody>
          <a:bodyPr wrap="square"/>
          <a:lstStyle/>
          <a:p>
            <a:pPr algn="l">
              <a:defRPr sz="1000" b="0">
                <a:solidFill>
                  <a:srgbClr val="142850"/>
                </a:solidFill>
                <a:latin typeface="Calibri"/>
              </a:defRPr>
            </a:pPr>
            <a:r>
              <a:t>Cascade saves 67% compute AND reduces latency from ~56ms to 32ms. At 1% conversion loss per 100ms, cascade avoids 0.24% conversion loss vs single-stage. Latency budgets (not compute budgets) often determine cascade depth in production.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7315200" cy="457200"/>
          </a:xfrm>
          <a:prstGeom prst="rect">
            <a:avLst/>
          </a:prstGeom>
          <a:noFill/>
        </p:spPr>
        <p:txBody>
          <a:bodyPr wrap="square"/>
          <a:lstStyle/>
          <a:p>
            <a:pPr algn="l">
              <a:defRPr sz="2800" b="1">
                <a:solidFill>
                  <a:srgbClr val="111827"/>
                </a:solidFill>
                <a:latin typeface="Calibri"/>
              </a:defRPr>
            </a:pPr>
            <a:r>
              <a:t>Ecosystem Impact Analysis</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How the four mechanisms interact to determine system equilibrium and revenue</a:t>
            </a:r>
          </a:p>
        </p:txBody>
      </p:sp>
      <p:sp>
        <p:nvSpPr>
          <p:cNvPr id="4" name="Rectangle 3"/>
          <p:cNvSpPr/>
          <p:nvPr/>
        </p:nvSpPr>
        <p:spPr>
          <a:xfrm>
            <a:off x="548640" y="1371600"/>
            <a:ext cx="539496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4864" cy="1600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481328"/>
            <a:ext cx="2743200" cy="228600"/>
          </a:xfrm>
          <a:prstGeom prst="rect">
            <a:avLst/>
          </a:prstGeom>
          <a:noFill/>
        </p:spPr>
        <p:txBody>
          <a:bodyPr wrap="square"/>
          <a:lstStyle/>
          <a:p>
            <a:pPr algn="l">
              <a:defRPr sz="1300" b="1">
                <a:solidFill>
                  <a:srgbClr val="16A34A"/>
                </a:solidFill>
                <a:latin typeface="Calibri"/>
              </a:defRPr>
            </a:pPr>
            <a:r>
              <a:t>Pacing × Quality</a:t>
            </a:r>
          </a:p>
        </p:txBody>
      </p:sp>
      <p:sp>
        <p:nvSpPr>
          <p:cNvPr id="7" name="Rectangle 6"/>
          <p:cNvSpPr/>
          <p:nvPr/>
        </p:nvSpPr>
        <p:spPr>
          <a:xfrm>
            <a:off x="3840480" y="1481328"/>
            <a:ext cx="1097280" cy="2286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86200" y="1490472"/>
            <a:ext cx="1005840" cy="201168"/>
          </a:xfrm>
          <a:prstGeom prst="rect">
            <a:avLst/>
          </a:prstGeom>
          <a:noFill/>
        </p:spPr>
        <p:txBody>
          <a:bodyPr wrap="square"/>
          <a:lstStyle/>
          <a:p>
            <a:pPr algn="ctr">
              <a:defRPr sz="800" b="1">
                <a:solidFill>
                  <a:srgbClr val="16A34A"/>
                </a:solidFill>
                <a:latin typeface="Calibri"/>
              </a:defRPr>
            </a:pPr>
            <a:r>
              <a:t>Reinforcing</a:t>
            </a:r>
          </a:p>
        </p:txBody>
      </p:sp>
      <p:sp>
        <p:nvSpPr>
          <p:cNvPr id="9" name="Rectangle 8"/>
          <p:cNvSpPr/>
          <p:nvPr/>
        </p:nvSpPr>
        <p:spPr>
          <a:xfrm>
            <a:off x="5029200" y="1481328"/>
            <a:ext cx="640080"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47488" y="1490472"/>
            <a:ext cx="603504" cy="201168"/>
          </a:xfrm>
          <a:prstGeom prst="rect">
            <a:avLst/>
          </a:prstGeom>
          <a:noFill/>
        </p:spPr>
        <p:txBody>
          <a:bodyPr wrap="square"/>
          <a:lstStyle/>
          <a:p>
            <a:pPr algn="ctr">
              <a:defRPr sz="800" b="1">
                <a:solidFill>
                  <a:srgbClr val="374151"/>
                </a:solidFill>
                <a:latin typeface="Calibri"/>
              </a:defRPr>
            </a:pPr>
            <a:r>
              <a:t>High</a:t>
            </a:r>
          </a:p>
        </p:txBody>
      </p:sp>
      <p:sp>
        <p:nvSpPr>
          <p:cNvPr id="11" name="TextBox 10"/>
          <p:cNvSpPr txBox="1"/>
          <p:nvPr/>
        </p:nvSpPr>
        <p:spPr>
          <a:xfrm>
            <a:off x="822959" y="1828800"/>
            <a:ext cx="4846320" cy="1005840"/>
          </a:xfrm>
          <a:prstGeom prst="rect">
            <a:avLst/>
          </a:prstGeom>
          <a:noFill/>
        </p:spPr>
        <p:txBody>
          <a:bodyPr wrap="square"/>
          <a:lstStyle/>
          <a:p>
            <a:pPr algn="l">
              <a:defRPr sz="1000" b="0">
                <a:solidFill>
                  <a:srgbClr val="374151"/>
                </a:solidFill>
                <a:latin typeface="Calibri"/>
              </a:defRPr>
            </a:pPr>
            <a:r>
              <a:t>Budget depletion affects which ads win → changes quality</a:t>
            </a:r>
            <a:br/>
            <a:r>
              <a:t>score trajectory. Fast-spending advertisers may lose</a:t>
            </a:r>
            <a:br/>
            <a:r>
              <a:t>quality as budget depletes mid-day.</a:t>
            </a:r>
          </a:p>
        </p:txBody>
      </p:sp>
      <p:sp>
        <p:nvSpPr>
          <p:cNvPr id="12" name="Rectangle 11"/>
          <p:cNvSpPr/>
          <p:nvPr/>
        </p:nvSpPr>
        <p:spPr>
          <a:xfrm>
            <a:off x="6309359" y="1371600"/>
            <a:ext cx="539496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59" y="1371600"/>
            <a:ext cx="54864" cy="16002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79" y="1481328"/>
            <a:ext cx="2743200" cy="228600"/>
          </a:xfrm>
          <a:prstGeom prst="rect">
            <a:avLst/>
          </a:prstGeom>
          <a:noFill/>
        </p:spPr>
        <p:txBody>
          <a:bodyPr wrap="square"/>
          <a:lstStyle/>
          <a:p>
            <a:pPr algn="l">
              <a:defRPr sz="1300" b="1">
                <a:solidFill>
                  <a:srgbClr val="DC2626"/>
                </a:solidFill>
                <a:latin typeface="Calibri"/>
              </a:defRPr>
            </a:pPr>
            <a:r>
              <a:t>Pacing × Exploration</a:t>
            </a:r>
          </a:p>
        </p:txBody>
      </p:sp>
      <p:sp>
        <p:nvSpPr>
          <p:cNvPr id="15" name="Rectangle 14"/>
          <p:cNvSpPr/>
          <p:nvPr/>
        </p:nvSpPr>
        <p:spPr>
          <a:xfrm>
            <a:off x="9601200" y="1481328"/>
            <a:ext cx="1097280" cy="2286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46919" y="1490472"/>
            <a:ext cx="1005840" cy="201168"/>
          </a:xfrm>
          <a:prstGeom prst="rect">
            <a:avLst/>
          </a:prstGeom>
          <a:noFill/>
        </p:spPr>
        <p:txBody>
          <a:bodyPr wrap="square"/>
          <a:lstStyle/>
          <a:p>
            <a:pPr algn="ctr">
              <a:defRPr sz="800" b="1">
                <a:solidFill>
                  <a:srgbClr val="DC2626"/>
                </a:solidFill>
                <a:latin typeface="Calibri"/>
              </a:defRPr>
            </a:pPr>
            <a:r>
              <a:t>Conflicting</a:t>
            </a:r>
          </a:p>
        </p:txBody>
      </p:sp>
      <p:sp>
        <p:nvSpPr>
          <p:cNvPr id="17" name="Rectangle 16"/>
          <p:cNvSpPr/>
          <p:nvPr/>
        </p:nvSpPr>
        <p:spPr>
          <a:xfrm>
            <a:off x="10789920" y="1481328"/>
            <a:ext cx="640080"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08208" y="1490472"/>
            <a:ext cx="603504" cy="201168"/>
          </a:xfrm>
          <a:prstGeom prst="rect">
            <a:avLst/>
          </a:prstGeom>
          <a:noFill/>
        </p:spPr>
        <p:txBody>
          <a:bodyPr wrap="square"/>
          <a:lstStyle/>
          <a:p>
            <a:pPr algn="ctr">
              <a:defRPr sz="800" b="1">
                <a:solidFill>
                  <a:srgbClr val="374151"/>
                </a:solidFill>
                <a:latin typeface="Calibri"/>
              </a:defRPr>
            </a:pPr>
            <a:r>
              <a:t>Medium</a:t>
            </a:r>
          </a:p>
        </p:txBody>
      </p:sp>
      <p:sp>
        <p:nvSpPr>
          <p:cNvPr id="19" name="TextBox 18"/>
          <p:cNvSpPr txBox="1"/>
          <p:nvPr/>
        </p:nvSpPr>
        <p:spPr>
          <a:xfrm>
            <a:off x="6583679" y="1828800"/>
            <a:ext cx="4846320" cy="1005840"/>
          </a:xfrm>
          <a:prstGeom prst="rect">
            <a:avLst/>
          </a:prstGeom>
          <a:noFill/>
        </p:spPr>
        <p:txBody>
          <a:bodyPr wrap="square"/>
          <a:lstStyle/>
          <a:p>
            <a:pPr algn="l">
              <a:defRPr sz="1000" b="0">
                <a:solidFill>
                  <a:srgbClr val="374151"/>
                </a:solidFill>
                <a:latin typeface="Calibri"/>
              </a:defRPr>
            </a:pPr>
            <a:r>
              <a:t>Budget-constrained advertisers bid less → bandit may</a:t>
            </a:r>
            <a:br/>
            <a:r>
              <a:t>under-explore models that work well for budget-sensitive</a:t>
            </a:r>
            <a:br/>
            <a:r>
              <a:t>segments. Exploration allocation must factor budget state.</a:t>
            </a:r>
          </a:p>
        </p:txBody>
      </p:sp>
      <p:sp>
        <p:nvSpPr>
          <p:cNvPr id="20" name="Rectangle 19"/>
          <p:cNvSpPr/>
          <p:nvPr/>
        </p:nvSpPr>
        <p:spPr>
          <a:xfrm>
            <a:off x="548640" y="3200400"/>
            <a:ext cx="539496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200400"/>
            <a:ext cx="54864" cy="160020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3310128"/>
            <a:ext cx="2743200" cy="228600"/>
          </a:xfrm>
          <a:prstGeom prst="rect">
            <a:avLst/>
          </a:prstGeom>
          <a:noFill/>
        </p:spPr>
        <p:txBody>
          <a:bodyPr wrap="square"/>
          <a:lstStyle/>
          <a:p>
            <a:pPr algn="l">
              <a:defRPr sz="1300" b="1">
                <a:solidFill>
                  <a:srgbClr val="0891B2"/>
                </a:solidFill>
                <a:latin typeface="Calibri"/>
              </a:defRPr>
            </a:pPr>
            <a:r>
              <a:t>Quality × Cascade</a:t>
            </a:r>
          </a:p>
        </p:txBody>
      </p:sp>
      <p:sp>
        <p:nvSpPr>
          <p:cNvPr id="23" name="Rectangle 22"/>
          <p:cNvSpPr/>
          <p:nvPr/>
        </p:nvSpPr>
        <p:spPr>
          <a:xfrm>
            <a:off x="3840480" y="3310128"/>
            <a:ext cx="1097280" cy="2286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86200" y="3319272"/>
            <a:ext cx="1005840" cy="201168"/>
          </a:xfrm>
          <a:prstGeom prst="rect">
            <a:avLst/>
          </a:prstGeom>
          <a:noFill/>
        </p:spPr>
        <p:txBody>
          <a:bodyPr wrap="square"/>
          <a:lstStyle/>
          <a:p>
            <a:pPr algn="ctr">
              <a:defRPr sz="800" b="1">
                <a:solidFill>
                  <a:srgbClr val="16A34A"/>
                </a:solidFill>
                <a:latin typeface="Calibri"/>
              </a:defRPr>
            </a:pPr>
            <a:r>
              <a:t>Reinforcing</a:t>
            </a:r>
          </a:p>
        </p:txBody>
      </p:sp>
      <p:sp>
        <p:nvSpPr>
          <p:cNvPr id="25" name="Rectangle 24"/>
          <p:cNvSpPr/>
          <p:nvPr/>
        </p:nvSpPr>
        <p:spPr>
          <a:xfrm>
            <a:off x="5029200" y="3310128"/>
            <a:ext cx="640080"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47488" y="3319272"/>
            <a:ext cx="603504" cy="201168"/>
          </a:xfrm>
          <a:prstGeom prst="rect">
            <a:avLst/>
          </a:prstGeom>
          <a:noFill/>
        </p:spPr>
        <p:txBody>
          <a:bodyPr wrap="square"/>
          <a:lstStyle/>
          <a:p>
            <a:pPr algn="ctr">
              <a:defRPr sz="800" b="1">
                <a:solidFill>
                  <a:srgbClr val="374151"/>
                </a:solidFill>
                <a:latin typeface="Calibri"/>
              </a:defRPr>
            </a:pPr>
            <a:r>
              <a:t>High</a:t>
            </a:r>
          </a:p>
        </p:txBody>
      </p:sp>
      <p:sp>
        <p:nvSpPr>
          <p:cNvPr id="27" name="TextBox 26"/>
          <p:cNvSpPr txBox="1"/>
          <p:nvPr/>
        </p:nvSpPr>
        <p:spPr>
          <a:xfrm>
            <a:off x="822959" y="3657600"/>
            <a:ext cx="4846320" cy="1005840"/>
          </a:xfrm>
          <a:prstGeom prst="rect">
            <a:avLst/>
          </a:prstGeom>
          <a:noFill/>
        </p:spPr>
        <p:txBody>
          <a:bodyPr wrap="square"/>
          <a:lstStyle/>
          <a:p>
            <a:pPr algn="l">
              <a:defRPr sz="1000" b="0">
                <a:solidFill>
                  <a:srgbClr val="374151"/>
                </a:solidFill>
                <a:latin typeface="Calibri"/>
              </a:defRPr>
            </a:pPr>
            <a:r>
              <a:t>Re-ranking stage applies quality floor → quality feedback</a:t>
            </a:r>
            <a:br/>
            <a:r>
              <a:t>loop determines which advertisers survive to stage 3.</a:t>
            </a:r>
            <a:br/>
            <a:r>
              <a:t>Low-quality ads are filtered earlier.</a:t>
            </a:r>
          </a:p>
        </p:txBody>
      </p:sp>
      <p:sp>
        <p:nvSpPr>
          <p:cNvPr id="28" name="Rectangle 27"/>
          <p:cNvSpPr/>
          <p:nvPr/>
        </p:nvSpPr>
        <p:spPr>
          <a:xfrm>
            <a:off x="6309359" y="3200400"/>
            <a:ext cx="5394960" cy="1600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59" y="3200400"/>
            <a:ext cx="54864" cy="1600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79" y="3310128"/>
            <a:ext cx="2743200" cy="228600"/>
          </a:xfrm>
          <a:prstGeom prst="rect">
            <a:avLst/>
          </a:prstGeom>
          <a:noFill/>
        </p:spPr>
        <p:txBody>
          <a:bodyPr wrap="square"/>
          <a:lstStyle/>
          <a:p>
            <a:pPr algn="l">
              <a:defRPr sz="1300" b="1">
                <a:solidFill>
                  <a:srgbClr val="7C3AED"/>
                </a:solidFill>
                <a:latin typeface="Calibri"/>
              </a:defRPr>
            </a:pPr>
            <a:r>
              <a:t>Exploration × Cascade</a:t>
            </a:r>
          </a:p>
        </p:txBody>
      </p:sp>
      <p:sp>
        <p:nvSpPr>
          <p:cNvPr id="31" name="Rectangle 30"/>
          <p:cNvSpPr/>
          <p:nvPr/>
        </p:nvSpPr>
        <p:spPr>
          <a:xfrm>
            <a:off x="9601200" y="3310128"/>
            <a:ext cx="1097280" cy="22860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6919" y="3319272"/>
            <a:ext cx="1005840" cy="201168"/>
          </a:xfrm>
          <a:prstGeom prst="rect">
            <a:avLst/>
          </a:prstGeom>
          <a:noFill/>
        </p:spPr>
        <p:txBody>
          <a:bodyPr wrap="square"/>
          <a:lstStyle/>
          <a:p>
            <a:pPr algn="ctr">
              <a:defRPr sz="800" b="1">
                <a:solidFill>
                  <a:srgbClr val="1D4ED8"/>
                </a:solidFill>
                <a:latin typeface="Calibri"/>
              </a:defRPr>
            </a:pPr>
            <a:r>
              <a:t>Dependent</a:t>
            </a:r>
          </a:p>
        </p:txBody>
      </p:sp>
      <p:sp>
        <p:nvSpPr>
          <p:cNvPr id="33" name="Rectangle 32"/>
          <p:cNvSpPr/>
          <p:nvPr/>
        </p:nvSpPr>
        <p:spPr>
          <a:xfrm>
            <a:off x="10789920" y="3310128"/>
            <a:ext cx="640080" cy="2286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08208" y="3319272"/>
            <a:ext cx="603504" cy="201168"/>
          </a:xfrm>
          <a:prstGeom prst="rect">
            <a:avLst/>
          </a:prstGeom>
          <a:noFill/>
        </p:spPr>
        <p:txBody>
          <a:bodyPr wrap="square"/>
          <a:lstStyle/>
          <a:p>
            <a:pPr algn="ctr">
              <a:defRPr sz="800" b="1">
                <a:solidFill>
                  <a:srgbClr val="374151"/>
                </a:solidFill>
                <a:latin typeface="Calibri"/>
              </a:defRPr>
            </a:pPr>
            <a:r>
              <a:t>Medium</a:t>
            </a:r>
          </a:p>
        </p:txBody>
      </p:sp>
      <p:sp>
        <p:nvSpPr>
          <p:cNvPr id="35" name="TextBox 34"/>
          <p:cNvSpPr txBox="1"/>
          <p:nvPr/>
        </p:nvSpPr>
        <p:spPr>
          <a:xfrm>
            <a:off x="6583679" y="3657600"/>
            <a:ext cx="4846320" cy="1005840"/>
          </a:xfrm>
          <a:prstGeom prst="rect">
            <a:avLst/>
          </a:prstGeom>
          <a:noFill/>
        </p:spPr>
        <p:txBody>
          <a:bodyPr wrap="square"/>
          <a:lstStyle/>
          <a:p>
            <a:pPr algn="l">
              <a:defRPr sz="1000" b="0">
                <a:solidFill>
                  <a:srgbClr val="374151"/>
                </a:solidFill>
                <a:latin typeface="Calibri"/>
              </a:defRPr>
            </a:pPr>
            <a:r>
              <a:t>Exploration in stage 1 (retrieval) is cheap. Exploration</a:t>
            </a:r>
            <a:br/>
            <a:r>
              <a:t>in stage 2 (DLRM) is expensive. Optimal exploration</a:t>
            </a:r>
            <a:br/>
            <a:r>
              <a:t>budget depends on cascade position.</a:t>
            </a:r>
          </a:p>
        </p:txBody>
      </p:sp>
      <p:sp>
        <p:nvSpPr>
          <p:cNvPr id="36" name="Rectangle 35"/>
          <p:cNvSpPr/>
          <p:nvPr/>
        </p:nvSpPr>
        <p:spPr>
          <a:xfrm>
            <a:off x="548640" y="5212080"/>
            <a:ext cx="11064240" cy="118872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5349240"/>
            <a:ext cx="2743200" cy="274320"/>
          </a:xfrm>
          <a:prstGeom prst="rect">
            <a:avLst/>
          </a:prstGeom>
          <a:noFill/>
        </p:spPr>
        <p:txBody>
          <a:bodyPr wrap="square"/>
          <a:lstStyle/>
          <a:p>
            <a:pPr algn="l">
              <a:defRPr sz="1400" b="1">
                <a:solidFill>
                  <a:srgbClr val="60A5FA"/>
                </a:solidFill>
                <a:latin typeface="Calibri"/>
              </a:defRPr>
            </a:pPr>
            <a:r>
              <a:t>The Synthesis</a:t>
            </a:r>
          </a:p>
        </p:txBody>
      </p:sp>
      <p:sp>
        <p:nvSpPr>
          <p:cNvPr id="38" name="TextBox 37"/>
          <p:cNvSpPr txBox="1"/>
          <p:nvPr/>
        </p:nvSpPr>
        <p:spPr>
          <a:xfrm>
            <a:off x="822960" y="5669280"/>
            <a:ext cx="10424160" cy="640080"/>
          </a:xfrm>
          <a:prstGeom prst="rect">
            <a:avLst/>
          </a:prstGeom>
          <a:noFill/>
        </p:spPr>
        <p:txBody>
          <a:bodyPr wrap="square"/>
          <a:lstStyle/>
          <a:p>
            <a:pPr algn="l">
              <a:defRPr sz="1100" b="0">
                <a:solidFill>
                  <a:srgbClr val="FFFFFF"/>
                </a:solidFill>
                <a:latin typeface="Calibri"/>
              </a:defRPr>
            </a:pPr>
            <a:r>
              <a:t>These four mechanisms — pacing, feedback, exploration, and cascading — interact in non-obvious ways to determine equilibrium pricing and revenue. Budget pacing creates temporal scarcity that amplifies quality feedback loops. Cascade ranking constrains the exploration space, making bandit routing cheaper at early stages but limiting discovery at later stages. Understanding these interactions and their equilibrium properties is what defines systems-level monetization thinking.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7315200" cy="457200"/>
          </a:xfrm>
          <a:prstGeom prst="rect">
            <a:avLst/>
          </a:prstGeom>
          <a:noFill/>
        </p:spPr>
        <p:txBody>
          <a:bodyPr wrap="square"/>
          <a:lstStyle/>
          <a:p>
            <a:pPr algn="l">
              <a:defRPr sz="2800" b="1">
                <a:solidFill>
                  <a:srgbClr val="111827"/>
                </a:solidFill>
                <a:latin typeface="Calibri"/>
              </a:defRPr>
            </a:pPr>
            <a:r>
              <a:t>LLM-Powered What-If Analysis</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Claude API with tool-use enables natural-language queries across all simulation modules</a:t>
            </a:r>
          </a:p>
        </p:txBody>
      </p:sp>
      <p:sp>
        <p:nvSpPr>
          <p:cNvPr id="4" name="Rectangle 3"/>
          <p:cNvSpPr/>
          <p:nvPr/>
        </p:nvSpPr>
        <p:spPr>
          <a:xfrm>
            <a:off x="548640" y="1371600"/>
            <a:ext cx="5486400"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4572000" cy="274320"/>
          </a:xfrm>
          <a:prstGeom prst="rect">
            <a:avLst/>
          </a:prstGeom>
          <a:noFill/>
        </p:spPr>
        <p:txBody>
          <a:bodyPr wrap="square"/>
          <a:lstStyle/>
          <a:p>
            <a:pPr algn="l">
              <a:defRPr sz="1200" b="1">
                <a:solidFill>
                  <a:srgbClr val="111827"/>
                </a:solidFill>
                <a:latin typeface="Calibri"/>
              </a:defRPr>
            </a:pPr>
            <a:r>
              <a:t>What-If Chat Interface</a:t>
            </a:r>
          </a:p>
        </p:txBody>
      </p:sp>
      <p:sp>
        <p:nvSpPr>
          <p:cNvPr id="6" name="Rectangle 5"/>
          <p:cNvSpPr/>
          <p:nvPr/>
        </p:nvSpPr>
        <p:spPr>
          <a:xfrm>
            <a:off x="2743200" y="1828800"/>
            <a:ext cx="3108960" cy="3657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80360" y="1874519"/>
            <a:ext cx="2834640" cy="274320"/>
          </a:xfrm>
          <a:prstGeom prst="rect">
            <a:avLst/>
          </a:prstGeom>
          <a:noFill/>
        </p:spPr>
        <p:txBody>
          <a:bodyPr wrap="square"/>
          <a:lstStyle/>
          <a:p>
            <a:pPr algn="l">
              <a:defRPr sz="900" b="0">
                <a:solidFill>
                  <a:srgbClr val="FFFFFF"/>
                </a:solidFill>
                <a:latin typeface="Calibri"/>
              </a:defRPr>
            </a:pPr>
            <a:r>
              <a:t>Show me how budget depletion affects reserves</a:t>
            </a:r>
          </a:p>
        </p:txBody>
      </p:sp>
      <p:sp>
        <p:nvSpPr>
          <p:cNvPr id="8" name="Rectangle 7"/>
          <p:cNvSpPr/>
          <p:nvPr/>
        </p:nvSpPr>
        <p:spPr>
          <a:xfrm>
            <a:off x="777240" y="2377440"/>
            <a:ext cx="4572000" cy="20116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68880"/>
            <a:ext cx="4297680" cy="1828800"/>
          </a:xfrm>
          <a:prstGeom prst="rect">
            <a:avLst/>
          </a:prstGeom>
          <a:noFill/>
        </p:spPr>
        <p:txBody>
          <a:bodyPr wrap="square"/>
          <a:lstStyle/>
          <a:p>
            <a:pPr algn="l">
              <a:spcAft>
                <a:spcPts val="400"/>
              </a:spcAft>
              <a:defRPr sz="1100" b="1">
                <a:solidFill>
                  <a:srgbClr val="111827"/>
                </a:solidFill>
                <a:latin typeface="Calibri"/>
              </a:defRPr>
            </a:pPr>
            <a:r>
              <a:t>Budget Pacing Analysis</a:t>
            </a:r>
          </a:p>
          <a:p>
            <a:pPr algn="l">
              <a:spcAft>
                <a:spcPts val="400"/>
              </a:spcAft>
              <a:defRPr sz="900" b="0">
                <a:solidFill>
                  <a:srgbClr val="374151"/>
                </a:solidFill>
                <a:latin typeface="Calibri"/>
              </a:defRPr>
            </a:pPr>
            <a:r>
              <a:t>24h Revenue: $8,247 for Young Tech segment</a:t>
            </a:r>
          </a:p>
          <a:p>
            <a:pPr algn="l">
              <a:spcAft>
                <a:spcPts val="400"/>
              </a:spcAft>
              <a:defRPr sz="900" b="0">
                <a:solidFill>
                  <a:srgbClr val="374151"/>
                </a:solidFill>
                <a:latin typeface="Calibri"/>
              </a:defRPr>
            </a:pPr>
            <a:r>
              <a:t>Peak hour: 20:00 ($521 revenue)</a:t>
            </a:r>
          </a:p>
          <a:p>
            <a:pPr algn="l">
              <a:spcAft>
                <a:spcPts val="400"/>
              </a:spcAft>
              <a:defRPr sz="900" b="0">
                <a:solidFill>
                  <a:srgbClr val="374151"/>
                </a:solidFill>
                <a:latin typeface="Calibri"/>
              </a:defRPr>
            </a:pPr>
            <a:r>
              <a:t>Reserve range: $0.40 — $0.60 (2.3x variation)</a:t>
            </a:r>
          </a:p>
          <a:p>
            <a:pPr algn="l">
              <a:spcAft>
                <a:spcPts val="400"/>
              </a:spcAft>
              <a:defRPr sz="600" b="0">
                <a:solidFill>
                  <a:srgbClr val="374151"/>
                </a:solidFill>
                <a:latin typeface="Calibri"/>
              </a:defRPr>
            </a:pPr>
          </a:p>
          <a:p>
            <a:pPr algn="l">
              <a:spcAft>
                <a:spcPts val="400"/>
              </a:spcAft>
              <a:defRPr sz="900" b="1">
                <a:solidFill>
                  <a:srgbClr val="142850"/>
                </a:solidFill>
                <a:latin typeface="Calibri"/>
              </a:defRPr>
            </a:pPr>
            <a:r>
              <a:t>Key finding: Reserve prices vary 2.3x through the</a:t>
            </a:r>
          </a:p>
          <a:p>
            <a:pPr algn="l">
              <a:spcAft>
                <a:spcPts val="400"/>
              </a:spcAft>
              <a:defRPr sz="900" b="1">
                <a:solidFill>
                  <a:srgbClr val="142850"/>
                </a:solidFill>
                <a:latin typeface="Calibri"/>
              </a:defRPr>
            </a:pPr>
            <a:r>
              <a:t>day due to budget depletion creating scarcity.</a:t>
            </a:r>
          </a:p>
        </p:txBody>
      </p:sp>
      <p:sp>
        <p:nvSpPr>
          <p:cNvPr id="10" name="Rectangle 9"/>
          <p:cNvSpPr/>
          <p:nvPr/>
        </p:nvSpPr>
        <p:spPr>
          <a:xfrm>
            <a:off x="777240" y="457200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617720"/>
            <a:ext cx="457200" cy="182880"/>
          </a:xfrm>
          <a:prstGeom prst="rect">
            <a:avLst/>
          </a:prstGeom>
          <a:noFill/>
        </p:spPr>
        <p:txBody>
          <a:bodyPr wrap="square"/>
          <a:lstStyle/>
          <a:p>
            <a:pPr algn="l">
              <a:defRPr sz="900" b="1">
                <a:solidFill>
                  <a:srgbClr val="6B7280"/>
                </a:solidFill>
                <a:latin typeface="Calibri"/>
              </a:defRPr>
            </a:pPr>
            <a:r>
              <a:t>Try:</a:t>
            </a:r>
          </a:p>
        </p:txBody>
      </p:sp>
      <p:sp>
        <p:nvSpPr>
          <p:cNvPr id="12" name="Rectangle 11"/>
          <p:cNvSpPr/>
          <p:nvPr/>
        </p:nvSpPr>
        <p:spPr>
          <a:xfrm>
            <a:off x="1143000" y="4846320"/>
            <a:ext cx="1097280" cy="274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864608"/>
            <a:ext cx="1005840" cy="228600"/>
          </a:xfrm>
          <a:prstGeom prst="rect">
            <a:avLst/>
          </a:prstGeom>
          <a:noFill/>
        </p:spPr>
        <p:txBody>
          <a:bodyPr wrap="square"/>
          <a:lstStyle/>
          <a:p>
            <a:pPr algn="ctr">
              <a:defRPr sz="700" b="0">
                <a:solidFill>
                  <a:srgbClr val="374151"/>
                </a:solidFill>
                <a:latin typeface="Calibri"/>
              </a:defRPr>
            </a:pPr>
            <a:r>
              <a:t>Budget pacing effects</a:t>
            </a:r>
          </a:p>
        </p:txBody>
      </p:sp>
      <p:sp>
        <p:nvSpPr>
          <p:cNvPr id="14" name="Rectangle 13"/>
          <p:cNvSpPr/>
          <p:nvPr/>
        </p:nvSpPr>
        <p:spPr>
          <a:xfrm>
            <a:off x="2331720" y="4846320"/>
            <a:ext cx="1097280" cy="274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39" y="4864608"/>
            <a:ext cx="1005840" cy="228600"/>
          </a:xfrm>
          <a:prstGeom prst="rect">
            <a:avLst/>
          </a:prstGeom>
          <a:noFill/>
        </p:spPr>
        <p:txBody>
          <a:bodyPr wrap="square"/>
          <a:lstStyle/>
          <a:p>
            <a:pPr algn="ctr">
              <a:defRPr sz="700" b="0">
                <a:solidFill>
                  <a:srgbClr val="374151"/>
                </a:solidFill>
                <a:latin typeface="Calibri"/>
              </a:defRPr>
            </a:pPr>
            <a:r>
              <a:t>Quality feedback 10 rounds</a:t>
            </a:r>
          </a:p>
        </p:txBody>
      </p:sp>
      <p:sp>
        <p:nvSpPr>
          <p:cNvPr id="16" name="Rectangle 15"/>
          <p:cNvSpPr/>
          <p:nvPr/>
        </p:nvSpPr>
        <p:spPr>
          <a:xfrm>
            <a:off x="3520440" y="4846320"/>
            <a:ext cx="1097280" cy="274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4864608"/>
            <a:ext cx="1005840" cy="228600"/>
          </a:xfrm>
          <a:prstGeom prst="rect">
            <a:avLst/>
          </a:prstGeom>
          <a:noFill/>
        </p:spPr>
        <p:txBody>
          <a:bodyPr wrap="square"/>
          <a:lstStyle/>
          <a:p>
            <a:pPr algn="ctr">
              <a:defRPr sz="700" b="0">
                <a:solidFill>
                  <a:srgbClr val="374151"/>
                </a:solidFill>
                <a:latin typeface="Calibri"/>
              </a:defRPr>
            </a:pPr>
            <a:r>
              <a:t>Exploration regret</a:t>
            </a:r>
          </a:p>
        </p:txBody>
      </p:sp>
      <p:sp>
        <p:nvSpPr>
          <p:cNvPr id="18" name="Rectangle 17"/>
          <p:cNvSpPr/>
          <p:nvPr/>
        </p:nvSpPr>
        <p:spPr>
          <a:xfrm>
            <a:off x="4709160" y="4846320"/>
            <a:ext cx="1097280" cy="2743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4864608"/>
            <a:ext cx="1005840" cy="228600"/>
          </a:xfrm>
          <a:prstGeom prst="rect">
            <a:avLst/>
          </a:prstGeom>
          <a:noFill/>
        </p:spPr>
        <p:txBody>
          <a:bodyPr wrap="square"/>
          <a:lstStyle/>
          <a:p>
            <a:pPr algn="ctr">
              <a:defRPr sz="700" b="0">
                <a:solidFill>
                  <a:srgbClr val="374151"/>
                </a:solidFill>
                <a:latin typeface="Calibri"/>
              </a:defRPr>
            </a:pPr>
            <a:r>
              <a:t>Cascade efficiency</a:t>
            </a:r>
          </a:p>
        </p:txBody>
      </p:sp>
      <p:sp>
        <p:nvSpPr>
          <p:cNvPr id="20" name="Rectangle 19"/>
          <p:cNvSpPr/>
          <p:nvPr/>
        </p:nvSpPr>
        <p:spPr>
          <a:xfrm>
            <a:off x="6400800" y="1371600"/>
            <a:ext cx="5212080" cy="411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1463040"/>
            <a:ext cx="4572000" cy="274320"/>
          </a:xfrm>
          <a:prstGeom prst="rect">
            <a:avLst/>
          </a:prstGeom>
          <a:noFill/>
        </p:spPr>
        <p:txBody>
          <a:bodyPr wrap="square"/>
          <a:lstStyle/>
          <a:p>
            <a:pPr algn="l">
              <a:defRPr sz="1200" b="1">
                <a:solidFill>
                  <a:srgbClr val="111827"/>
                </a:solidFill>
                <a:latin typeface="Calibri"/>
              </a:defRPr>
            </a:pPr>
            <a:r>
              <a:t>Claude Tool-Use Architecture</a:t>
            </a:r>
          </a:p>
        </p:txBody>
      </p:sp>
      <p:sp>
        <p:nvSpPr>
          <p:cNvPr id="22" name="Rectangle 21"/>
          <p:cNvSpPr/>
          <p:nvPr/>
        </p:nvSpPr>
        <p:spPr>
          <a:xfrm>
            <a:off x="6675120" y="1874519"/>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1892807"/>
            <a:ext cx="2011680" cy="182880"/>
          </a:xfrm>
          <a:prstGeom prst="rect">
            <a:avLst/>
          </a:prstGeom>
          <a:noFill/>
        </p:spPr>
        <p:txBody>
          <a:bodyPr wrap="square"/>
          <a:lstStyle/>
          <a:p>
            <a:pPr algn="l">
              <a:defRPr sz="900" b="1">
                <a:solidFill>
                  <a:srgbClr val="1D4ED8"/>
                </a:solidFill>
                <a:latin typeface="Consolas"/>
              </a:defRPr>
            </a:pPr>
            <a:r>
              <a:t>run_auction</a:t>
            </a:r>
          </a:p>
        </p:txBody>
      </p:sp>
      <p:sp>
        <p:nvSpPr>
          <p:cNvPr id="24" name="TextBox 23"/>
          <p:cNvSpPr txBox="1"/>
          <p:nvPr/>
        </p:nvSpPr>
        <p:spPr>
          <a:xfrm>
            <a:off x="8961120" y="1892807"/>
            <a:ext cx="2468880" cy="182880"/>
          </a:xfrm>
          <a:prstGeom prst="rect">
            <a:avLst/>
          </a:prstGeom>
          <a:noFill/>
        </p:spPr>
        <p:txBody>
          <a:bodyPr wrap="square"/>
          <a:lstStyle/>
          <a:p>
            <a:pPr algn="l">
              <a:defRPr sz="900" b="0">
                <a:solidFill>
                  <a:srgbClr val="6B7280"/>
                </a:solidFill>
                <a:latin typeface="Calibri"/>
              </a:defRPr>
            </a:pPr>
            <a:r>
              <a:t>Execute GSP/VCG with custom parameters</a:t>
            </a:r>
          </a:p>
        </p:txBody>
      </p:sp>
      <p:sp>
        <p:nvSpPr>
          <p:cNvPr id="25" name="Rectangle 24"/>
          <p:cNvSpPr/>
          <p:nvPr/>
        </p:nvSpPr>
        <p:spPr>
          <a:xfrm>
            <a:off x="6675120" y="2295144"/>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03720" y="2313432"/>
            <a:ext cx="2011680" cy="182880"/>
          </a:xfrm>
          <a:prstGeom prst="rect">
            <a:avLst/>
          </a:prstGeom>
          <a:noFill/>
        </p:spPr>
        <p:txBody>
          <a:bodyPr wrap="square"/>
          <a:lstStyle/>
          <a:p>
            <a:pPr algn="l">
              <a:defRPr sz="900" b="1">
                <a:solidFill>
                  <a:srgbClr val="1D4ED8"/>
                </a:solidFill>
                <a:latin typeface="Consolas"/>
              </a:defRPr>
            </a:pPr>
            <a:r>
              <a:t>compare_mechanisms</a:t>
            </a:r>
          </a:p>
        </p:txBody>
      </p:sp>
      <p:sp>
        <p:nvSpPr>
          <p:cNvPr id="27" name="TextBox 26"/>
          <p:cNvSpPr txBox="1"/>
          <p:nvPr/>
        </p:nvSpPr>
        <p:spPr>
          <a:xfrm>
            <a:off x="8961120" y="2313432"/>
            <a:ext cx="2468880" cy="182880"/>
          </a:xfrm>
          <a:prstGeom prst="rect">
            <a:avLst/>
          </a:prstGeom>
          <a:noFill/>
        </p:spPr>
        <p:txBody>
          <a:bodyPr wrap="square"/>
          <a:lstStyle/>
          <a:p>
            <a:pPr algn="l">
              <a:defRPr sz="900" b="0">
                <a:solidFill>
                  <a:srgbClr val="6B7280"/>
                </a:solidFill>
                <a:latin typeface="Calibri"/>
              </a:defRPr>
            </a:pPr>
            <a:r>
              <a:t>Side-by-side GSP vs VCG analysis</a:t>
            </a:r>
          </a:p>
        </p:txBody>
      </p:sp>
      <p:sp>
        <p:nvSpPr>
          <p:cNvPr id="28" name="Rectangle 27"/>
          <p:cNvSpPr/>
          <p:nvPr/>
        </p:nvSpPr>
        <p:spPr>
          <a:xfrm>
            <a:off x="6675120" y="2715768"/>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2734056"/>
            <a:ext cx="2011680" cy="182880"/>
          </a:xfrm>
          <a:prstGeom prst="rect">
            <a:avLst/>
          </a:prstGeom>
          <a:noFill/>
        </p:spPr>
        <p:txBody>
          <a:bodyPr wrap="square"/>
          <a:lstStyle/>
          <a:p>
            <a:pPr algn="l">
              <a:defRPr sz="900" b="1">
                <a:solidFill>
                  <a:srgbClr val="1D4ED8"/>
                </a:solidFill>
                <a:latin typeface="Consolas"/>
              </a:defRPr>
            </a:pPr>
            <a:r>
              <a:t>simulate_pacing</a:t>
            </a:r>
          </a:p>
        </p:txBody>
      </p:sp>
      <p:sp>
        <p:nvSpPr>
          <p:cNvPr id="30" name="TextBox 29"/>
          <p:cNvSpPr txBox="1"/>
          <p:nvPr/>
        </p:nvSpPr>
        <p:spPr>
          <a:xfrm>
            <a:off x="8961120" y="2734056"/>
            <a:ext cx="2468880" cy="182880"/>
          </a:xfrm>
          <a:prstGeom prst="rect">
            <a:avLst/>
          </a:prstGeom>
          <a:noFill/>
        </p:spPr>
        <p:txBody>
          <a:bodyPr wrap="square"/>
          <a:lstStyle/>
          <a:p>
            <a:pPr algn="l">
              <a:defRPr sz="900" b="0">
                <a:solidFill>
                  <a:srgbClr val="6B7280"/>
                </a:solidFill>
                <a:latin typeface="Calibri"/>
              </a:defRPr>
            </a:pPr>
            <a:r>
              <a:t>24h budget depletion simulation</a:t>
            </a:r>
          </a:p>
        </p:txBody>
      </p:sp>
      <p:sp>
        <p:nvSpPr>
          <p:cNvPr id="31" name="Rectangle 30"/>
          <p:cNvSpPr/>
          <p:nvPr/>
        </p:nvSpPr>
        <p:spPr>
          <a:xfrm>
            <a:off x="6675120" y="3136391"/>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03720" y="3154679"/>
            <a:ext cx="2011680" cy="182880"/>
          </a:xfrm>
          <a:prstGeom prst="rect">
            <a:avLst/>
          </a:prstGeom>
          <a:noFill/>
        </p:spPr>
        <p:txBody>
          <a:bodyPr wrap="square"/>
          <a:lstStyle/>
          <a:p>
            <a:pPr algn="l">
              <a:defRPr sz="900" b="1">
                <a:solidFill>
                  <a:srgbClr val="1D4ED8"/>
                </a:solidFill>
                <a:latin typeface="Consolas"/>
              </a:defRPr>
            </a:pPr>
            <a:r>
              <a:t>quality_feedback</a:t>
            </a:r>
          </a:p>
        </p:txBody>
      </p:sp>
      <p:sp>
        <p:nvSpPr>
          <p:cNvPr id="33" name="TextBox 32"/>
          <p:cNvSpPr txBox="1"/>
          <p:nvPr/>
        </p:nvSpPr>
        <p:spPr>
          <a:xfrm>
            <a:off x="8961120" y="3154679"/>
            <a:ext cx="2468880" cy="182880"/>
          </a:xfrm>
          <a:prstGeom prst="rect">
            <a:avLst/>
          </a:prstGeom>
          <a:noFill/>
        </p:spPr>
        <p:txBody>
          <a:bodyPr wrap="square"/>
          <a:lstStyle/>
          <a:p>
            <a:pPr algn="l">
              <a:defRPr sz="900" b="0">
                <a:solidFill>
                  <a:srgbClr val="6B7280"/>
                </a:solidFill>
                <a:latin typeface="Calibri"/>
              </a:defRPr>
            </a:pPr>
            <a:r>
              <a:t>Multi-round quality evolution</a:t>
            </a:r>
          </a:p>
        </p:txBody>
      </p:sp>
      <p:sp>
        <p:nvSpPr>
          <p:cNvPr id="34" name="Rectangle 33"/>
          <p:cNvSpPr/>
          <p:nvPr/>
        </p:nvSpPr>
        <p:spPr>
          <a:xfrm>
            <a:off x="6675120" y="3557015"/>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03720" y="3575303"/>
            <a:ext cx="2011680" cy="182880"/>
          </a:xfrm>
          <a:prstGeom prst="rect">
            <a:avLst/>
          </a:prstGeom>
          <a:noFill/>
        </p:spPr>
        <p:txBody>
          <a:bodyPr wrap="square"/>
          <a:lstStyle/>
          <a:p>
            <a:pPr algn="l">
              <a:defRPr sz="900" b="1">
                <a:solidFill>
                  <a:srgbClr val="1D4ED8"/>
                </a:solidFill>
                <a:latin typeface="Consolas"/>
              </a:defRPr>
            </a:pPr>
            <a:r>
              <a:t>thompson_sampling</a:t>
            </a:r>
          </a:p>
        </p:txBody>
      </p:sp>
      <p:sp>
        <p:nvSpPr>
          <p:cNvPr id="36" name="TextBox 35"/>
          <p:cNvSpPr txBox="1"/>
          <p:nvPr/>
        </p:nvSpPr>
        <p:spPr>
          <a:xfrm>
            <a:off x="8961120" y="3575303"/>
            <a:ext cx="2468880" cy="182880"/>
          </a:xfrm>
          <a:prstGeom prst="rect">
            <a:avLst/>
          </a:prstGeom>
          <a:noFill/>
        </p:spPr>
        <p:txBody>
          <a:bodyPr wrap="square"/>
          <a:lstStyle/>
          <a:p>
            <a:pPr algn="l">
              <a:defRPr sz="900" b="0">
                <a:solidFill>
                  <a:srgbClr val="6B7280"/>
                </a:solidFill>
                <a:latin typeface="Calibri"/>
              </a:defRPr>
            </a:pPr>
            <a:r>
              <a:t>Bandit model routing over N trials</a:t>
            </a:r>
          </a:p>
        </p:txBody>
      </p:sp>
      <p:sp>
        <p:nvSpPr>
          <p:cNvPr id="37" name="Rectangle 36"/>
          <p:cNvSpPr/>
          <p:nvPr/>
        </p:nvSpPr>
        <p:spPr>
          <a:xfrm>
            <a:off x="6675120" y="3977639"/>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03720" y="3995927"/>
            <a:ext cx="2011680" cy="182880"/>
          </a:xfrm>
          <a:prstGeom prst="rect">
            <a:avLst/>
          </a:prstGeom>
          <a:noFill/>
        </p:spPr>
        <p:txBody>
          <a:bodyPr wrap="square"/>
          <a:lstStyle/>
          <a:p>
            <a:pPr algn="l">
              <a:defRPr sz="900" b="1">
                <a:solidFill>
                  <a:srgbClr val="1D4ED8"/>
                </a:solidFill>
                <a:latin typeface="Consolas"/>
              </a:defRPr>
            </a:pPr>
            <a:r>
              <a:t>cascade_ranking</a:t>
            </a:r>
          </a:p>
        </p:txBody>
      </p:sp>
      <p:sp>
        <p:nvSpPr>
          <p:cNvPr id="39" name="TextBox 38"/>
          <p:cNvSpPr txBox="1"/>
          <p:nvPr/>
        </p:nvSpPr>
        <p:spPr>
          <a:xfrm>
            <a:off x="8961120" y="3995927"/>
            <a:ext cx="2468880" cy="182880"/>
          </a:xfrm>
          <a:prstGeom prst="rect">
            <a:avLst/>
          </a:prstGeom>
          <a:noFill/>
        </p:spPr>
        <p:txBody>
          <a:bodyPr wrap="square"/>
          <a:lstStyle/>
          <a:p>
            <a:pPr algn="l">
              <a:defRPr sz="900" b="0">
                <a:solidFill>
                  <a:srgbClr val="6B7280"/>
                </a:solidFill>
                <a:latin typeface="Calibri"/>
              </a:defRPr>
            </a:pPr>
            <a:r>
              <a:t>Compare cascade vs single-stage</a:t>
            </a:r>
          </a:p>
        </p:txBody>
      </p:sp>
      <p:sp>
        <p:nvSpPr>
          <p:cNvPr id="40" name="Rectangle 39"/>
          <p:cNvSpPr/>
          <p:nvPr/>
        </p:nvSpPr>
        <p:spPr>
          <a:xfrm>
            <a:off x="6675120" y="4398264"/>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03720" y="4416552"/>
            <a:ext cx="2011680" cy="182880"/>
          </a:xfrm>
          <a:prstGeom prst="rect">
            <a:avLst/>
          </a:prstGeom>
          <a:noFill/>
        </p:spPr>
        <p:txBody>
          <a:bodyPr wrap="square"/>
          <a:lstStyle/>
          <a:p>
            <a:pPr algn="l">
              <a:defRPr sz="900" b="1">
                <a:solidFill>
                  <a:srgbClr val="1D4ED8"/>
                </a:solidFill>
                <a:latin typeface="Consolas"/>
              </a:defRPr>
            </a:pPr>
            <a:r>
              <a:t>sweep_reserve</a:t>
            </a:r>
          </a:p>
        </p:txBody>
      </p:sp>
      <p:sp>
        <p:nvSpPr>
          <p:cNvPr id="42" name="TextBox 41"/>
          <p:cNvSpPr txBox="1"/>
          <p:nvPr/>
        </p:nvSpPr>
        <p:spPr>
          <a:xfrm>
            <a:off x="8961120" y="4416552"/>
            <a:ext cx="2468880" cy="182880"/>
          </a:xfrm>
          <a:prstGeom prst="rect">
            <a:avLst/>
          </a:prstGeom>
          <a:noFill/>
        </p:spPr>
        <p:txBody>
          <a:bodyPr wrap="square"/>
          <a:lstStyle/>
          <a:p>
            <a:pPr algn="l">
              <a:defRPr sz="900" b="0">
                <a:solidFill>
                  <a:srgbClr val="6B7280"/>
                </a:solidFill>
                <a:latin typeface="Calibri"/>
              </a:defRPr>
            </a:pPr>
            <a:r>
              <a:t>Reserve price sensitivity sweep</a:t>
            </a:r>
          </a:p>
        </p:txBody>
      </p:sp>
      <p:sp>
        <p:nvSpPr>
          <p:cNvPr id="43" name="Rectangle 42"/>
          <p:cNvSpPr/>
          <p:nvPr/>
        </p:nvSpPr>
        <p:spPr>
          <a:xfrm>
            <a:off x="6675120" y="4818888"/>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03720" y="4837175"/>
            <a:ext cx="2011680" cy="182880"/>
          </a:xfrm>
          <a:prstGeom prst="rect">
            <a:avLst/>
          </a:prstGeom>
          <a:noFill/>
        </p:spPr>
        <p:txBody>
          <a:bodyPr wrap="square"/>
          <a:lstStyle/>
          <a:p>
            <a:pPr algn="l">
              <a:defRPr sz="900" b="1">
                <a:solidFill>
                  <a:srgbClr val="1D4ED8"/>
                </a:solidFill>
                <a:latin typeface="Consolas"/>
              </a:defRPr>
            </a:pPr>
            <a:r>
              <a:t>ecosystem_overview</a:t>
            </a:r>
          </a:p>
        </p:txBody>
      </p:sp>
      <p:sp>
        <p:nvSpPr>
          <p:cNvPr id="45" name="TextBox 44"/>
          <p:cNvSpPr txBox="1"/>
          <p:nvPr/>
        </p:nvSpPr>
        <p:spPr>
          <a:xfrm>
            <a:off x="8961120" y="4837175"/>
            <a:ext cx="2468880" cy="182880"/>
          </a:xfrm>
          <a:prstGeom prst="rect">
            <a:avLst/>
          </a:prstGeom>
          <a:noFill/>
        </p:spPr>
        <p:txBody>
          <a:bodyPr wrap="square"/>
          <a:lstStyle/>
          <a:p>
            <a:pPr algn="l">
              <a:defRPr sz="900" b="0">
                <a:solidFill>
                  <a:srgbClr val="6B7280"/>
                </a:solidFill>
                <a:latin typeface="Calibri"/>
              </a:defRPr>
            </a:pPr>
            <a:r>
              <a:t>Full cross-mechanism analysis</a:t>
            </a:r>
          </a:p>
        </p:txBody>
      </p:sp>
      <p:sp>
        <p:nvSpPr>
          <p:cNvPr id="46" name="Rectangle 45"/>
          <p:cNvSpPr/>
          <p:nvPr/>
        </p:nvSpPr>
        <p:spPr>
          <a:xfrm>
            <a:off x="548640" y="5760720"/>
            <a:ext cx="11064240" cy="64008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897880"/>
            <a:ext cx="10515600" cy="274320"/>
          </a:xfrm>
          <a:prstGeom prst="rect">
            <a:avLst/>
          </a:prstGeom>
          <a:noFill/>
        </p:spPr>
        <p:txBody>
          <a:bodyPr wrap="square"/>
          <a:lstStyle/>
          <a:p>
            <a:pPr algn="ctr">
              <a:defRPr sz="1100" b="0">
                <a:solidFill>
                  <a:srgbClr val="142850"/>
                </a:solidFill>
                <a:latin typeface="Calibri"/>
              </a:defRPr>
            </a:pPr>
            <a:r>
              <a:t>Tech Stack:  Python 3.10+ · FastAPI · Pydantic v2 · React 18 · Recharts · Vite · Claude API (tool-use) · pytest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9144000" cy="457200"/>
          </a:xfrm>
          <a:prstGeom prst="rect">
            <a:avLst/>
          </a:prstGeom>
          <a:noFill/>
        </p:spPr>
        <p:txBody>
          <a:bodyPr wrap="square"/>
          <a:lstStyle/>
          <a:p>
            <a:pPr algn="l">
              <a:defRPr sz="2800" b="1">
                <a:solidFill>
                  <a:srgbClr val="111827"/>
                </a:solidFill>
                <a:latin typeface="Calibri"/>
              </a:defRPr>
            </a:pPr>
            <a:r>
              <a:t>Model Strategy Framework</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Multi-objective model selection across segment-vertical-lifecycle contexts</a:t>
            </a:r>
          </a:p>
        </p:txBody>
      </p:sp>
      <p:sp>
        <p:nvSpPr>
          <p:cNvPr id="4" name="Rectangle 3"/>
          <p:cNvSpPr/>
          <p:nvPr/>
        </p:nvSpPr>
        <p:spPr>
          <a:xfrm>
            <a:off x="548640" y="1371600"/>
            <a:ext cx="548640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5029200" cy="274320"/>
          </a:xfrm>
          <a:prstGeom prst="rect">
            <a:avLst/>
          </a:prstGeom>
          <a:noFill/>
        </p:spPr>
        <p:txBody>
          <a:bodyPr wrap="square"/>
          <a:lstStyle/>
          <a:p>
            <a:pPr algn="l">
              <a:defRPr sz="1200" b="1">
                <a:solidFill>
                  <a:srgbClr val="111827"/>
                </a:solidFill>
                <a:latin typeface="Calibri"/>
              </a:defRPr>
            </a:pPr>
            <a:r>
              <a:t>Multi-Objective Scoring Framework</a:t>
            </a:r>
          </a:p>
        </p:txBody>
      </p:sp>
      <p:sp>
        <p:nvSpPr>
          <p:cNvPr id="6" name="TextBox 5"/>
          <p:cNvSpPr txBox="1"/>
          <p:nvPr/>
        </p:nvSpPr>
        <p:spPr>
          <a:xfrm>
            <a:off x="822960" y="1828800"/>
            <a:ext cx="1828800" cy="228600"/>
          </a:xfrm>
          <a:prstGeom prst="rect">
            <a:avLst/>
          </a:prstGeom>
          <a:noFill/>
        </p:spPr>
        <p:txBody>
          <a:bodyPr wrap="square"/>
          <a:lstStyle/>
          <a:p>
            <a:pPr algn="l">
              <a:defRPr sz="1000" b="1">
                <a:solidFill>
                  <a:srgbClr val="1D4ED8"/>
                </a:solidFill>
                <a:latin typeface="Calibri"/>
              </a:defRPr>
            </a:pPr>
            <a:r>
              <a:t>Context Inputs:</a:t>
            </a:r>
          </a:p>
        </p:txBody>
      </p:sp>
      <p:sp>
        <p:nvSpPr>
          <p:cNvPr id="7" name="Rectangle 6"/>
          <p:cNvSpPr/>
          <p:nvPr/>
        </p:nvSpPr>
        <p:spPr>
          <a:xfrm>
            <a:off x="822960" y="2103120"/>
            <a:ext cx="54864" cy="2286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914400" cy="228600"/>
          </a:xfrm>
          <a:prstGeom prst="rect">
            <a:avLst/>
          </a:prstGeom>
          <a:noFill/>
        </p:spPr>
        <p:txBody>
          <a:bodyPr wrap="square"/>
          <a:lstStyle/>
          <a:p>
            <a:pPr algn="l">
              <a:defRPr sz="900" b="1">
                <a:solidFill>
                  <a:srgbClr val="111827"/>
                </a:solidFill>
                <a:latin typeface="Calibri"/>
              </a:defRPr>
            </a:pPr>
            <a:r>
              <a:t>Segment</a:t>
            </a:r>
          </a:p>
        </p:txBody>
      </p:sp>
      <p:sp>
        <p:nvSpPr>
          <p:cNvPr id="9" name="TextBox 8"/>
          <p:cNvSpPr txBox="1"/>
          <p:nvPr/>
        </p:nvSpPr>
        <p:spPr>
          <a:xfrm>
            <a:off x="1920240" y="2103120"/>
            <a:ext cx="3200400" cy="228600"/>
          </a:xfrm>
          <a:prstGeom prst="rect">
            <a:avLst/>
          </a:prstGeom>
          <a:noFill/>
        </p:spPr>
        <p:txBody>
          <a:bodyPr wrap="square"/>
          <a:lstStyle/>
          <a:p>
            <a:pPr algn="l">
              <a:defRPr sz="900" b="0">
                <a:solidFill>
                  <a:srgbClr val="6B7280"/>
                </a:solidFill>
                <a:latin typeface="Calibri"/>
              </a:defRPr>
            </a:pPr>
            <a:r>
              <a:t>8 audience clusters, data density</a:t>
            </a:r>
          </a:p>
        </p:txBody>
      </p:sp>
      <p:sp>
        <p:nvSpPr>
          <p:cNvPr id="10" name="Rectangle 9"/>
          <p:cNvSpPr/>
          <p:nvPr/>
        </p:nvSpPr>
        <p:spPr>
          <a:xfrm>
            <a:off x="822960" y="2423160"/>
            <a:ext cx="54864" cy="2286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423160"/>
            <a:ext cx="914400" cy="228600"/>
          </a:xfrm>
          <a:prstGeom prst="rect">
            <a:avLst/>
          </a:prstGeom>
          <a:noFill/>
        </p:spPr>
        <p:txBody>
          <a:bodyPr wrap="square"/>
          <a:lstStyle/>
          <a:p>
            <a:pPr algn="l">
              <a:defRPr sz="900" b="1">
                <a:solidFill>
                  <a:srgbClr val="111827"/>
                </a:solidFill>
                <a:latin typeface="Calibri"/>
              </a:defRPr>
            </a:pPr>
            <a:r>
              <a:t>Vertical</a:t>
            </a:r>
          </a:p>
        </p:txBody>
      </p:sp>
      <p:sp>
        <p:nvSpPr>
          <p:cNvPr id="12" name="TextBox 11"/>
          <p:cNvSpPr txBox="1"/>
          <p:nvPr/>
        </p:nvSpPr>
        <p:spPr>
          <a:xfrm>
            <a:off x="1920240" y="2423160"/>
            <a:ext cx="3200400" cy="228600"/>
          </a:xfrm>
          <a:prstGeom prst="rect">
            <a:avLst/>
          </a:prstGeom>
          <a:noFill/>
        </p:spPr>
        <p:txBody>
          <a:bodyPr wrap="square"/>
          <a:lstStyle/>
          <a:p>
            <a:pPr algn="l">
              <a:defRPr sz="900" b="0">
                <a:solidFill>
                  <a:srgbClr val="6B7280"/>
                </a:solidFill>
                <a:latin typeface="Calibri"/>
              </a:defRPr>
            </a:pPr>
            <a:r>
              <a:t>6 verticals with unique objective weights</a:t>
            </a:r>
          </a:p>
        </p:txBody>
      </p:sp>
      <p:sp>
        <p:nvSpPr>
          <p:cNvPr id="13" name="Rectangle 12"/>
          <p:cNvSpPr/>
          <p:nvPr/>
        </p:nvSpPr>
        <p:spPr>
          <a:xfrm>
            <a:off x="822960" y="2743200"/>
            <a:ext cx="54864" cy="2286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743200"/>
            <a:ext cx="914400" cy="228600"/>
          </a:xfrm>
          <a:prstGeom prst="rect">
            <a:avLst/>
          </a:prstGeom>
          <a:noFill/>
        </p:spPr>
        <p:txBody>
          <a:bodyPr wrap="square"/>
          <a:lstStyle/>
          <a:p>
            <a:pPr algn="l">
              <a:defRPr sz="900" b="1">
                <a:solidFill>
                  <a:srgbClr val="111827"/>
                </a:solidFill>
                <a:latin typeface="Calibri"/>
              </a:defRPr>
            </a:pPr>
            <a:r>
              <a:t>Lifecycle</a:t>
            </a:r>
          </a:p>
        </p:txBody>
      </p:sp>
      <p:sp>
        <p:nvSpPr>
          <p:cNvPr id="15" name="TextBox 14"/>
          <p:cNvSpPr txBox="1"/>
          <p:nvPr/>
        </p:nvSpPr>
        <p:spPr>
          <a:xfrm>
            <a:off x="1920240" y="2743200"/>
            <a:ext cx="3200400" cy="228600"/>
          </a:xfrm>
          <a:prstGeom prst="rect">
            <a:avLst/>
          </a:prstGeom>
          <a:noFill/>
        </p:spPr>
        <p:txBody>
          <a:bodyPr wrap="square"/>
          <a:lstStyle/>
          <a:p>
            <a:pPr algn="l">
              <a:defRPr sz="900" b="0">
                <a:solidFill>
                  <a:srgbClr val="6B7280"/>
                </a:solidFill>
                <a:latin typeface="Calibri"/>
              </a:defRPr>
            </a:pPr>
            <a:r>
              <a:t>New → Growing → Mature → Declining</a:t>
            </a:r>
          </a:p>
        </p:txBody>
      </p:sp>
      <p:sp>
        <p:nvSpPr>
          <p:cNvPr id="16" name="TextBox 15"/>
          <p:cNvSpPr txBox="1"/>
          <p:nvPr/>
        </p:nvSpPr>
        <p:spPr>
          <a:xfrm>
            <a:off x="822960" y="3200400"/>
            <a:ext cx="3657600" cy="228600"/>
          </a:xfrm>
          <a:prstGeom prst="rect">
            <a:avLst/>
          </a:prstGeom>
          <a:noFill/>
        </p:spPr>
        <p:txBody>
          <a:bodyPr wrap="square"/>
          <a:lstStyle/>
          <a:p>
            <a:pPr algn="l">
              <a:defRPr sz="1000" b="1">
                <a:solidFill>
                  <a:srgbClr val="1D4ED8"/>
                </a:solidFill>
                <a:latin typeface="Calibri"/>
              </a:defRPr>
            </a:pPr>
            <a:r>
              <a:t>Objective Weights (by vertical):</a:t>
            </a:r>
          </a:p>
        </p:txBody>
      </p:sp>
      <p:sp>
        <p:nvSpPr>
          <p:cNvPr id="17" name="TextBox 16"/>
          <p:cNvSpPr txBox="1"/>
          <p:nvPr/>
        </p:nvSpPr>
        <p:spPr>
          <a:xfrm>
            <a:off x="822960" y="3474720"/>
            <a:ext cx="914400" cy="201168"/>
          </a:xfrm>
          <a:prstGeom prst="rect">
            <a:avLst/>
          </a:prstGeom>
          <a:noFill/>
        </p:spPr>
        <p:txBody>
          <a:bodyPr wrap="square"/>
          <a:lstStyle/>
          <a:p>
            <a:pPr algn="l">
              <a:defRPr sz="800" b="1">
                <a:solidFill>
                  <a:srgbClr val="111827"/>
                </a:solidFill>
                <a:latin typeface="Calibri"/>
              </a:defRPr>
            </a:pPr>
            <a:r>
              <a:t>Vertical</a:t>
            </a:r>
          </a:p>
        </p:txBody>
      </p:sp>
      <p:sp>
        <p:nvSpPr>
          <p:cNvPr id="18" name="TextBox 17"/>
          <p:cNvSpPr txBox="1"/>
          <p:nvPr/>
        </p:nvSpPr>
        <p:spPr>
          <a:xfrm>
            <a:off x="1783080" y="3474720"/>
            <a:ext cx="914400" cy="201168"/>
          </a:xfrm>
          <a:prstGeom prst="rect">
            <a:avLst/>
          </a:prstGeom>
          <a:noFill/>
        </p:spPr>
        <p:txBody>
          <a:bodyPr wrap="square"/>
          <a:lstStyle/>
          <a:p>
            <a:pPr algn="l">
              <a:defRPr sz="800" b="1">
                <a:solidFill>
                  <a:srgbClr val="111827"/>
                </a:solidFill>
                <a:latin typeface="Calibri"/>
              </a:defRPr>
            </a:pPr>
            <a:r>
              <a:t>Revenue</a:t>
            </a:r>
          </a:p>
        </p:txBody>
      </p:sp>
      <p:sp>
        <p:nvSpPr>
          <p:cNvPr id="19" name="TextBox 18"/>
          <p:cNvSpPr txBox="1"/>
          <p:nvPr/>
        </p:nvSpPr>
        <p:spPr>
          <a:xfrm>
            <a:off x="2743200" y="3474720"/>
            <a:ext cx="914400" cy="201168"/>
          </a:xfrm>
          <a:prstGeom prst="rect">
            <a:avLst/>
          </a:prstGeom>
          <a:noFill/>
        </p:spPr>
        <p:txBody>
          <a:bodyPr wrap="square"/>
          <a:lstStyle/>
          <a:p>
            <a:pPr algn="l">
              <a:defRPr sz="800" b="1">
                <a:solidFill>
                  <a:srgbClr val="111827"/>
                </a:solidFill>
                <a:latin typeface="Calibri"/>
              </a:defRPr>
            </a:pPr>
            <a:r>
              <a:t>Experience</a:t>
            </a:r>
          </a:p>
        </p:txBody>
      </p:sp>
      <p:sp>
        <p:nvSpPr>
          <p:cNvPr id="20" name="TextBox 19"/>
          <p:cNvSpPr txBox="1"/>
          <p:nvPr/>
        </p:nvSpPr>
        <p:spPr>
          <a:xfrm>
            <a:off x="3703320" y="3474720"/>
            <a:ext cx="914400" cy="201168"/>
          </a:xfrm>
          <a:prstGeom prst="rect">
            <a:avLst/>
          </a:prstGeom>
          <a:noFill/>
        </p:spPr>
        <p:txBody>
          <a:bodyPr wrap="square"/>
          <a:lstStyle/>
          <a:p>
            <a:pPr algn="l">
              <a:defRPr sz="800" b="1">
                <a:solidFill>
                  <a:srgbClr val="111827"/>
                </a:solidFill>
                <a:latin typeface="Calibri"/>
              </a:defRPr>
            </a:pPr>
            <a:r>
              <a:t>Adv Health</a:t>
            </a:r>
          </a:p>
        </p:txBody>
      </p:sp>
      <p:sp>
        <p:nvSpPr>
          <p:cNvPr id="21" name="TextBox 20"/>
          <p:cNvSpPr txBox="1"/>
          <p:nvPr/>
        </p:nvSpPr>
        <p:spPr>
          <a:xfrm>
            <a:off x="4663440" y="3474720"/>
            <a:ext cx="914400" cy="201168"/>
          </a:xfrm>
          <a:prstGeom prst="rect">
            <a:avLst/>
          </a:prstGeom>
          <a:noFill/>
        </p:spPr>
        <p:txBody>
          <a:bodyPr wrap="square"/>
          <a:lstStyle/>
          <a:p>
            <a:pPr algn="l">
              <a:defRPr sz="800" b="1">
                <a:solidFill>
                  <a:srgbClr val="111827"/>
                </a:solidFill>
                <a:latin typeface="Calibri"/>
              </a:defRPr>
            </a:pPr>
            <a:r>
              <a:t>Compute</a:t>
            </a:r>
          </a:p>
        </p:txBody>
      </p:sp>
      <p:sp>
        <p:nvSpPr>
          <p:cNvPr id="22" name="TextBox 21"/>
          <p:cNvSpPr txBox="1"/>
          <p:nvPr/>
        </p:nvSpPr>
        <p:spPr>
          <a:xfrm>
            <a:off x="822960" y="3730752"/>
            <a:ext cx="914400" cy="201168"/>
          </a:xfrm>
          <a:prstGeom prst="rect">
            <a:avLst/>
          </a:prstGeom>
          <a:noFill/>
        </p:spPr>
        <p:txBody>
          <a:bodyPr wrap="square"/>
          <a:lstStyle/>
          <a:p>
            <a:pPr algn="l">
              <a:defRPr sz="800" b="0">
                <a:solidFill>
                  <a:srgbClr val="374151"/>
                </a:solidFill>
                <a:latin typeface="Calibri"/>
              </a:defRPr>
            </a:pPr>
            <a:r>
              <a:t>E-Commerce</a:t>
            </a:r>
          </a:p>
        </p:txBody>
      </p:sp>
      <p:sp>
        <p:nvSpPr>
          <p:cNvPr id="23" name="TextBox 22"/>
          <p:cNvSpPr txBox="1"/>
          <p:nvPr/>
        </p:nvSpPr>
        <p:spPr>
          <a:xfrm>
            <a:off x="1783080" y="3730752"/>
            <a:ext cx="914400" cy="201168"/>
          </a:xfrm>
          <a:prstGeom prst="rect">
            <a:avLst/>
          </a:prstGeom>
          <a:noFill/>
        </p:spPr>
        <p:txBody>
          <a:bodyPr wrap="square"/>
          <a:lstStyle/>
          <a:p>
            <a:pPr algn="l">
              <a:defRPr sz="800" b="0">
                <a:solidFill>
                  <a:srgbClr val="374151"/>
                </a:solidFill>
                <a:latin typeface="Calibri"/>
              </a:defRPr>
            </a:pPr>
            <a:r>
              <a:t>35%</a:t>
            </a:r>
          </a:p>
        </p:txBody>
      </p:sp>
      <p:sp>
        <p:nvSpPr>
          <p:cNvPr id="24" name="TextBox 23"/>
          <p:cNvSpPr txBox="1"/>
          <p:nvPr/>
        </p:nvSpPr>
        <p:spPr>
          <a:xfrm>
            <a:off x="2743200" y="3730752"/>
            <a:ext cx="914400" cy="201168"/>
          </a:xfrm>
          <a:prstGeom prst="rect">
            <a:avLst/>
          </a:prstGeom>
          <a:noFill/>
        </p:spPr>
        <p:txBody>
          <a:bodyPr wrap="square"/>
          <a:lstStyle/>
          <a:p>
            <a:pPr algn="l">
              <a:defRPr sz="800" b="0">
                <a:solidFill>
                  <a:srgbClr val="374151"/>
                </a:solidFill>
                <a:latin typeface="Calibri"/>
              </a:defRPr>
            </a:pPr>
            <a:r>
              <a:t>30%</a:t>
            </a:r>
          </a:p>
        </p:txBody>
      </p:sp>
      <p:sp>
        <p:nvSpPr>
          <p:cNvPr id="25" name="TextBox 24"/>
          <p:cNvSpPr txBox="1"/>
          <p:nvPr/>
        </p:nvSpPr>
        <p:spPr>
          <a:xfrm>
            <a:off x="3703320" y="3730752"/>
            <a:ext cx="914400" cy="201168"/>
          </a:xfrm>
          <a:prstGeom prst="rect">
            <a:avLst/>
          </a:prstGeom>
          <a:noFill/>
        </p:spPr>
        <p:txBody>
          <a:bodyPr wrap="square"/>
          <a:lstStyle/>
          <a:p>
            <a:pPr algn="l">
              <a:defRPr sz="800" b="0">
                <a:solidFill>
                  <a:srgbClr val="374151"/>
                </a:solidFill>
                <a:latin typeface="Calibri"/>
              </a:defRPr>
            </a:pPr>
            <a:r>
              <a:t>20%</a:t>
            </a:r>
          </a:p>
        </p:txBody>
      </p:sp>
      <p:sp>
        <p:nvSpPr>
          <p:cNvPr id="26" name="TextBox 25"/>
          <p:cNvSpPr txBox="1"/>
          <p:nvPr/>
        </p:nvSpPr>
        <p:spPr>
          <a:xfrm>
            <a:off x="4663440" y="3730752"/>
            <a:ext cx="914400" cy="201168"/>
          </a:xfrm>
          <a:prstGeom prst="rect">
            <a:avLst/>
          </a:prstGeom>
          <a:noFill/>
        </p:spPr>
        <p:txBody>
          <a:bodyPr wrap="square"/>
          <a:lstStyle/>
          <a:p>
            <a:pPr algn="l">
              <a:defRPr sz="800" b="0">
                <a:solidFill>
                  <a:srgbClr val="374151"/>
                </a:solidFill>
                <a:latin typeface="Calibri"/>
              </a:defRPr>
            </a:pPr>
            <a:r>
              <a:t>15%</a:t>
            </a:r>
          </a:p>
        </p:txBody>
      </p:sp>
      <p:sp>
        <p:nvSpPr>
          <p:cNvPr id="27" name="TextBox 26"/>
          <p:cNvSpPr txBox="1"/>
          <p:nvPr/>
        </p:nvSpPr>
        <p:spPr>
          <a:xfrm>
            <a:off x="822960" y="3986783"/>
            <a:ext cx="914400" cy="201168"/>
          </a:xfrm>
          <a:prstGeom prst="rect">
            <a:avLst/>
          </a:prstGeom>
          <a:noFill/>
        </p:spPr>
        <p:txBody>
          <a:bodyPr wrap="square"/>
          <a:lstStyle/>
          <a:p>
            <a:pPr algn="l">
              <a:defRPr sz="800" b="0">
                <a:solidFill>
                  <a:srgbClr val="374151"/>
                </a:solidFill>
                <a:latin typeface="Calibri"/>
              </a:defRPr>
            </a:pPr>
            <a:r>
              <a:t>Gaming</a:t>
            </a:r>
          </a:p>
        </p:txBody>
      </p:sp>
      <p:sp>
        <p:nvSpPr>
          <p:cNvPr id="28" name="TextBox 27"/>
          <p:cNvSpPr txBox="1"/>
          <p:nvPr/>
        </p:nvSpPr>
        <p:spPr>
          <a:xfrm>
            <a:off x="1783080" y="3986783"/>
            <a:ext cx="914400" cy="201168"/>
          </a:xfrm>
          <a:prstGeom prst="rect">
            <a:avLst/>
          </a:prstGeom>
          <a:noFill/>
        </p:spPr>
        <p:txBody>
          <a:bodyPr wrap="square"/>
          <a:lstStyle/>
          <a:p>
            <a:pPr algn="l">
              <a:defRPr sz="800" b="0">
                <a:solidFill>
                  <a:srgbClr val="374151"/>
                </a:solidFill>
                <a:latin typeface="Calibri"/>
              </a:defRPr>
            </a:pPr>
            <a:r>
              <a:t>40%</a:t>
            </a:r>
          </a:p>
        </p:txBody>
      </p:sp>
      <p:sp>
        <p:nvSpPr>
          <p:cNvPr id="29" name="TextBox 28"/>
          <p:cNvSpPr txBox="1"/>
          <p:nvPr/>
        </p:nvSpPr>
        <p:spPr>
          <a:xfrm>
            <a:off x="2743200" y="3986783"/>
            <a:ext cx="914400" cy="201168"/>
          </a:xfrm>
          <a:prstGeom prst="rect">
            <a:avLst/>
          </a:prstGeom>
          <a:noFill/>
        </p:spPr>
        <p:txBody>
          <a:bodyPr wrap="square"/>
          <a:lstStyle/>
          <a:p>
            <a:pPr algn="l">
              <a:defRPr sz="800" b="0">
                <a:solidFill>
                  <a:srgbClr val="374151"/>
                </a:solidFill>
                <a:latin typeface="Calibri"/>
              </a:defRPr>
            </a:pPr>
            <a:r>
              <a:t>25%</a:t>
            </a:r>
          </a:p>
        </p:txBody>
      </p:sp>
      <p:sp>
        <p:nvSpPr>
          <p:cNvPr id="30" name="TextBox 29"/>
          <p:cNvSpPr txBox="1"/>
          <p:nvPr/>
        </p:nvSpPr>
        <p:spPr>
          <a:xfrm>
            <a:off x="3703320" y="3986783"/>
            <a:ext cx="914400" cy="201168"/>
          </a:xfrm>
          <a:prstGeom prst="rect">
            <a:avLst/>
          </a:prstGeom>
          <a:noFill/>
        </p:spPr>
        <p:txBody>
          <a:bodyPr wrap="square"/>
          <a:lstStyle/>
          <a:p>
            <a:pPr algn="l">
              <a:defRPr sz="800" b="0">
                <a:solidFill>
                  <a:srgbClr val="374151"/>
                </a:solidFill>
                <a:latin typeface="Calibri"/>
              </a:defRPr>
            </a:pPr>
            <a:r>
              <a:t>15%</a:t>
            </a:r>
          </a:p>
        </p:txBody>
      </p:sp>
      <p:sp>
        <p:nvSpPr>
          <p:cNvPr id="31" name="TextBox 30"/>
          <p:cNvSpPr txBox="1"/>
          <p:nvPr/>
        </p:nvSpPr>
        <p:spPr>
          <a:xfrm>
            <a:off x="4663440" y="3986783"/>
            <a:ext cx="914400" cy="201168"/>
          </a:xfrm>
          <a:prstGeom prst="rect">
            <a:avLst/>
          </a:prstGeom>
          <a:noFill/>
        </p:spPr>
        <p:txBody>
          <a:bodyPr wrap="square"/>
          <a:lstStyle/>
          <a:p>
            <a:pPr algn="l">
              <a:defRPr sz="800" b="0">
                <a:solidFill>
                  <a:srgbClr val="374151"/>
                </a:solidFill>
                <a:latin typeface="Calibri"/>
              </a:defRPr>
            </a:pPr>
            <a:r>
              <a:t>20%</a:t>
            </a:r>
          </a:p>
        </p:txBody>
      </p:sp>
      <p:sp>
        <p:nvSpPr>
          <p:cNvPr id="32" name="TextBox 31"/>
          <p:cNvSpPr txBox="1"/>
          <p:nvPr/>
        </p:nvSpPr>
        <p:spPr>
          <a:xfrm>
            <a:off x="822960" y="4242816"/>
            <a:ext cx="914400" cy="201168"/>
          </a:xfrm>
          <a:prstGeom prst="rect">
            <a:avLst/>
          </a:prstGeom>
          <a:noFill/>
        </p:spPr>
        <p:txBody>
          <a:bodyPr wrap="square"/>
          <a:lstStyle/>
          <a:p>
            <a:pPr algn="l">
              <a:defRPr sz="800" b="0">
                <a:solidFill>
                  <a:srgbClr val="374151"/>
                </a:solidFill>
                <a:latin typeface="Calibri"/>
              </a:defRPr>
            </a:pPr>
            <a:r>
              <a:t>Finance</a:t>
            </a:r>
          </a:p>
        </p:txBody>
      </p:sp>
      <p:sp>
        <p:nvSpPr>
          <p:cNvPr id="33" name="TextBox 32"/>
          <p:cNvSpPr txBox="1"/>
          <p:nvPr/>
        </p:nvSpPr>
        <p:spPr>
          <a:xfrm>
            <a:off x="1783080" y="4242816"/>
            <a:ext cx="914400" cy="201168"/>
          </a:xfrm>
          <a:prstGeom prst="rect">
            <a:avLst/>
          </a:prstGeom>
          <a:noFill/>
        </p:spPr>
        <p:txBody>
          <a:bodyPr wrap="square"/>
          <a:lstStyle/>
          <a:p>
            <a:pPr algn="l">
              <a:defRPr sz="800" b="0">
                <a:solidFill>
                  <a:srgbClr val="374151"/>
                </a:solidFill>
                <a:latin typeface="Calibri"/>
              </a:defRPr>
            </a:pPr>
            <a:r>
              <a:t>30%</a:t>
            </a:r>
          </a:p>
        </p:txBody>
      </p:sp>
      <p:sp>
        <p:nvSpPr>
          <p:cNvPr id="34" name="TextBox 33"/>
          <p:cNvSpPr txBox="1"/>
          <p:nvPr/>
        </p:nvSpPr>
        <p:spPr>
          <a:xfrm>
            <a:off x="2743200" y="4242816"/>
            <a:ext cx="914400" cy="201168"/>
          </a:xfrm>
          <a:prstGeom prst="rect">
            <a:avLst/>
          </a:prstGeom>
          <a:noFill/>
        </p:spPr>
        <p:txBody>
          <a:bodyPr wrap="square"/>
          <a:lstStyle/>
          <a:p>
            <a:pPr algn="l">
              <a:defRPr sz="800" b="0">
                <a:solidFill>
                  <a:srgbClr val="374151"/>
                </a:solidFill>
                <a:latin typeface="Calibri"/>
              </a:defRPr>
            </a:pPr>
            <a:r>
              <a:t>35%</a:t>
            </a:r>
          </a:p>
        </p:txBody>
      </p:sp>
      <p:sp>
        <p:nvSpPr>
          <p:cNvPr id="35" name="TextBox 34"/>
          <p:cNvSpPr txBox="1"/>
          <p:nvPr/>
        </p:nvSpPr>
        <p:spPr>
          <a:xfrm>
            <a:off x="3703320" y="4242816"/>
            <a:ext cx="914400" cy="201168"/>
          </a:xfrm>
          <a:prstGeom prst="rect">
            <a:avLst/>
          </a:prstGeom>
          <a:noFill/>
        </p:spPr>
        <p:txBody>
          <a:bodyPr wrap="square"/>
          <a:lstStyle/>
          <a:p>
            <a:pPr algn="l">
              <a:defRPr sz="800" b="0">
                <a:solidFill>
                  <a:srgbClr val="374151"/>
                </a:solidFill>
                <a:latin typeface="Calibri"/>
              </a:defRPr>
            </a:pPr>
            <a:r>
              <a:t>25%</a:t>
            </a:r>
          </a:p>
        </p:txBody>
      </p:sp>
      <p:sp>
        <p:nvSpPr>
          <p:cNvPr id="36" name="TextBox 35"/>
          <p:cNvSpPr txBox="1"/>
          <p:nvPr/>
        </p:nvSpPr>
        <p:spPr>
          <a:xfrm>
            <a:off x="4663440" y="4242816"/>
            <a:ext cx="914400" cy="201168"/>
          </a:xfrm>
          <a:prstGeom prst="rect">
            <a:avLst/>
          </a:prstGeom>
          <a:noFill/>
        </p:spPr>
        <p:txBody>
          <a:bodyPr wrap="square"/>
          <a:lstStyle/>
          <a:p>
            <a:pPr algn="l">
              <a:defRPr sz="800" b="0">
                <a:solidFill>
                  <a:srgbClr val="374151"/>
                </a:solidFill>
                <a:latin typeface="Calibri"/>
              </a:defRPr>
            </a:pPr>
            <a:r>
              <a:t>10%</a:t>
            </a:r>
          </a:p>
        </p:txBody>
      </p:sp>
      <p:sp>
        <p:nvSpPr>
          <p:cNvPr id="37" name="TextBox 36"/>
          <p:cNvSpPr txBox="1"/>
          <p:nvPr/>
        </p:nvSpPr>
        <p:spPr>
          <a:xfrm>
            <a:off x="822960" y="4498848"/>
            <a:ext cx="914400" cy="201168"/>
          </a:xfrm>
          <a:prstGeom prst="rect">
            <a:avLst/>
          </a:prstGeom>
          <a:noFill/>
        </p:spPr>
        <p:txBody>
          <a:bodyPr wrap="square"/>
          <a:lstStyle/>
          <a:p>
            <a:pPr algn="l">
              <a:defRPr sz="800" b="0">
                <a:solidFill>
                  <a:srgbClr val="374151"/>
                </a:solidFill>
                <a:latin typeface="Calibri"/>
              </a:defRPr>
            </a:pPr>
            <a:r>
              <a:t>Entertainment</a:t>
            </a:r>
          </a:p>
        </p:txBody>
      </p:sp>
      <p:sp>
        <p:nvSpPr>
          <p:cNvPr id="38" name="TextBox 37"/>
          <p:cNvSpPr txBox="1"/>
          <p:nvPr/>
        </p:nvSpPr>
        <p:spPr>
          <a:xfrm>
            <a:off x="1783080" y="4498848"/>
            <a:ext cx="914400" cy="201168"/>
          </a:xfrm>
          <a:prstGeom prst="rect">
            <a:avLst/>
          </a:prstGeom>
          <a:noFill/>
        </p:spPr>
        <p:txBody>
          <a:bodyPr wrap="square"/>
          <a:lstStyle/>
          <a:p>
            <a:pPr algn="l">
              <a:defRPr sz="800" b="0">
                <a:solidFill>
                  <a:srgbClr val="374151"/>
                </a:solidFill>
                <a:latin typeface="Calibri"/>
              </a:defRPr>
            </a:pPr>
            <a:r>
              <a:t>30%</a:t>
            </a:r>
          </a:p>
        </p:txBody>
      </p:sp>
      <p:sp>
        <p:nvSpPr>
          <p:cNvPr id="39" name="TextBox 38"/>
          <p:cNvSpPr txBox="1"/>
          <p:nvPr/>
        </p:nvSpPr>
        <p:spPr>
          <a:xfrm>
            <a:off x="2743200" y="4498848"/>
            <a:ext cx="914400" cy="201168"/>
          </a:xfrm>
          <a:prstGeom prst="rect">
            <a:avLst/>
          </a:prstGeom>
          <a:noFill/>
        </p:spPr>
        <p:txBody>
          <a:bodyPr wrap="square"/>
          <a:lstStyle/>
          <a:p>
            <a:pPr algn="l">
              <a:defRPr sz="800" b="0">
                <a:solidFill>
                  <a:srgbClr val="374151"/>
                </a:solidFill>
                <a:latin typeface="Calibri"/>
              </a:defRPr>
            </a:pPr>
            <a:r>
              <a:t>40%</a:t>
            </a:r>
          </a:p>
        </p:txBody>
      </p:sp>
      <p:sp>
        <p:nvSpPr>
          <p:cNvPr id="40" name="TextBox 39"/>
          <p:cNvSpPr txBox="1"/>
          <p:nvPr/>
        </p:nvSpPr>
        <p:spPr>
          <a:xfrm>
            <a:off x="3703320" y="4498848"/>
            <a:ext cx="914400" cy="201168"/>
          </a:xfrm>
          <a:prstGeom prst="rect">
            <a:avLst/>
          </a:prstGeom>
          <a:noFill/>
        </p:spPr>
        <p:txBody>
          <a:bodyPr wrap="square"/>
          <a:lstStyle/>
          <a:p>
            <a:pPr algn="l">
              <a:defRPr sz="800" b="0">
                <a:solidFill>
                  <a:srgbClr val="374151"/>
                </a:solidFill>
                <a:latin typeface="Calibri"/>
              </a:defRPr>
            </a:pPr>
            <a:r>
              <a:t>15%</a:t>
            </a:r>
          </a:p>
        </p:txBody>
      </p:sp>
      <p:sp>
        <p:nvSpPr>
          <p:cNvPr id="41" name="TextBox 40"/>
          <p:cNvSpPr txBox="1"/>
          <p:nvPr/>
        </p:nvSpPr>
        <p:spPr>
          <a:xfrm>
            <a:off x="4663440" y="4498848"/>
            <a:ext cx="914400" cy="201168"/>
          </a:xfrm>
          <a:prstGeom prst="rect">
            <a:avLst/>
          </a:prstGeom>
          <a:noFill/>
        </p:spPr>
        <p:txBody>
          <a:bodyPr wrap="square"/>
          <a:lstStyle/>
          <a:p>
            <a:pPr algn="l">
              <a:defRPr sz="800" b="0">
                <a:solidFill>
                  <a:srgbClr val="374151"/>
                </a:solidFill>
                <a:latin typeface="Calibri"/>
              </a:defRPr>
            </a:pPr>
            <a:r>
              <a:t>15%</a:t>
            </a:r>
          </a:p>
        </p:txBody>
      </p:sp>
      <p:sp>
        <p:nvSpPr>
          <p:cNvPr id="42" name="TextBox 41"/>
          <p:cNvSpPr txBox="1"/>
          <p:nvPr/>
        </p:nvSpPr>
        <p:spPr>
          <a:xfrm>
            <a:off x="822960" y="4754880"/>
            <a:ext cx="914400" cy="201168"/>
          </a:xfrm>
          <a:prstGeom prst="rect">
            <a:avLst/>
          </a:prstGeom>
          <a:noFill/>
        </p:spPr>
        <p:txBody>
          <a:bodyPr wrap="square"/>
          <a:lstStyle/>
          <a:p>
            <a:pPr algn="l">
              <a:defRPr sz="800" b="0">
                <a:solidFill>
                  <a:srgbClr val="374151"/>
                </a:solidFill>
                <a:latin typeface="Calibri"/>
              </a:defRPr>
            </a:pPr>
            <a:r>
              <a:t>Local Services</a:t>
            </a:r>
          </a:p>
        </p:txBody>
      </p:sp>
      <p:sp>
        <p:nvSpPr>
          <p:cNvPr id="43" name="TextBox 42"/>
          <p:cNvSpPr txBox="1"/>
          <p:nvPr/>
        </p:nvSpPr>
        <p:spPr>
          <a:xfrm>
            <a:off x="1783080" y="4754880"/>
            <a:ext cx="914400" cy="201168"/>
          </a:xfrm>
          <a:prstGeom prst="rect">
            <a:avLst/>
          </a:prstGeom>
          <a:noFill/>
        </p:spPr>
        <p:txBody>
          <a:bodyPr wrap="square"/>
          <a:lstStyle/>
          <a:p>
            <a:pPr algn="l">
              <a:defRPr sz="800" b="0">
                <a:solidFill>
                  <a:srgbClr val="374151"/>
                </a:solidFill>
                <a:latin typeface="Calibri"/>
              </a:defRPr>
            </a:pPr>
            <a:r>
              <a:t>25%</a:t>
            </a:r>
          </a:p>
        </p:txBody>
      </p:sp>
      <p:sp>
        <p:nvSpPr>
          <p:cNvPr id="44" name="TextBox 43"/>
          <p:cNvSpPr txBox="1"/>
          <p:nvPr/>
        </p:nvSpPr>
        <p:spPr>
          <a:xfrm>
            <a:off x="2743200" y="4754880"/>
            <a:ext cx="914400" cy="201168"/>
          </a:xfrm>
          <a:prstGeom prst="rect">
            <a:avLst/>
          </a:prstGeom>
          <a:noFill/>
        </p:spPr>
        <p:txBody>
          <a:bodyPr wrap="square"/>
          <a:lstStyle/>
          <a:p>
            <a:pPr algn="l">
              <a:defRPr sz="800" b="0">
                <a:solidFill>
                  <a:srgbClr val="374151"/>
                </a:solidFill>
                <a:latin typeface="Calibri"/>
              </a:defRPr>
            </a:pPr>
            <a:r>
              <a:t>35%</a:t>
            </a:r>
          </a:p>
        </p:txBody>
      </p:sp>
      <p:sp>
        <p:nvSpPr>
          <p:cNvPr id="45" name="TextBox 44"/>
          <p:cNvSpPr txBox="1"/>
          <p:nvPr/>
        </p:nvSpPr>
        <p:spPr>
          <a:xfrm>
            <a:off x="3703320" y="4754880"/>
            <a:ext cx="914400" cy="201168"/>
          </a:xfrm>
          <a:prstGeom prst="rect">
            <a:avLst/>
          </a:prstGeom>
          <a:noFill/>
        </p:spPr>
        <p:txBody>
          <a:bodyPr wrap="square"/>
          <a:lstStyle/>
          <a:p>
            <a:pPr algn="l">
              <a:defRPr sz="800" b="0">
                <a:solidFill>
                  <a:srgbClr val="374151"/>
                </a:solidFill>
                <a:latin typeface="Calibri"/>
              </a:defRPr>
            </a:pPr>
            <a:r>
              <a:t>30%</a:t>
            </a:r>
          </a:p>
        </p:txBody>
      </p:sp>
      <p:sp>
        <p:nvSpPr>
          <p:cNvPr id="46" name="TextBox 45"/>
          <p:cNvSpPr txBox="1"/>
          <p:nvPr/>
        </p:nvSpPr>
        <p:spPr>
          <a:xfrm>
            <a:off x="4663440" y="4754880"/>
            <a:ext cx="914400" cy="201168"/>
          </a:xfrm>
          <a:prstGeom prst="rect">
            <a:avLst/>
          </a:prstGeom>
          <a:noFill/>
        </p:spPr>
        <p:txBody>
          <a:bodyPr wrap="square"/>
          <a:lstStyle/>
          <a:p>
            <a:pPr algn="l">
              <a:defRPr sz="800" b="0">
                <a:solidFill>
                  <a:srgbClr val="374151"/>
                </a:solidFill>
                <a:latin typeface="Calibri"/>
              </a:defRPr>
            </a:pPr>
            <a:r>
              <a:t>10%</a:t>
            </a:r>
          </a:p>
        </p:txBody>
      </p:sp>
      <p:sp>
        <p:nvSpPr>
          <p:cNvPr id="47" name="TextBox 46"/>
          <p:cNvSpPr txBox="1"/>
          <p:nvPr/>
        </p:nvSpPr>
        <p:spPr>
          <a:xfrm>
            <a:off x="822960" y="5074920"/>
            <a:ext cx="3657600" cy="228600"/>
          </a:xfrm>
          <a:prstGeom prst="rect">
            <a:avLst/>
          </a:prstGeom>
          <a:noFill/>
        </p:spPr>
        <p:txBody>
          <a:bodyPr wrap="square"/>
          <a:lstStyle/>
          <a:p>
            <a:pPr algn="l">
              <a:defRPr sz="1000" b="1">
                <a:solidFill>
                  <a:srgbClr val="1D4ED8"/>
                </a:solidFill>
                <a:latin typeface="Calibri"/>
              </a:defRPr>
            </a:pPr>
            <a:r>
              <a:t>Portfolio Output:</a:t>
            </a:r>
          </a:p>
        </p:txBody>
      </p:sp>
      <p:sp>
        <p:nvSpPr>
          <p:cNvPr id="48" name="Rectangle 47"/>
          <p:cNvSpPr/>
          <p:nvPr/>
        </p:nvSpPr>
        <p:spPr>
          <a:xfrm>
            <a:off x="822960" y="5349240"/>
            <a:ext cx="3383280" cy="2743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5367527"/>
            <a:ext cx="1828800" cy="228600"/>
          </a:xfrm>
          <a:prstGeom prst="rect">
            <a:avLst/>
          </a:prstGeom>
          <a:noFill/>
        </p:spPr>
        <p:txBody>
          <a:bodyPr wrap="square"/>
          <a:lstStyle/>
          <a:p>
            <a:pPr algn="l">
              <a:defRPr sz="800" b="1">
                <a:solidFill>
                  <a:srgbClr val="FFFFFF"/>
                </a:solidFill>
                <a:latin typeface="Calibri"/>
              </a:defRPr>
            </a:pPr>
            <a:r>
              <a:t>Primary 77%</a:t>
            </a:r>
          </a:p>
        </p:txBody>
      </p:sp>
      <p:sp>
        <p:nvSpPr>
          <p:cNvPr id="50" name="Rectangle 49"/>
          <p:cNvSpPr/>
          <p:nvPr/>
        </p:nvSpPr>
        <p:spPr>
          <a:xfrm>
            <a:off x="4206240" y="5349240"/>
            <a:ext cx="914400" cy="2743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43400" y="5367527"/>
            <a:ext cx="548640" cy="228600"/>
          </a:xfrm>
          <a:prstGeom prst="rect">
            <a:avLst/>
          </a:prstGeom>
          <a:noFill/>
        </p:spPr>
        <p:txBody>
          <a:bodyPr wrap="square"/>
          <a:lstStyle/>
          <a:p>
            <a:pPr algn="l">
              <a:defRPr sz="800" b="1">
                <a:solidFill>
                  <a:srgbClr val="FFFFFF"/>
                </a:solidFill>
                <a:latin typeface="Calibri"/>
              </a:defRPr>
            </a:pPr>
            <a:r>
              <a:t>15%</a:t>
            </a:r>
          </a:p>
        </p:txBody>
      </p:sp>
      <p:sp>
        <p:nvSpPr>
          <p:cNvPr id="52" name="Rectangle 51"/>
          <p:cNvSpPr/>
          <p:nvPr/>
        </p:nvSpPr>
        <p:spPr>
          <a:xfrm>
            <a:off x="5120640" y="5349240"/>
            <a:ext cx="731520" cy="27432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212080" y="5367527"/>
            <a:ext cx="457200" cy="228600"/>
          </a:xfrm>
          <a:prstGeom prst="rect">
            <a:avLst/>
          </a:prstGeom>
          <a:noFill/>
        </p:spPr>
        <p:txBody>
          <a:bodyPr wrap="square"/>
          <a:lstStyle/>
          <a:p>
            <a:pPr algn="l">
              <a:defRPr sz="800" b="1">
                <a:solidFill>
                  <a:srgbClr val="FFFFFF"/>
                </a:solidFill>
                <a:latin typeface="Calibri"/>
              </a:defRPr>
            </a:pPr>
            <a:r>
              <a:t>8%</a:t>
            </a:r>
          </a:p>
        </p:txBody>
      </p:sp>
      <p:sp>
        <p:nvSpPr>
          <p:cNvPr id="54" name="Rectangle 53"/>
          <p:cNvSpPr/>
          <p:nvPr/>
        </p:nvSpPr>
        <p:spPr>
          <a:xfrm>
            <a:off x="6400800" y="1371600"/>
            <a:ext cx="521208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1463040"/>
            <a:ext cx="4572000" cy="274320"/>
          </a:xfrm>
          <a:prstGeom prst="rect">
            <a:avLst/>
          </a:prstGeom>
          <a:noFill/>
        </p:spPr>
        <p:txBody>
          <a:bodyPr wrap="square"/>
          <a:lstStyle/>
          <a:p>
            <a:pPr algn="l">
              <a:defRPr sz="1200" b="1">
                <a:solidFill>
                  <a:srgbClr val="111827"/>
                </a:solidFill>
                <a:latin typeface="Calibri"/>
              </a:defRPr>
            </a:pPr>
            <a:r>
              <a:t>Strategic Insights</a:t>
            </a:r>
          </a:p>
        </p:txBody>
      </p:sp>
      <p:sp>
        <p:nvSpPr>
          <p:cNvPr id="56" name="Rectangle 55"/>
          <p:cNvSpPr/>
          <p:nvPr/>
        </p:nvSpPr>
        <p:spPr>
          <a:xfrm>
            <a:off x="6675120" y="1828800"/>
            <a:ext cx="54864" cy="6400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903720" y="1828800"/>
            <a:ext cx="4389120" cy="182880"/>
          </a:xfrm>
          <a:prstGeom prst="rect">
            <a:avLst/>
          </a:prstGeom>
          <a:noFill/>
        </p:spPr>
        <p:txBody>
          <a:bodyPr wrap="square"/>
          <a:lstStyle/>
          <a:p>
            <a:pPr algn="l">
              <a:defRPr sz="1000" b="1">
                <a:solidFill>
                  <a:srgbClr val="1D4ED8"/>
                </a:solidFill>
                <a:latin typeface="Calibri"/>
              </a:defRPr>
            </a:pPr>
            <a:r>
              <a:t>Contextual Selection</a:t>
            </a:r>
          </a:p>
        </p:txBody>
      </p:sp>
      <p:sp>
        <p:nvSpPr>
          <p:cNvPr id="58" name="TextBox 57"/>
          <p:cNvSpPr txBox="1"/>
          <p:nvPr/>
        </p:nvSpPr>
        <p:spPr>
          <a:xfrm>
            <a:off x="6903720" y="2029968"/>
            <a:ext cx="4480560" cy="502920"/>
          </a:xfrm>
          <a:prstGeom prst="rect">
            <a:avLst/>
          </a:prstGeom>
          <a:noFill/>
        </p:spPr>
        <p:txBody>
          <a:bodyPr wrap="square"/>
          <a:lstStyle/>
          <a:p>
            <a:pPr algn="l">
              <a:defRPr sz="800" b="0">
                <a:solidFill>
                  <a:srgbClr val="374151"/>
                </a:solidFill>
                <a:latin typeface="Calibri"/>
              </a:defRPr>
            </a:pPr>
            <a:r>
              <a:t>No single model wins across all contexts. Optimal choice depends on segment data density, vertical-specific objective weights, and advertiser lifecycle stage.</a:t>
            </a:r>
          </a:p>
        </p:txBody>
      </p:sp>
      <p:sp>
        <p:nvSpPr>
          <p:cNvPr id="59" name="Rectangle 58"/>
          <p:cNvSpPr/>
          <p:nvPr/>
        </p:nvSpPr>
        <p:spPr>
          <a:xfrm>
            <a:off x="6675120" y="2670048"/>
            <a:ext cx="54864" cy="6400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03720" y="2670048"/>
            <a:ext cx="4389120" cy="182880"/>
          </a:xfrm>
          <a:prstGeom prst="rect">
            <a:avLst/>
          </a:prstGeom>
          <a:noFill/>
        </p:spPr>
        <p:txBody>
          <a:bodyPr wrap="square"/>
          <a:lstStyle/>
          <a:p>
            <a:pPr algn="l">
              <a:defRPr sz="1000" b="1">
                <a:solidFill>
                  <a:srgbClr val="1D4ED8"/>
                </a:solidFill>
                <a:latin typeface="Calibri"/>
              </a:defRPr>
            </a:pPr>
            <a:r>
              <a:t>Lifecycle-Driven Exploration</a:t>
            </a:r>
          </a:p>
        </p:txBody>
      </p:sp>
      <p:sp>
        <p:nvSpPr>
          <p:cNvPr id="61" name="TextBox 60"/>
          <p:cNvSpPr txBox="1"/>
          <p:nvPr/>
        </p:nvSpPr>
        <p:spPr>
          <a:xfrm>
            <a:off x="6903720" y="2871216"/>
            <a:ext cx="4480560" cy="502920"/>
          </a:xfrm>
          <a:prstGeom prst="rect">
            <a:avLst/>
          </a:prstGeom>
          <a:noFill/>
        </p:spPr>
        <p:txBody>
          <a:bodyPr wrap="square"/>
          <a:lstStyle/>
          <a:p>
            <a:pPr algn="l">
              <a:defRPr sz="800" b="0">
                <a:solidFill>
                  <a:srgbClr val="374151"/>
                </a:solidFill>
                <a:latin typeface="Calibri"/>
              </a:defRPr>
            </a:pPr>
            <a:r>
              <a:t>New advertisers need 2-3x more exploration traffic than mature ones. Framework auto-adjusts allocation to reduce churn risk while maintaining revenue efficiency.</a:t>
            </a:r>
          </a:p>
        </p:txBody>
      </p:sp>
      <p:sp>
        <p:nvSpPr>
          <p:cNvPr id="62" name="Rectangle 61"/>
          <p:cNvSpPr/>
          <p:nvPr/>
        </p:nvSpPr>
        <p:spPr>
          <a:xfrm>
            <a:off x="6675120" y="3511296"/>
            <a:ext cx="54864" cy="6400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903720" y="3511296"/>
            <a:ext cx="4389120" cy="182880"/>
          </a:xfrm>
          <a:prstGeom prst="rect">
            <a:avLst/>
          </a:prstGeom>
          <a:noFill/>
        </p:spPr>
        <p:txBody>
          <a:bodyPr wrap="square"/>
          <a:lstStyle/>
          <a:p>
            <a:pPr algn="l">
              <a:defRPr sz="1000" b="1">
                <a:solidFill>
                  <a:srgbClr val="1D4ED8"/>
                </a:solidFill>
                <a:latin typeface="Calibri"/>
              </a:defRPr>
            </a:pPr>
            <a:r>
              <a:t>Vertical Specialization</a:t>
            </a:r>
          </a:p>
        </p:txBody>
      </p:sp>
      <p:sp>
        <p:nvSpPr>
          <p:cNvPr id="64" name="TextBox 63"/>
          <p:cNvSpPr txBox="1"/>
          <p:nvPr/>
        </p:nvSpPr>
        <p:spPr>
          <a:xfrm>
            <a:off x="6903720" y="3712463"/>
            <a:ext cx="4480560" cy="502920"/>
          </a:xfrm>
          <a:prstGeom prst="rect">
            <a:avLst/>
          </a:prstGeom>
          <a:noFill/>
        </p:spPr>
        <p:txBody>
          <a:bodyPr wrap="square"/>
          <a:lstStyle/>
          <a:p>
            <a:pPr algn="l">
              <a:defRPr sz="800" b="0">
                <a:solidFill>
                  <a:srgbClr val="374151"/>
                </a:solidFill>
                <a:latin typeface="Calibri"/>
              </a:defRPr>
            </a:pPr>
            <a:r>
              <a:t>Finance favors GBDT (precision on dense features). Entertainment favors Two-Tower (content matching). Gaming benefits from bandits (high preference variance).</a:t>
            </a:r>
          </a:p>
        </p:txBody>
      </p:sp>
      <p:sp>
        <p:nvSpPr>
          <p:cNvPr id="65" name="Rectangle 64"/>
          <p:cNvSpPr/>
          <p:nvPr/>
        </p:nvSpPr>
        <p:spPr>
          <a:xfrm>
            <a:off x="6675120" y="4352544"/>
            <a:ext cx="54864" cy="6400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903720" y="4352544"/>
            <a:ext cx="4389120" cy="182880"/>
          </a:xfrm>
          <a:prstGeom prst="rect">
            <a:avLst/>
          </a:prstGeom>
          <a:noFill/>
        </p:spPr>
        <p:txBody>
          <a:bodyPr wrap="square"/>
          <a:lstStyle/>
          <a:p>
            <a:pPr algn="l">
              <a:defRPr sz="1000" b="1">
                <a:solidFill>
                  <a:srgbClr val="1D4ED8"/>
                </a:solidFill>
                <a:latin typeface="Calibri"/>
              </a:defRPr>
            </a:pPr>
            <a:r>
              <a:t>Portfolio Hedging</a:t>
            </a:r>
          </a:p>
        </p:txBody>
      </p:sp>
      <p:sp>
        <p:nvSpPr>
          <p:cNvPr id="67" name="TextBox 66"/>
          <p:cNvSpPr txBox="1"/>
          <p:nvPr/>
        </p:nvSpPr>
        <p:spPr>
          <a:xfrm>
            <a:off x="6903720" y="4553712"/>
            <a:ext cx="4480560" cy="502920"/>
          </a:xfrm>
          <a:prstGeom prst="rect">
            <a:avLst/>
          </a:prstGeom>
          <a:noFill/>
        </p:spPr>
        <p:txBody>
          <a:bodyPr wrap="square"/>
          <a:lstStyle/>
          <a:p>
            <a:pPr algn="l">
              <a:defRPr sz="800" b="0">
                <a:solidFill>
                  <a:srgbClr val="374151"/>
                </a:solidFill>
                <a:latin typeface="Calibri"/>
              </a:defRPr>
            </a:pPr>
            <a:r>
              <a:t>8-25% secondary model traffic provides insurance against primary degradation and continuous A/B comparison without dedicated experimentation infrastructure.</a:t>
            </a:r>
          </a:p>
        </p:txBody>
      </p:sp>
      <p:sp>
        <p:nvSpPr>
          <p:cNvPr id="68" name="Rectangle 67"/>
          <p:cNvSpPr/>
          <p:nvPr/>
        </p:nvSpPr>
        <p:spPr>
          <a:xfrm>
            <a:off x="6675120" y="5193792"/>
            <a:ext cx="54864" cy="6400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903720" y="5193792"/>
            <a:ext cx="4389120" cy="182880"/>
          </a:xfrm>
          <a:prstGeom prst="rect">
            <a:avLst/>
          </a:prstGeom>
          <a:noFill/>
        </p:spPr>
        <p:txBody>
          <a:bodyPr wrap="square"/>
          <a:lstStyle/>
          <a:p>
            <a:pPr algn="l">
              <a:defRPr sz="1000" b="1">
                <a:solidFill>
                  <a:srgbClr val="1D4ED8"/>
                </a:solidFill>
                <a:latin typeface="Calibri"/>
              </a:defRPr>
            </a:pPr>
            <a:r>
              <a:t>Revenue Opportunity</a:t>
            </a:r>
          </a:p>
        </p:txBody>
      </p:sp>
      <p:sp>
        <p:nvSpPr>
          <p:cNvPr id="70" name="TextBox 69"/>
          <p:cNvSpPr txBox="1"/>
          <p:nvPr/>
        </p:nvSpPr>
        <p:spPr>
          <a:xfrm>
            <a:off x="6903720" y="5394959"/>
            <a:ext cx="4480560" cy="502920"/>
          </a:xfrm>
          <a:prstGeom prst="rect">
            <a:avLst/>
          </a:prstGeom>
          <a:noFill/>
        </p:spPr>
        <p:txBody>
          <a:bodyPr wrap="square"/>
          <a:lstStyle/>
          <a:p>
            <a:pPr algn="l">
              <a:defRPr sz="800" b="0">
                <a:solidFill>
                  <a:srgbClr val="374151"/>
                </a:solidFill>
                <a:latin typeface="Calibri"/>
              </a:defRPr>
            </a:pPr>
            <a:r>
              <a:t>Context-aware routing captures 15-40% more revenue vs one-size-fits-all model selection in high-opportunity segments.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9144000" cy="457200"/>
          </a:xfrm>
          <a:prstGeom prst="rect">
            <a:avLst/>
          </a:prstGeom>
          <a:noFill/>
        </p:spPr>
        <p:txBody>
          <a:bodyPr wrap="square"/>
          <a:lstStyle/>
          <a:p>
            <a:pPr algn="l">
              <a:defRPr sz="2800" b="1">
                <a:solidFill>
                  <a:srgbClr val="111827"/>
                </a:solidFill>
                <a:latin typeface="Calibri"/>
              </a:defRPr>
            </a:pPr>
            <a:r>
              <a:t>Financial Services Scenario</a:t>
            </a:r>
          </a:p>
        </p:txBody>
      </p:sp>
      <p:sp>
        <p:nvSpPr>
          <p:cNvPr id="3" name="TextBox 2"/>
          <p:cNvSpPr txBox="1"/>
          <p:nvPr/>
        </p:nvSpPr>
        <p:spPr>
          <a:xfrm>
            <a:off x="548640" y="822960"/>
            <a:ext cx="9144000" cy="274320"/>
          </a:xfrm>
          <a:prstGeom prst="rect">
            <a:avLst/>
          </a:prstGeom>
          <a:noFill/>
        </p:spPr>
        <p:txBody>
          <a:bodyPr wrap="square"/>
          <a:lstStyle/>
          <a:p>
            <a:pPr algn="l">
              <a:defRPr sz="1200" b="0">
                <a:solidFill>
                  <a:srgbClr val="6B7280"/>
                </a:solidFill>
                <a:latin typeface="Calibri"/>
              </a:defRPr>
            </a:pPr>
            <a:r>
              <a:t>30-day simulation comparing 6 recommender algorithms for high-stakes financial advertising</a:t>
            </a:r>
          </a:p>
        </p:txBody>
      </p:sp>
      <p:sp>
        <p:nvSpPr>
          <p:cNvPr id="4" name="Rectangle 3"/>
          <p:cNvSpPr/>
          <p:nvPr/>
        </p:nvSpPr>
        <p:spPr>
          <a:xfrm>
            <a:off x="548640" y="1371600"/>
            <a:ext cx="658368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6217920" cy="274320"/>
          </a:xfrm>
          <a:prstGeom prst="rect">
            <a:avLst/>
          </a:prstGeom>
          <a:noFill/>
        </p:spPr>
        <p:txBody>
          <a:bodyPr wrap="square"/>
          <a:lstStyle/>
          <a:p>
            <a:pPr algn="l">
              <a:defRPr sz="1200" b="1">
                <a:solidFill>
                  <a:srgbClr val="111827"/>
                </a:solidFill>
                <a:latin typeface="Calibri"/>
              </a:defRPr>
            </a:pPr>
            <a:r>
              <a:t>Algorithm Rankings (Credit Cards Sub-Vertical)</a:t>
            </a:r>
          </a:p>
        </p:txBody>
      </p:sp>
      <p:sp>
        <p:nvSpPr>
          <p:cNvPr id="6" name="Rectangle 5"/>
          <p:cNvSpPr/>
          <p:nvPr/>
        </p:nvSpPr>
        <p:spPr>
          <a:xfrm>
            <a:off x="640080" y="1783080"/>
            <a:ext cx="6400800" cy="256032"/>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01368"/>
            <a:ext cx="1051560" cy="256032"/>
          </a:xfrm>
          <a:prstGeom prst="rect">
            <a:avLst/>
          </a:prstGeom>
          <a:noFill/>
        </p:spPr>
        <p:txBody>
          <a:bodyPr wrap="square"/>
          <a:lstStyle/>
          <a:p>
            <a:pPr algn="l">
              <a:defRPr sz="800" b="1">
                <a:solidFill>
                  <a:srgbClr val="1D4ED8"/>
                </a:solidFill>
                <a:latin typeface="Calibri"/>
              </a:defRPr>
            </a:pPr>
            <a:r>
              <a:t>Algorithm</a:t>
            </a:r>
          </a:p>
        </p:txBody>
      </p:sp>
      <p:sp>
        <p:nvSpPr>
          <p:cNvPr id="8" name="TextBox 7"/>
          <p:cNvSpPr txBox="1"/>
          <p:nvPr/>
        </p:nvSpPr>
        <p:spPr>
          <a:xfrm>
            <a:off x="1737360" y="1801368"/>
            <a:ext cx="1051560" cy="256032"/>
          </a:xfrm>
          <a:prstGeom prst="rect">
            <a:avLst/>
          </a:prstGeom>
          <a:noFill/>
        </p:spPr>
        <p:txBody>
          <a:bodyPr wrap="square"/>
          <a:lstStyle/>
          <a:p>
            <a:pPr algn="l">
              <a:defRPr sz="800" b="1">
                <a:solidFill>
                  <a:srgbClr val="1D4ED8"/>
                </a:solidFill>
                <a:latin typeface="Calibri"/>
              </a:defRPr>
            </a:pPr>
            <a:r>
              <a:t>Revenue</a:t>
            </a:r>
          </a:p>
        </p:txBody>
      </p:sp>
      <p:sp>
        <p:nvSpPr>
          <p:cNvPr id="9" name="TextBox 8"/>
          <p:cNvSpPr txBox="1"/>
          <p:nvPr/>
        </p:nvSpPr>
        <p:spPr>
          <a:xfrm>
            <a:off x="2788920" y="1801368"/>
            <a:ext cx="1051560" cy="256032"/>
          </a:xfrm>
          <a:prstGeom prst="rect">
            <a:avLst/>
          </a:prstGeom>
          <a:noFill/>
        </p:spPr>
        <p:txBody>
          <a:bodyPr wrap="square"/>
          <a:lstStyle/>
          <a:p>
            <a:pPr algn="l">
              <a:defRPr sz="800" b="1">
                <a:solidFill>
                  <a:srgbClr val="1D4ED8"/>
                </a:solidFill>
                <a:latin typeface="Calibri"/>
              </a:defRPr>
            </a:pPr>
            <a:r>
              <a:t>Trust</a:t>
            </a:r>
          </a:p>
        </p:txBody>
      </p:sp>
      <p:sp>
        <p:nvSpPr>
          <p:cNvPr id="10" name="TextBox 9"/>
          <p:cNvSpPr txBox="1"/>
          <p:nvPr/>
        </p:nvSpPr>
        <p:spPr>
          <a:xfrm>
            <a:off x="3840480" y="1801368"/>
            <a:ext cx="1051560" cy="256032"/>
          </a:xfrm>
          <a:prstGeom prst="rect">
            <a:avLst/>
          </a:prstGeom>
          <a:noFill/>
        </p:spPr>
        <p:txBody>
          <a:bodyPr wrap="square"/>
          <a:lstStyle/>
          <a:p>
            <a:pPr algn="l">
              <a:defRPr sz="800" b="1">
                <a:solidFill>
                  <a:srgbClr val="1D4ED8"/>
                </a:solidFill>
                <a:latin typeface="Calibri"/>
              </a:defRPr>
            </a:pPr>
            <a:r>
              <a:t>Risk</a:t>
            </a:r>
          </a:p>
        </p:txBody>
      </p:sp>
      <p:sp>
        <p:nvSpPr>
          <p:cNvPr id="11" name="TextBox 10"/>
          <p:cNvSpPr txBox="1"/>
          <p:nvPr/>
        </p:nvSpPr>
        <p:spPr>
          <a:xfrm>
            <a:off x="4892040" y="1801368"/>
            <a:ext cx="1051560" cy="256032"/>
          </a:xfrm>
          <a:prstGeom prst="rect">
            <a:avLst/>
          </a:prstGeom>
          <a:noFill/>
        </p:spPr>
        <p:txBody>
          <a:bodyPr wrap="square"/>
          <a:lstStyle/>
          <a:p>
            <a:pPr algn="l">
              <a:defRPr sz="800" b="1">
                <a:solidFill>
                  <a:srgbClr val="1D4ED8"/>
                </a:solidFill>
                <a:latin typeface="Calibri"/>
              </a:defRPr>
            </a:pPr>
            <a:r>
              <a:t>CPA</a:t>
            </a:r>
          </a:p>
        </p:txBody>
      </p:sp>
      <p:sp>
        <p:nvSpPr>
          <p:cNvPr id="12" name="TextBox 11"/>
          <p:cNvSpPr txBox="1"/>
          <p:nvPr/>
        </p:nvSpPr>
        <p:spPr>
          <a:xfrm>
            <a:off x="5943600" y="1801368"/>
            <a:ext cx="1051560" cy="256032"/>
          </a:xfrm>
          <a:prstGeom prst="rect">
            <a:avLst/>
          </a:prstGeom>
          <a:noFill/>
        </p:spPr>
        <p:txBody>
          <a:bodyPr wrap="square"/>
          <a:lstStyle/>
          <a:p>
            <a:pPr algn="l">
              <a:defRPr sz="800" b="1">
                <a:solidFill>
                  <a:srgbClr val="1D4ED8"/>
                </a:solidFill>
                <a:latin typeface="Calibri"/>
              </a:defRPr>
            </a:pPr>
            <a:r>
              <a:t>Composite</a:t>
            </a:r>
          </a:p>
        </p:txBody>
      </p:sp>
      <p:sp>
        <p:nvSpPr>
          <p:cNvPr id="13" name="TextBox 12"/>
          <p:cNvSpPr txBox="1"/>
          <p:nvPr/>
        </p:nvSpPr>
        <p:spPr>
          <a:xfrm>
            <a:off x="685800" y="2057400"/>
            <a:ext cx="1051560" cy="256032"/>
          </a:xfrm>
          <a:prstGeom prst="rect">
            <a:avLst/>
          </a:prstGeom>
          <a:noFill/>
        </p:spPr>
        <p:txBody>
          <a:bodyPr wrap="square"/>
          <a:lstStyle/>
          <a:p>
            <a:pPr algn="l">
              <a:defRPr sz="900" b="0">
                <a:solidFill>
                  <a:srgbClr val="374151"/>
                </a:solidFill>
                <a:latin typeface="Calibri"/>
              </a:defRPr>
            </a:pPr>
            <a:r>
              <a:t>Risk-Adjusted Ranker</a:t>
            </a:r>
          </a:p>
        </p:txBody>
      </p:sp>
      <p:sp>
        <p:nvSpPr>
          <p:cNvPr id="14" name="TextBox 13"/>
          <p:cNvSpPr txBox="1"/>
          <p:nvPr/>
        </p:nvSpPr>
        <p:spPr>
          <a:xfrm>
            <a:off x="1737360" y="2057400"/>
            <a:ext cx="1051560" cy="256032"/>
          </a:xfrm>
          <a:prstGeom prst="rect">
            <a:avLst/>
          </a:prstGeom>
          <a:noFill/>
        </p:spPr>
        <p:txBody>
          <a:bodyPr wrap="square"/>
          <a:lstStyle/>
          <a:p>
            <a:pPr algn="l">
              <a:defRPr sz="900" b="0">
                <a:solidFill>
                  <a:srgbClr val="374151"/>
                </a:solidFill>
                <a:latin typeface="Calibri"/>
              </a:defRPr>
            </a:pPr>
            <a:r>
              <a:t>$48.2K</a:t>
            </a:r>
          </a:p>
        </p:txBody>
      </p:sp>
      <p:sp>
        <p:nvSpPr>
          <p:cNvPr id="15" name="TextBox 14"/>
          <p:cNvSpPr txBox="1"/>
          <p:nvPr/>
        </p:nvSpPr>
        <p:spPr>
          <a:xfrm>
            <a:off x="2788920" y="2057400"/>
            <a:ext cx="1051560" cy="256032"/>
          </a:xfrm>
          <a:prstGeom prst="rect">
            <a:avLst/>
          </a:prstGeom>
          <a:noFill/>
        </p:spPr>
        <p:txBody>
          <a:bodyPr wrap="square"/>
          <a:lstStyle/>
          <a:p>
            <a:pPr algn="l">
              <a:defRPr sz="900" b="0">
                <a:solidFill>
                  <a:srgbClr val="374151"/>
                </a:solidFill>
                <a:latin typeface="Calibri"/>
              </a:defRPr>
            </a:pPr>
            <a:r>
              <a:t>87%</a:t>
            </a:r>
          </a:p>
        </p:txBody>
      </p:sp>
      <p:sp>
        <p:nvSpPr>
          <p:cNvPr id="16" name="TextBox 15"/>
          <p:cNvSpPr txBox="1"/>
          <p:nvPr/>
        </p:nvSpPr>
        <p:spPr>
          <a:xfrm>
            <a:off x="3840480" y="2057400"/>
            <a:ext cx="1051560" cy="256032"/>
          </a:xfrm>
          <a:prstGeom prst="rect">
            <a:avLst/>
          </a:prstGeom>
          <a:noFill/>
        </p:spPr>
        <p:txBody>
          <a:bodyPr wrap="square"/>
          <a:lstStyle/>
          <a:p>
            <a:pPr algn="l">
              <a:defRPr sz="900" b="0">
                <a:solidFill>
                  <a:srgbClr val="374151"/>
                </a:solidFill>
                <a:latin typeface="Calibri"/>
              </a:defRPr>
            </a:pPr>
            <a:r>
              <a:t>3</a:t>
            </a:r>
          </a:p>
        </p:txBody>
      </p:sp>
      <p:sp>
        <p:nvSpPr>
          <p:cNvPr id="17" name="TextBox 16"/>
          <p:cNvSpPr txBox="1"/>
          <p:nvPr/>
        </p:nvSpPr>
        <p:spPr>
          <a:xfrm>
            <a:off x="4892040" y="2057400"/>
            <a:ext cx="1051560" cy="256032"/>
          </a:xfrm>
          <a:prstGeom prst="rect">
            <a:avLst/>
          </a:prstGeom>
          <a:noFill/>
        </p:spPr>
        <p:txBody>
          <a:bodyPr wrap="square"/>
          <a:lstStyle/>
          <a:p>
            <a:pPr algn="l">
              <a:defRPr sz="900" b="0">
                <a:solidFill>
                  <a:srgbClr val="374151"/>
                </a:solidFill>
                <a:latin typeface="Calibri"/>
              </a:defRPr>
            </a:pPr>
            <a:r>
              <a:t>$42</a:t>
            </a:r>
          </a:p>
        </p:txBody>
      </p:sp>
      <p:sp>
        <p:nvSpPr>
          <p:cNvPr id="18" name="TextBox 17"/>
          <p:cNvSpPr txBox="1"/>
          <p:nvPr/>
        </p:nvSpPr>
        <p:spPr>
          <a:xfrm>
            <a:off x="5943600" y="2057400"/>
            <a:ext cx="1051560" cy="256032"/>
          </a:xfrm>
          <a:prstGeom prst="rect">
            <a:avLst/>
          </a:prstGeom>
          <a:noFill/>
        </p:spPr>
        <p:txBody>
          <a:bodyPr wrap="square"/>
          <a:lstStyle/>
          <a:p>
            <a:pPr algn="l">
              <a:defRPr sz="900" b="0">
                <a:solidFill>
                  <a:srgbClr val="374151"/>
                </a:solidFill>
                <a:latin typeface="Calibri"/>
              </a:defRPr>
            </a:pPr>
            <a:r>
              <a:t>82.4%</a:t>
            </a:r>
          </a:p>
        </p:txBody>
      </p:sp>
      <p:sp>
        <p:nvSpPr>
          <p:cNvPr id="19" name="Rectangle 18"/>
          <p:cNvSpPr/>
          <p:nvPr/>
        </p:nvSpPr>
        <p:spPr>
          <a:xfrm>
            <a:off x="685800" y="2286000"/>
            <a:ext cx="630936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313432"/>
            <a:ext cx="1051560" cy="256032"/>
          </a:xfrm>
          <a:prstGeom prst="rect">
            <a:avLst/>
          </a:prstGeom>
          <a:noFill/>
        </p:spPr>
        <p:txBody>
          <a:bodyPr wrap="square"/>
          <a:lstStyle/>
          <a:p>
            <a:pPr algn="l">
              <a:defRPr sz="900" b="0">
                <a:solidFill>
                  <a:srgbClr val="374151"/>
                </a:solidFill>
                <a:latin typeface="Calibri"/>
              </a:defRPr>
            </a:pPr>
            <a:r>
              <a:t>Hybrid Ensemble</a:t>
            </a:r>
          </a:p>
        </p:txBody>
      </p:sp>
      <p:sp>
        <p:nvSpPr>
          <p:cNvPr id="21" name="TextBox 20"/>
          <p:cNvSpPr txBox="1"/>
          <p:nvPr/>
        </p:nvSpPr>
        <p:spPr>
          <a:xfrm>
            <a:off x="1737360" y="2313432"/>
            <a:ext cx="1051560" cy="256032"/>
          </a:xfrm>
          <a:prstGeom prst="rect">
            <a:avLst/>
          </a:prstGeom>
          <a:noFill/>
        </p:spPr>
        <p:txBody>
          <a:bodyPr wrap="square"/>
          <a:lstStyle/>
          <a:p>
            <a:pPr algn="l">
              <a:defRPr sz="900" b="0">
                <a:solidFill>
                  <a:srgbClr val="374151"/>
                </a:solidFill>
                <a:latin typeface="Calibri"/>
              </a:defRPr>
            </a:pPr>
            <a:r>
              <a:t>$51.0K</a:t>
            </a:r>
          </a:p>
        </p:txBody>
      </p:sp>
      <p:sp>
        <p:nvSpPr>
          <p:cNvPr id="22" name="TextBox 21"/>
          <p:cNvSpPr txBox="1"/>
          <p:nvPr/>
        </p:nvSpPr>
        <p:spPr>
          <a:xfrm>
            <a:off x="2788920" y="2313432"/>
            <a:ext cx="1051560" cy="256032"/>
          </a:xfrm>
          <a:prstGeom prst="rect">
            <a:avLst/>
          </a:prstGeom>
          <a:noFill/>
        </p:spPr>
        <p:txBody>
          <a:bodyPr wrap="square"/>
          <a:lstStyle/>
          <a:p>
            <a:pPr algn="l">
              <a:defRPr sz="900" b="0">
                <a:solidFill>
                  <a:srgbClr val="374151"/>
                </a:solidFill>
                <a:latin typeface="Calibri"/>
              </a:defRPr>
            </a:pPr>
            <a:r>
              <a:t>83%</a:t>
            </a:r>
          </a:p>
        </p:txBody>
      </p:sp>
      <p:sp>
        <p:nvSpPr>
          <p:cNvPr id="23" name="TextBox 22"/>
          <p:cNvSpPr txBox="1"/>
          <p:nvPr/>
        </p:nvSpPr>
        <p:spPr>
          <a:xfrm>
            <a:off x="3840480" y="2313432"/>
            <a:ext cx="1051560" cy="256032"/>
          </a:xfrm>
          <a:prstGeom prst="rect">
            <a:avLst/>
          </a:prstGeom>
          <a:noFill/>
        </p:spPr>
        <p:txBody>
          <a:bodyPr wrap="square"/>
          <a:lstStyle/>
          <a:p>
            <a:pPr algn="l">
              <a:defRPr sz="900" b="0">
                <a:solidFill>
                  <a:srgbClr val="374151"/>
                </a:solidFill>
                <a:latin typeface="Calibri"/>
              </a:defRPr>
            </a:pPr>
            <a:r>
              <a:t>5</a:t>
            </a:r>
          </a:p>
        </p:txBody>
      </p:sp>
      <p:sp>
        <p:nvSpPr>
          <p:cNvPr id="24" name="TextBox 23"/>
          <p:cNvSpPr txBox="1"/>
          <p:nvPr/>
        </p:nvSpPr>
        <p:spPr>
          <a:xfrm>
            <a:off x="4892040" y="2313432"/>
            <a:ext cx="1051560" cy="256032"/>
          </a:xfrm>
          <a:prstGeom prst="rect">
            <a:avLst/>
          </a:prstGeom>
          <a:noFill/>
        </p:spPr>
        <p:txBody>
          <a:bodyPr wrap="square"/>
          <a:lstStyle/>
          <a:p>
            <a:pPr algn="l">
              <a:defRPr sz="900" b="0">
                <a:solidFill>
                  <a:srgbClr val="374151"/>
                </a:solidFill>
                <a:latin typeface="Calibri"/>
              </a:defRPr>
            </a:pPr>
            <a:r>
              <a:t>$38</a:t>
            </a:r>
          </a:p>
        </p:txBody>
      </p:sp>
      <p:sp>
        <p:nvSpPr>
          <p:cNvPr id="25" name="TextBox 24"/>
          <p:cNvSpPr txBox="1"/>
          <p:nvPr/>
        </p:nvSpPr>
        <p:spPr>
          <a:xfrm>
            <a:off x="5943600" y="2313432"/>
            <a:ext cx="1051560" cy="256032"/>
          </a:xfrm>
          <a:prstGeom prst="rect">
            <a:avLst/>
          </a:prstGeom>
          <a:noFill/>
        </p:spPr>
        <p:txBody>
          <a:bodyPr wrap="square"/>
          <a:lstStyle/>
          <a:p>
            <a:pPr algn="l">
              <a:defRPr sz="900" b="0">
                <a:solidFill>
                  <a:srgbClr val="374151"/>
                </a:solidFill>
                <a:latin typeface="Calibri"/>
              </a:defRPr>
            </a:pPr>
            <a:r>
              <a:t>79.1%</a:t>
            </a:r>
          </a:p>
        </p:txBody>
      </p:sp>
      <p:sp>
        <p:nvSpPr>
          <p:cNvPr id="26" name="Rectangle 25"/>
          <p:cNvSpPr/>
          <p:nvPr/>
        </p:nvSpPr>
        <p:spPr>
          <a:xfrm>
            <a:off x="685800" y="2542032"/>
            <a:ext cx="630936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569464"/>
            <a:ext cx="1051560" cy="256032"/>
          </a:xfrm>
          <a:prstGeom prst="rect">
            <a:avLst/>
          </a:prstGeom>
          <a:noFill/>
        </p:spPr>
        <p:txBody>
          <a:bodyPr wrap="square"/>
          <a:lstStyle/>
          <a:p>
            <a:pPr algn="l">
              <a:defRPr sz="900" b="0">
                <a:solidFill>
                  <a:srgbClr val="374151"/>
                </a:solidFill>
                <a:latin typeface="Calibri"/>
              </a:defRPr>
            </a:pPr>
            <a:r>
              <a:t>GBDT Ranker</a:t>
            </a:r>
          </a:p>
        </p:txBody>
      </p:sp>
      <p:sp>
        <p:nvSpPr>
          <p:cNvPr id="28" name="TextBox 27"/>
          <p:cNvSpPr txBox="1"/>
          <p:nvPr/>
        </p:nvSpPr>
        <p:spPr>
          <a:xfrm>
            <a:off x="1737360" y="2569464"/>
            <a:ext cx="1051560" cy="256032"/>
          </a:xfrm>
          <a:prstGeom prst="rect">
            <a:avLst/>
          </a:prstGeom>
          <a:noFill/>
        </p:spPr>
        <p:txBody>
          <a:bodyPr wrap="square"/>
          <a:lstStyle/>
          <a:p>
            <a:pPr algn="l">
              <a:defRPr sz="900" b="0">
                <a:solidFill>
                  <a:srgbClr val="374151"/>
                </a:solidFill>
                <a:latin typeface="Calibri"/>
              </a:defRPr>
            </a:pPr>
            <a:r>
              <a:t>$45.8K</a:t>
            </a:r>
          </a:p>
        </p:txBody>
      </p:sp>
      <p:sp>
        <p:nvSpPr>
          <p:cNvPr id="29" name="TextBox 28"/>
          <p:cNvSpPr txBox="1"/>
          <p:nvPr/>
        </p:nvSpPr>
        <p:spPr>
          <a:xfrm>
            <a:off x="2788920" y="2569464"/>
            <a:ext cx="1051560" cy="256032"/>
          </a:xfrm>
          <a:prstGeom prst="rect">
            <a:avLst/>
          </a:prstGeom>
          <a:noFill/>
        </p:spPr>
        <p:txBody>
          <a:bodyPr wrap="square"/>
          <a:lstStyle/>
          <a:p>
            <a:pPr algn="l">
              <a:defRPr sz="900" b="0">
                <a:solidFill>
                  <a:srgbClr val="374151"/>
                </a:solidFill>
                <a:latin typeface="Calibri"/>
              </a:defRPr>
            </a:pPr>
            <a:r>
              <a:t>85%</a:t>
            </a:r>
          </a:p>
        </p:txBody>
      </p:sp>
      <p:sp>
        <p:nvSpPr>
          <p:cNvPr id="30" name="TextBox 29"/>
          <p:cNvSpPr txBox="1"/>
          <p:nvPr/>
        </p:nvSpPr>
        <p:spPr>
          <a:xfrm>
            <a:off x="3840480" y="2569464"/>
            <a:ext cx="1051560" cy="256032"/>
          </a:xfrm>
          <a:prstGeom prst="rect">
            <a:avLst/>
          </a:prstGeom>
          <a:noFill/>
        </p:spPr>
        <p:txBody>
          <a:bodyPr wrap="square"/>
          <a:lstStyle/>
          <a:p>
            <a:pPr algn="l">
              <a:defRPr sz="900" b="0">
                <a:solidFill>
                  <a:srgbClr val="374151"/>
                </a:solidFill>
                <a:latin typeface="Calibri"/>
              </a:defRPr>
            </a:pPr>
            <a:r>
              <a:t>4</a:t>
            </a:r>
          </a:p>
        </p:txBody>
      </p:sp>
      <p:sp>
        <p:nvSpPr>
          <p:cNvPr id="31" name="TextBox 30"/>
          <p:cNvSpPr txBox="1"/>
          <p:nvPr/>
        </p:nvSpPr>
        <p:spPr>
          <a:xfrm>
            <a:off x="4892040" y="2569464"/>
            <a:ext cx="1051560" cy="256032"/>
          </a:xfrm>
          <a:prstGeom prst="rect">
            <a:avLst/>
          </a:prstGeom>
          <a:noFill/>
        </p:spPr>
        <p:txBody>
          <a:bodyPr wrap="square"/>
          <a:lstStyle/>
          <a:p>
            <a:pPr algn="l">
              <a:defRPr sz="900" b="0">
                <a:solidFill>
                  <a:srgbClr val="374151"/>
                </a:solidFill>
                <a:latin typeface="Calibri"/>
              </a:defRPr>
            </a:pPr>
            <a:r>
              <a:t>$44</a:t>
            </a:r>
          </a:p>
        </p:txBody>
      </p:sp>
      <p:sp>
        <p:nvSpPr>
          <p:cNvPr id="32" name="TextBox 31"/>
          <p:cNvSpPr txBox="1"/>
          <p:nvPr/>
        </p:nvSpPr>
        <p:spPr>
          <a:xfrm>
            <a:off x="5943600" y="2569464"/>
            <a:ext cx="1051560" cy="256032"/>
          </a:xfrm>
          <a:prstGeom prst="rect">
            <a:avLst/>
          </a:prstGeom>
          <a:noFill/>
        </p:spPr>
        <p:txBody>
          <a:bodyPr wrap="square"/>
          <a:lstStyle/>
          <a:p>
            <a:pPr algn="l">
              <a:defRPr sz="900" b="0">
                <a:solidFill>
                  <a:srgbClr val="374151"/>
                </a:solidFill>
                <a:latin typeface="Calibri"/>
              </a:defRPr>
            </a:pPr>
            <a:r>
              <a:t>76.3%</a:t>
            </a:r>
          </a:p>
        </p:txBody>
      </p:sp>
      <p:sp>
        <p:nvSpPr>
          <p:cNvPr id="33" name="Rectangle 32"/>
          <p:cNvSpPr/>
          <p:nvPr/>
        </p:nvSpPr>
        <p:spPr>
          <a:xfrm>
            <a:off x="685800" y="2798064"/>
            <a:ext cx="630936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2825496"/>
            <a:ext cx="1051560" cy="256032"/>
          </a:xfrm>
          <a:prstGeom prst="rect">
            <a:avLst/>
          </a:prstGeom>
          <a:noFill/>
        </p:spPr>
        <p:txBody>
          <a:bodyPr wrap="square"/>
          <a:lstStyle/>
          <a:p>
            <a:pPr algn="l">
              <a:defRPr sz="900" b="0">
                <a:solidFill>
                  <a:srgbClr val="374151"/>
                </a:solidFill>
                <a:latin typeface="Calibri"/>
              </a:defRPr>
            </a:pPr>
            <a:r>
              <a:t>DLRM Deep Model</a:t>
            </a:r>
          </a:p>
        </p:txBody>
      </p:sp>
      <p:sp>
        <p:nvSpPr>
          <p:cNvPr id="35" name="TextBox 34"/>
          <p:cNvSpPr txBox="1"/>
          <p:nvPr/>
        </p:nvSpPr>
        <p:spPr>
          <a:xfrm>
            <a:off x="1737360" y="2825496"/>
            <a:ext cx="1051560" cy="256032"/>
          </a:xfrm>
          <a:prstGeom prst="rect">
            <a:avLst/>
          </a:prstGeom>
          <a:noFill/>
        </p:spPr>
        <p:txBody>
          <a:bodyPr wrap="square"/>
          <a:lstStyle/>
          <a:p>
            <a:pPr algn="l">
              <a:defRPr sz="900" b="0">
                <a:solidFill>
                  <a:srgbClr val="374151"/>
                </a:solidFill>
                <a:latin typeface="Calibri"/>
              </a:defRPr>
            </a:pPr>
            <a:r>
              <a:t>$52.1K</a:t>
            </a:r>
          </a:p>
        </p:txBody>
      </p:sp>
      <p:sp>
        <p:nvSpPr>
          <p:cNvPr id="36" name="TextBox 35"/>
          <p:cNvSpPr txBox="1"/>
          <p:nvPr/>
        </p:nvSpPr>
        <p:spPr>
          <a:xfrm>
            <a:off x="2788920" y="2825496"/>
            <a:ext cx="1051560" cy="256032"/>
          </a:xfrm>
          <a:prstGeom prst="rect">
            <a:avLst/>
          </a:prstGeom>
          <a:noFill/>
        </p:spPr>
        <p:txBody>
          <a:bodyPr wrap="square"/>
          <a:lstStyle/>
          <a:p>
            <a:pPr algn="l">
              <a:defRPr sz="900" b="0">
                <a:solidFill>
                  <a:srgbClr val="374151"/>
                </a:solidFill>
                <a:latin typeface="Calibri"/>
              </a:defRPr>
            </a:pPr>
            <a:r>
              <a:t>78%</a:t>
            </a:r>
          </a:p>
        </p:txBody>
      </p:sp>
      <p:sp>
        <p:nvSpPr>
          <p:cNvPr id="37" name="TextBox 36"/>
          <p:cNvSpPr txBox="1"/>
          <p:nvPr/>
        </p:nvSpPr>
        <p:spPr>
          <a:xfrm>
            <a:off x="3840480" y="2825496"/>
            <a:ext cx="1051560" cy="256032"/>
          </a:xfrm>
          <a:prstGeom prst="rect">
            <a:avLst/>
          </a:prstGeom>
          <a:noFill/>
        </p:spPr>
        <p:txBody>
          <a:bodyPr wrap="square"/>
          <a:lstStyle/>
          <a:p>
            <a:pPr algn="l">
              <a:defRPr sz="900" b="0">
                <a:solidFill>
                  <a:srgbClr val="374151"/>
                </a:solidFill>
                <a:latin typeface="Calibri"/>
              </a:defRPr>
            </a:pPr>
            <a:r>
              <a:t>7</a:t>
            </a:r>
          </a:p>
        </p:txBody>
      </p:sp>
      <p:sp>
        <p:nvSpPr>
          <p:cNvPr id="38" name="TextBox 37"/>
          <p:cNvSpPr txBox="1"/>
          <p:nvPr/>
        </p:nvSpPr>
        <p:spPr>
          <a:xfrm>
            <a:off x="4892040" y="2825496"/>
            <a:ext cx="1051560" cy="256032"/>
          </a:xfrm>
          <a:prstGeom prst="rect">
            <a:avLst/>
          </a:prstGeom>
          <a:noFill/>
        </p:spPr>
        <p:txBody>
          <a:bodyPr wrap="square"/>
          <a:lstStyle/>
          <a:p>
            <a:pPr algn="l">
              <a:defRPr sz="900" b="0">
                <a:solidFill>
                  <a:srgbClr val="374151"/>
                </a:solidFill>
                <a:latin typeface="Calibri"/>
              </a:defRPr>
            </a:pPr>
            <a:r>
              <a:t>$36</a:t>
            </a:r>
          </a:p>
        </p:txBody>
      </p:sp>
      <p:sp>
        <p:nvSpPr>
          <p:cNvPr id="39" name="TextBox 38"/>
          <p:cNvSpPr txBox="1"/>
          <p:nvPr/>
        </p:nvSpPr>
        <p:spPr>
          <a:xfrm>
            <a:off x="5943600" y="2825496"/>
            <a:ext cx="1051560" cy="256032"/>
          </a:xfrm>
          <a:prstGeom prst="rect">
            <a:avLst/>
          </a:prstGeom>
          <a:noFill/>
        </p:spPr>
        <p:txBody>
          <a:bodyPr wrap="square"/>
          <a:lstStyle/>
          <a:p>
            <a:pPr algn="l">
              <a:defRPr sz="900" b="0">
                <a:solidFill>
                  <a:srgbClr val="374151"/>
                </a:solidFill>
                <a:latin typeface="Calibri"/>
              </a:defRPr>
            </a:pPr>
            <a:r>
              <a:t>73.8%</a:t>
            </a:r>
          </a:p>
        </p:txBody>
      </p:sp>
      <p:sp>
        <p:nvSpPr>
          <p:cNvPr id="40" name="Rectangle 39"/>
          <p:cNvSpPr/>
          <p:nvPr/>
        </p:nvSpPr>
        <p:spPr>
          <a:xfrm>
            <a:off x="685800" y="3054096"/>
            <a:ext cx="630936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3081528"/>
            <a:ext cx="1051560" cy="256032"/>
          </a:xfrm>
          <a:prstGeom prst="rect">
            <a:avLst/>
          </a:prstGeom>
          <a:noFill/>
        </p:spPr>
        <p:txBody>
          <a:bodyPr wrap="square"/>
          <a:lstStyle/>
          <a:p>
            <a:pPr algn="l">
              <a:defRPr sz="900" b="0">
                <a:solidFill>
                  <a:srgbClr val="374151"/>
                </a:solidFill>
                <a:latin typeface="Calibri"/>
              </a:defRPr>
            </a:pPr>
            <a:r>
              <a:t>Contextual Bandit</a:t>
            </a:r>
          </a:p>
        </p:txBody>
      </p:sp>
      <p:sp>
        <p:nvSpPr>
          <p:cNvPr id="42" name="TextBox 41"/>
          <p:cNvSpPr txBox="1"/>
          <p:nvPr/>
        </p:nvSpPr>
        <p:spPr>
          <a:xfrm>
            <a:off x="1737360" y="3081528"/>
            <a:ext cx="1051560" cy="256032"/>
          </a:xfrm>
          <a:prstGeom prst="rect">
            <a:avLst/>
          </a:prstGeom>
          <a:noFill/>
        </p:spPr>
        <p:txBody>
          <a:bodyPr wrap="square"/>
          <a:lstStyle/>
          <a:p>
            <a:pPr algn="l">
              <a:defRPr sz="900" b="0">
                <a:solidFill>
                  <a:srgbClr val="374151"/>
                </a:solidFill>
                <a:latin typeface="Calibri"/>
              </a:defRPr>
            </a:pPr>
            <a:r>
              <a:t>$38.4K</a:t>
            </a:r>
          </a:p>
        </p:txBody>
      </p:sp>
      <p:sp>
        <p:nvSpPr>
          <p:cNvPr id="43" name="TextBox 42"/>
          <p:cNvSpPr txBox="1"/>
          <p:nvPr/>
        </p:nvSpPr>
        <p:spPr>
          <a:xfrm>
            <a:off x="2788920" y="3081528"/>
            <a:ext cx="1051560" cy="256032"/>
          </a:xfrm>
          <a:prstGeom prst="rect">
            <a:avLst/>
          </a:prstGeom>
          <a:noFill/>
        </p:spPr>
        <p:txBody>
          <a:bodyPr wrap="square"/>
          <a:lstStyle/>
          <a:p>
            <a:pPr algn="l">
              <a:defRPr sz="900" b="0">
                <a:solidFill>
                  <a:srgbClr val="374151"/>
                </a:solidFill>
                <a:latin typeface="Calibri"/>
              </a:defRPr>
            </a:pPr>
            <a:r>
              <a:t>81%</a:t>
            </a:r>
          </a:p>
        </p:txBody>
      </p:sp>
      <p:sp>
        <p:nvSpPr>
          <p:cNvPr id="44" name="TextBox 43"/>
          <p:cNvSpPr txBox="1"/>
          <p:nvPr/>
        </p:nvSpPr>
        <p:spPr>
          <a:xfrm>
            <a:off x="3840480" y="3081528"/>
            <a:ext cx="1051560" cy="256032"/>
          </a:xfrm>
          <a:prstGeom prst="rect">
            <a:avLst/>
          </a:prstGeom>
          <a:noFill/>
        </p:spPr>
        <p:txBody>
          <a:bodyPr wrap="square"/>
          <a:lstStyle/>
          <a:p>
            <a:pPr algn="l">
              <a:defRPr sz="900" b="0">
                <a:solidFill>
                  <a:srgbClr val="374151"/>
                </a:solidFill>
                <a:latin typeface="Calibri"/>
              </a:defRPr>
            </a:pPr>
            <a:r>
              <a:t>6</a:t>
            </a:r>
          </a:p>
        </p:txBody>
      </p:sp>
      <p:sp>
        <p:nvSpPr>
          <p:cNvPr id="45" name="TextBox 44"/>
          <p:cNvSpPr txBox="1"/>
          <p:nvPr/>
        </p:nvSpPr>
        <p:spPr>
          <a:xfrm>
            <a:off x="4892040" y="3081528"/>
            <a:ext cx="1051560" cy="256032"/>
          </a:xfrm>
          <a:prstGeom prst="rect">
            <a:avLst/>
          </a:prstGeom>
          <a:noFill/>
        </p:spPr>
        <p:txBody>
          <a:bodyPr wrap="square"/>
          <a:lstStyle/>
          <a:p>
            <a:pPr algn="l">
              <a:defRPr sz="900" b="0">
                <a:solidFill>
                  <a:srgbClr val="374151"/>
                </a:solidFill>
                <a:latin typeface="Calibri"/>
              </a:defRPr>
            </a:pPr>
            <a:r>
              <a:t>$51</a:t>
            </a:r>
          </a:p>
        </p:txBody>
      </p:sp>
      <p:sp>
        <p:nvSpPr>
          <p:cNvPr id="46" name="TextBox 45"/>
          <p:cNvSpPr txBox="1"/>
          <p:nvPr/>
        </p:nvSpPr>
        <p:spPr>
          <a:xfrm>
            <a:off x="5943600" y="3081528"/>
            <a:ext cx="1051560" cy="256032"/>
          </a:xfrm>
          <a:prstGeom prst="rect">
            <a:avLst/>
          </a:prstGeom>
          <a:noFill/>
        </p:spPr>
        <p:txBody>
          <a:bodyPr wrap="square"/>
          <a:lstStyle/>
          <a:p>
            <a:pPr algn="l">
              <a:defRPr sz="900" b="0">
                <a:solidFill>
                  <a:srgbClr val="374151"/>
                </a:solidFill>
                <a:latin typeface="Calibri"/>
              </a:defRPr>
            </a:pPr>
            <a:r>
              <a:t>68.5%</a:t>
            </a:r>
          </a:p>
        </p:txBody>
      </p:sp>
      <p:sp>
        <p:nvSpPr>
          <p:cNvPr id="47" name="Rectangle 46"/>
          <p:cNvSpPr/>
          <p:nvPr/>
        </p:nvSpPr>
        <p:spPr>
          <a:xfrm>
            <a:off x="685800" y="3310128"/>
            <a:ext cx="630936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 y="3337560"/>
            <a:ext cx="1051560" cy="256032"/>
          </a:xfrm>
          <a:prstGeom prst="rect">
            <a:avLst/>
          </a:prstGeom>
          <a:noFill/>
        </p:spPr>
        <p:txBody>
          <a:bodyPr wrap="square"/>
          <a:lstStyle/>
          <a:p>
            <a:pPr algn="l">
              <a:defRPr sz="900" b="0">
                <a:solidFill>
                  <a:srgbClr val="374151"/>
                </a:solidFill>
                <a:latin typeface="Calibri"/>
              </a:defRPr>
            </a:pPr>
            <a:r>
              <a:t>Two-Tower (ANN)</a:t>
            </a:r>
          </a:p>
        </p:txBody>
      </p:sp>
      <p:sp>
        <p:nvSpPr>
          <p:cNvPr id="49" name="TextBox 48"/>
          <p:cNvSpPr txBox="1"/>
          <p:nvPr/>
        </p:nvSpPr>
        <p:spPr>
          <a:xfrm>
            <a:off x="1737360" y="3337560"/>
            <a:ext cx="1051560" cy="256032"/>
          </a:xfrm>
          <a:prstGeom prst="rect">
            <a:avLst/>
          </a:prstGeom>
          <a:noFill/>
        </p:spPr>
        <p:txBody>
          <a:bodyPr wrap="square"/>
          <a:lstStyle/>
          <a:p>
            <a:pPr algn="l">
              <a:defRPr sz="900" b="0">
                <a:solidFill>
                  <a:srgbClr val="374151"/>
                </a:solidFill>
                <a:latin typeface="Calibri"/>
              </a:defRPr>
            </a:pPr>
            <a:r>
              <a:t>$35.9K</a:t>
            </a:r>
          </a:p>
        </p:txBody>
      </p:sp>
      <p:sp>
        <p:nvSpPr>
          <p:cNvPr id="50" name="TextBox 49"/>
          <p:cNvSpPr txBox="1"/>
          <p:nvPr/>
        </p:nvSpPr>
        <p:spPr>
          <a:xfrm>
            <a:off x="2788920" y="3337560"/>
            <a:ext cx="1051560" cy="256032"/>
          </a:xfrm>
          <a:prstGeom prst="rect">
            <a:avLst/>
          </a:prstGeom>
          <a:noFill/>
        </p:spPr>
        <p:txBody>
          <a:bodyPr wrap="square"/>
          <a:lstStyle/>
          <a:p>
            <a:pPr algn="l">
              <a:defRPr sz="900" b="0">
                <a:solidFill>
                  <a:srgbClr val="374151"/>
                </a:solidFill>
                <a:latin typeface="Calibri"/>
              </a:defRPr>
            </a:pPr>
            <a:r>
              <a:t>79%</a:t>
            </a:r>
          </a:p>
        </p:txBody>
      </p:sp>
      <p:sp>
        <p:nvSpPr>
          <p:cNvPr id="51" name="TextBox 50"/>
          <p:cNvSpPr txBox="1"/>
          <p:nvPr/>
        </p:nvSpPr>
        <p:spPr>
          <a:xfrm>
            <a:off x="3840480" y="3337560"/>
            <a:ext cx="1051560" cy="256032"/>
          </a:xfrm>
          <a:prstGeom prst="rect">
            <a:avLst/>
          </a:prstGeom>
          <a:noFill/>
        </p:spPr>
        <p:txBody>
          <a:bodyPr wrap="square"/>
          <a:lstStyle/>
          <a:p>
            <a:pPr algn="l">
              <a:defRPr sz="900" b="0">
                <a:solidFill>
                  <a:srgbClr val="374151"/>
                </a:solidFill>
                <a:latin typeface="Calibri"/>
              </a:defRPr>
            </a:pPr>
            <a:r>
              <a:t>8</a:t>
            </a:r>
          </a:p>
        </p:txBody>
      </p:sp>
      <p:sp>
        <p:nvSpPr>
          <p:cNvPr id="52" name="TextBox 51"/>
          <p:cNvSpPr txBox="1"/>
          <p:nvPr/>
        </p:nvSpPr>
        <p:spPr>
          <a:xfrm>
            <a:off x="4892040" y="3337560"/>
            <a:ext cx="1051560" cy="256032"/>
          </a:xfrm>
          <a:prstGeom prst="rect">
            <a:avLst/>
          </a:prstGeom>
          <a:noFill/>
        </p:spPr>
        <p:txBody>
          <a:bodyPr wrap="square"/>
          <a:lstStyle/>
          <a:p>
            <a:pPr algn="l">
              <a:defRPr sz="900" b="0">
                <a:solidFill>
                  <a:srgbClr val="374151"/>
                </a:solidFill>
                <a:latin typeface="Calibri"/>
              </a:defRPr>
            </a:pPr>
            <a:r>
              <a:t>$55</a:t>
            </a:r>
          </a:p>
        </p:txBody>
      </p:sp>
      <p:sp>
        <p:nvSpPr>
          <p:cNvPr id="53" name="TextBox 52"/>
          <p:cNvSpPr txBox="1"/>
          <p:nvPr/>
        </p:nvSpPr>
        <p:spPr>
          <a:xfrm>
            <a:off x="5943600" y="3337560"/>
            <a:ext cx="1051560" cy="256032"/>
          </a:xfrm>
          <a:prstGeom prst="rect">
            <a:avLst/>
          </a:prstGeom>
          <a:noFill/>
        </p:spPr>
        <p:txBody>
          <a:bodyPr wrap="square"/>
          <a:lstStyle/>
          <a:p>
            <a:pPr algn="l">
              <a:defRPr sz="900" b="0">
                <a:solidFill>
                  <a:srgbClr val="374151"/>
                </a:solidFill>
                <a:latin typeface="Calibri"/>
              </a:defRPr>
            </a:pPr>
            <a:r>
              <a:t>62.1%</a:t>
            </a:r>
          </a:p>
        </p:txBody>
      </p:sp>
      <p:sp>
        <p:nvSpPr>
          <p:cNvPr id="54" name="Rectangle 53"/>
          <p:cNvSpPr/>
          <p:nvPr/>
        </p:nvSpPr>
        <p:spPr>
          <a:xfrm>
            <a:off x="685800" y="3566160"/>
            <a:ext cx="6309360" cy="45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498079" y="1371600"/>
            <a:ext cx="411480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80960" y="1463040"/>
            <a:ext cx="3657600" cy="274320"/>
          </a:xfrm>
          <a:prstGeom prst="rect">
            <a:avLst/>
          </a:prstGeom>
          <a:noFill/>
        </p:spPr>
        <p:txBody>
          <a:bodyPr wrap="square"/>
          <a:lstStyle/>
          <a:p>
            <a:pPr algn="l">
              <a:defRPr sz="1200" b="1">
                <a:solidFill>
                  <a:srgbClr val="111827"/>
                </a:solidFill>
                <a:latin typeface="Calibri"/>
              </a:defRPr>
            </a:pPr>
            <a:r>
              <a:t>Finance Sub-Verticals</a:t>
            </a:r>
          </a:p>
        </p:txBody>
      </p:sp>
      <p:sp>
        <p:nvSpPr>
          <p:cNvPr id="57" name="Rectangle 56"/>
          <p:cNvSpPr/>
          <p:nvPr/>
        </p:nvSpPr>
        <p:spPr>
          <a:xfrm>
            <a:off x="7680960" y="1920240"/>
            <a:ext cx="54864" cy="320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63840" y="1920240"/>
            <a:ext cx="1828800" cy="182880"/>
          </a:xfrm>
          <a:prstGeom prst="rect">
            <a:avLst/>
          </a:prstGeom>
          <a:noFill/>
        </p:spPr>
        <p:txBody>
          <a:bodyPr wrap="square"/>
          <a:lstStyle/>
          <a:p>
            <a:pPr algn="l">
              <a:defRPr sz="1000" b="1">
                <a:solidFill>
                  <a:srgbClr val="1D4ED8"/>
                </a:solidFill>
                <a:latin typeface="Calibri"/>
              </a:defRPr>
            </a:pPr>
            <a:r>
              <a:t>Credit Cards</a:t>
            </a:r>
          </a:p>
        </p:txBody>
      </p:sp>
      <p:sp>
        <p:nvSpPr>
          <p:cNvPr id="59" name="TextBox 58"/>
          <p:cNvSpPr txBox="1"/>
          <p:nvPr/>
        </p:nvSpPr>
        <p:spPr>
          <a:xfrm>
            <a:off x="7863840" y="2103120"/>
            <a:ext cx="3474720" cy="182880"/>
          </a:xfrm>
          <a:prstGeom prst="rect">
            <a:avLst/>
          </a:prstGeom>
          <a:noFill/>
        </p:spPr>
        <p:txBody>
          <a:bodyPr wrap="square"/>
          <a:lstStyle/>
          <a:p>
            <a:pPr algn="l">
              <a:defRPr sz="800" b="0">
                <a:solidFill>
                  <a:srgbClr val="6B7280"/>
                </a:solidFill>
                <a:latin typeface="Calibri"/>
              </a:defRPr>
            </a:pPr>
            <a:r>
              <a:t>Trust: 85% · Reg Risk: 40% · Window: 21d</a:t>
            </a:r>
          </a:p>
        </p:txBody>
      </p:sp>
      <p:sp>
        <p:nvSpPr>
          <p:cNvPr id="60" name="Rectangle 59"/>
          <p:cNvSpPr/>
          <p:nvPr/>
        </p:nvSpPr>
        <p:spPr>
          <a:xfrm>
            <a:off x="7680960" y="2377440"/>
            <a:ext cx="54864"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863840" y="2377440"/>
            <a:ext cx="1828800" cy="182880"/>
          </a:xfrm>
          <a:prstGeom prst="rect">
            <a:avLst/>
          </a:prstGeom>
          <a:noFill/>
        </p:spPr>
        <p:txBody>
          <a:bodyPr wrap="square"/>
          <a:lstStyle/>
          <a:p>
            <a:pPr algn="l">
              <a:defRPr sz="1000" b="1">
                <a:solidFill>
                  <a:srgbClr val="0891B2"/>
                </a:solidFill>
                <a:latin typeface="Calibri"/>
              </a:defRPr>
            </a:pPr>
            <a:r>
              <a:t>Personal Loans</a:t>
            </a:r>
          </a:p>
        </p:txBody>
      </p:sp>
      <p:sp>
        <p:nvSpPr>
          <p:cNvPr id="62" name="TextBox 61"/>
          <p:cNvSpPr txBox="1"/>
          <p:nvPr/>
        </p:nvSpPr>
        <p:spPr>
          <a:xfrm>
            <a:off x="7863840" y="2560320"/>
            <a:ext cx="3474720" cy="182880"/>
          </a:xfrm>
          <a:prstGeom prst="rect">
            <a:avLst/>
          </a:prstGeom>
          <a:noFill/>
        </p:spPr>
        <p:txBody>
          <a:bodyPr wrap="square"/>
          <a:lstStyle/>
          <a:p>
            <a:pPr algn="l">
              <a:defRPr sz="800" b="0">
                <a:solidFill>
                  <a:srgbClr val="6B7280"/>
                </a:solidFill>
                <a:latin typeface="Calibri"/>
              </a:defRPr>
            </a:pPr>
            <a:r>
              <a:t>Trust: 90% · Reg Risk: 55% · Window: 30d</a:t>
            </a:r>
          </a:p>
        </p:txBody>
      </p:sp>
      <p:sp>
        <p:nvSpPr>
          <p:cNvPr id="63" name="Rectangle 62"/>
          <p:cNvSpPr/>
          <p:nvPr/>
        </p:nvSpPr>
        <p:spPr>
          <a:xfrm>
            <a:off x="7680960" y="2834640"/>
            <a:ext cx="54864" cy="3200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63840" y="2834640"/>
            <a:ext cx="1828800" cy="182880"/>
          </a:xfrm>
          <a:prstGeom prst="rect">
            <a:avLst/>
          </a:prstGeom>
          <a:noFill/>
        </p:spPr>
        <p:txBody>
          <a:bodyPr wrap="square"/>
          <a:lstStyle/>
          <a:p>
            <a:pPr algn="l">
              <a:defRPr sz="1000" b="1">
                <a:solidFill>
                  <a:srgbClr val="16A34A"/>
                </a:solidFill>
                <a:latin typeface="Calibri"/>
              </a:defRPr>
            </a:pPr>
            <a:r>
              <a:t>Insurance</a:t>
            </a:r>
          </a:p>
        </p:txBody>
      </p:sp>
      <p:sp>
        <p:nvSpPr>
          <p:cNvPr id="65" name="TextBox 64"/>
          <p:cNvSpPr txBox="1"/>
          <p:nvPr/>
        </p:nvSpPr>
        <p:spPr>
          <a:xfrm>
            <a:off x="7863840" y="3017520"/>
            <a:ext cx="3474720" cy="182880"/>
          </a:xfrm>
          <a:prstGeom prst="rect">
            <a:avLst/>
          </a:prstGeom>
          <a:noFill/>
        </p:spPr>
        <p:txBody>
          <a:bodyPr wrap="square"/>
          <a:lstStyle/>
          <a:p>
            <a:pPr algn="l">
              <a:defRPr sz="800" b="0">
                <a:solidFill>
                  <a:srgbClr val="6B7280"/>
                </a:solidFill>
                <a:latin typeface="Calibri"/>
              </a:defRPr>
            </a:pPr>
            <a:r>
              <a:t>Trust: 80% · Reg Risk: 45% · Window: 14d</a:t>
            </a:r>
          </a:p>
        </p:txBody>
      </p:sp>
      <p:sp>
        <p:nvSpPr>
          <p:cNvPr id="66" name="Rectangle 65"/>
          <p:cNvSpPr/>
          <p:nvPr/>
        </p:nvSpPr>
        <p:spPr>
          <a:xfrm>
            <a:off x="7680960" y="3291840"/>
            <a:ext cx="54864"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863840" y="3291840"/>
            <a:ext cx="1828800" cy="182880"/>
          </a:xfrm>
          <a:prstGeom prst="rect">
            <a:avLst/>
          </a:prstGeom>
          <a:noFill/>
        </p:spPr>
        <p:txBody>
          <a:bodyPr wrap="square"/>
          <a:lstStyle/>
          <a:p>
            <a:pPr algn="l">
              <a:defRPr sz="1000" b="1">
                <a:solidFill>
                  <a:srgbClr val="7C3AED"/>
                </a:solidFill>
                <a:latin typeface="Calibri"/>
              </a:defRPr>
            </a:pPr>
            <a:r>
              <a:t>Investment Platforms</a:t>
            </a:r>
          </a:p>
        </p:txBody>
      </p:sp>
      <p:sp>
        <p:nvSpPr>
          <p:cNvPr id="68" name="TextBox 67"/>
          <p:cNvSpPr txBox="1"/>
          <p:nvPr/>
        </p:nvSpPr>
        <p:spPr>
          <a:xfrm>
            <a:off x="7863840" y="3474720"/>
            <a:ext cx="3474720" cy="182880"/>
          </a:xfrm>
          <a:prstGeom prst="rect">
            <a:avLst/>
          </a:prstGeom>
          <a:noFill/>
        </p:spPr>
        <p:txBody>
          <a:bodyPr wrap="square"/>
          <a:lstStyle/>
          <a:p>
            <a:pPr algn="l">
              <a:defRPr sz="800" b="0">
                <a:solidFill>
                  <a:srgbClr val="6B7280"/>
                </a:solidFill>
                <a:latin typeface="Calibri"/>
              </a:defRPr>
            </a:pPr>
            <a:r>
              <a:t>Trust: 95% · Reg Risk: 65% · Window: 45d</a:t>
            </a:r>
          </a:p>
        </p:txBody>
      </p:sp>
      <p:sp>
        <p:nvSpPr>
          <p:cNvPr id="69" name="Rectangle 68"/>
          <p:cNvSpPr/>
          <p:nvPr/>
        </p:nvSpPr>
        <p:spPr>
          <a:xfrm>
            <a:off x="7680960" y="3749039"/>
            <a:ext cx="54864" cy="3200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863840" y="3749039"/>
            <a:ext cx="1828800" cy="182880"/>
          </a:xfrm>
          <a:prstGeom prst="rect">
            <a:avLst/>
          </a:prstGeom>
          <a:noFill/>
        </p:spPr>
        <p:txBody>
          <a:bodyPr wrap="square"/>
          <a:lstStyle/>
          <a:p>
            <a:pPr algn="l">
              <a:defRPr sz="1000" b="1">
                <a:solidFill>
                  <a:srgbClr val="CA8A04"/>
                </a:solidFill>
                <a:latin typeface="Calibri"/>
              </a:defRPr>
            </a:pPr>
            <a:r>
              <a:t>Neobanks</a:t>
            </a:r>
          </a:p>
        </p:txBody>
      </p:sp>
      <p:sp>
        <p:nvSpPr>
          <p:cNvPr id="71" name="TextBox 70"/>
          <p:cNvSpPr txBox="1"/>
          <p:nvPr/>
        </p:nvSpPr>
        <p:spPr>
          <a:xfrm>
            <a:off x="7863840" y="3931920"/>
            <a:ext cx="3474720" cy="182880"/>
          </a:xfrm>
          <a:prstGeom prst="rect">
            <a:avLst/>
          </a:prstGeom>
          <a:noFill/>
        </p:spPr>
        <p:txBody>
          <a:bodyPr wrap="square"/>
          <a:lstStyle/>
          <a:p>
            <a:pPr algn="l">
              <a:defRPr sz="800" b="0">
                <a:solidFill>
                  <a:srgbClr val="6B7280"/>
                </a:solidFill>
                <a:latin typeface="Calibri"/>
              </a:defRPr>
            </a:pPr>
            <a:r>
              <a:t>Trust: 70% · Reg Risk: 30% · Window: 14d</a:t>
            </a:r>
          </a:p>
        </p:txBody>
      </p:sp>
      <p:sp>
        <p:nvSpPr>
          <p:cNvPr id="72" name="Rectangle 71"/>
          <p:cNvSpPr/>
          <p:nvPr/>
        </p:nvSpPr>
        <p:spPr>
          <a:xfrm>
            <a:off x="548640" y="4572000"/>
            <a:ext cx="35204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48640" y="4572000"/>
            <a:ext cx="3520440"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 y="4754880"/>
            <a:ext cx="3108960" cy="228600"/>
          </a:xfrm>
          <a:prstGeom prst="rect">
            <a:avLst/>
          </a:prstGeom>
          <a:noFill/>
        </p:spPr>
        <p:txBody>
          <a:bodyPr wrap="square"/>
          <a:lstStyle/>
          <a:p>
            <a:pPr algn="l">
              <a:defRPr sz="1100" b="1">
                <a:solidFill>
                  <a:srgbClr val="1D4ED8"/>
                </a:solidFill>
                <a:latin typeface="Calibri"/>
              </a:defRPr>
            </a:pPr>
            <a:r>
              <a:t>Trust-Weighted Scoring</a:t>
            </a:r>
          </a:p>
        </p:txBody>
      </p:sp>
      <p:sp>
        <p:nvSpPr>
          <p:cNvPr id="75" name="TextBox 74"/>
          <p:cNvSpPr txBox="1"/>
          <p:nvPr/>
        </p:nvSpPr>
        <p:spPr>
          <a:xfrm>
            <a:off x="731520" y="5029200"/>
            <a:ext cx="3108960" cy="457200"/>
          </a:xfrm>
          <a:prstGeom prst="rect">
            <a:avLst/>
          </a:prstGeom>
          <a:noFill/>
        </p:spPr>
        <p:txBody>
          <a:bodyPr wrap="square"/>
          <a:lstStyle/>
          <a:p>
            <a:pPr algn="l">
              <a:defRPr sz="900" b="0">
                <a:solidFill>
                  <a:srgbClr val="374151"/>
                </a:solidFill>
                <a:latin typeface="Calibri"/>
              </a:defRPr>
            </a:pPr>
            <a:r>
              <a:t>35% quality weight captures</a:t>
            </a:r>
            <a:br/>
            <a:r>
              <a:t>trust erosion from bad matches</a:t>
            </a:r>
          </a:p>
        </p:txBody>
      </p:sp>
      <p:sp>
        <p:nvSpPr>
          <p:cNvPr id="76" name="Rectangle 75"/>
          <p:cNvSpPr/>
          <p:nvPr/>
        </p:nvSpPr>
        <p:spPr>
          <a:xfrm>
            <a:off x="4343400" y="4572000"/>
            <a:ext cx="35204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343400" y="4572000"/>
            <a:ext cx="352044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26280" y="4754880"/>
            <a:ext cx="3108960" cy="228600"/>
          </a:xfrm>
          <a:prstGeom prst="rect">
            <a:avLst/>
          </a:prstGeom>
          <a:noFill/>
        </p:spPr>
        <p:txBody>
          <a:bodyPr wrap="square"/>
          <a:lstStyle/>
          <a:p>
            <a:pPr algn="l">
              <a:defRPr sz="1100" b="1">
                <a:solidFill>
                  <a:srgbClr val="DC2626"/>
                </a:solidFill>
                <a:latin typeface="Calibri"/>
              </a:defRPr>
            </a:pPr>
            <a:r>
              <a:t>Risk Incident Tracking</a:t>
            </a:r>
          </a:p>
        </p:txBody>
      </p:sp>
      <p:sp>
        <p:nvSpPr>
          <p:cNvPr id="79" name="TextBox 78"/>
          <p:cNvSpPr txBox="1"/>
          <p:nvPr/>
        </p:nvSpPr>
        <p:spPr>
          <a:xfrm>
            <a:off x="4526280" y="5029200"/>
            <a:ext cx="3108960" cy="457200"/>
          </a:xfrm>
          <a:prstGeom prst="rect">
            <a:avLst/>
          </a:prstGeom>
          <a:noFill/>
        </p:spPr>
        <p:txBody>
          <a:bodyPr wrap="square"/>
          <a:lstStyle/>
          <a:p>
            <a:pPr algn="l">
              <a:defRPr sz="900" b="0">
                <a:solidFill>
                  <a:srgbClr val="374151"/>
                </a:solidFill>
                <a:latin typeface="Calibri"/>
              </a:defRPr>
            </a:pPr>
            <a:r>
              <a:t>Regulatory risk events modeled</a:t>
            </a:r>
            <a:br/>
            <a:r>
              <a:t>per algorithm over 30 days</a:t>
            </a:r>
          </a:p>
        </p:txBody>
      </p:sp>
      <p:sp>
        <p:nvSpPr>
          <p:cNvPr id="80" name="Rectangle 79"/>
          <p:cNvSpPr/>
          <p:nvPr/>
        </p:nvSpPr>
        <p:spPr>
          <a:xfrm>
            <a:off x="8138160" y="4572000"/>
            <a:ext cx="352044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138160" y="4572000"/>
            <a:ext cx="3520440"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21040" y="4754880"/>
            <a:ext cx="3108960" cy="228600"/>
          </a:xfrm>
          <a:prstGeom prst="rect">
            <a:avLst/>
          </a:prstGeom>
          <a:noFill/>
        </p:spPr>
        <p:txBody>
          <a:bodyPr wrap="square"/>
          <a:lstStyle/>
          <a:p>
            <a:pPr algn="l">
              <a:defRPr sz="1100" b="1">
                <a:solidFill>
                  <a:srgbClr val="16A34A"/>
                </a:solidFill>
                <a:latin typeface="Calibri"/>
              </a:defRPr>
            </a:pPr>
            <a:r>
              <a:t>Lifecycle CPA Analysis</a:t>
            </a:r>
          </a:p>
        </p:txBody>
      </p:sp>
      <p:sp>
        <p:nvSpPr>
          <p:cNvPr id="83" name="TextBox 82"/>
          <p:cNvSpPr txBox="1"/>
          <p:nvPr/>
        </p:nvSpPr>
        <p:spPr>
          <a:xfrm>
            <a:off x="8321040" y="5029200"/>
            <a:ext cx="3108960" cy="457200"/>
          </a:xfrm>
          <a:prstGeom prst="rect">
            <a:avLst/>
          </a:prstGeom>
          <a:noFill/>
        </p:spPr>
        <p:txBody>
          <a:bodyPr wrap="square"/>
          <a:lstStyle/>
          <a:p>
            <a:pPr algn="l">
              <a:defRPr sz="900" b="0">
                <a:solidFill>
                  <a:srgbClr val="374151"/>
                </a:solidFill>
                <a:latin typeface="Calibri"/>
              </a:defRPr>
            </a:pPr>
            <a:r>
              <a:t>Conversion windows from 14-45d</a:t>
            </a:r>
            <a:br/>
            <a:r>
              <a:t>by sub-vertical complexity</a:t>
            </a:r>
          </a:p>
        </p:txBody>
      </p:sp>
      <p:sp>
        <p:nvSpPr>
          <p:cNvPr id="84" name="Rectangle 83"/>
          <p:cNvSpPr/>
          <p:nvPr/>
        </p:nvSpPr>
        <p:spPr>
          <a:xfrm>
            <a:off x="548640" y="5760720"/>
            <a:ext cx="11064240" cy="77724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48640" y="5760720"/>
            <a:ext cx="54864" cy="777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77240" y="5852160"/>
            <a:ext cx="10515600" cy="548640"/>
          </a:xfrm>
          <a:prstGeom prst="rect">
            <a:avLst/>
          </a:prstGeom>
          <a:noFill/>
        </p:spPr>
        <p:txBody>
          <a:bodyPr wrap="square"/>
          <a:lstStyle/>
          <a:p>
            <a:pPr algn="l">
              <a:defRPr sz="1000" b="0">
                <a:solidFill>
                  <a:srgbClr val="4C1D95"/>
                </a:solidFill>
                <a:latin typeface="Calibri"/>
              </a:defRPr>
            </a:pPr>
            <a:r>
              <a:t>In financial services, the revenue-maximizing algorithm (DLRM) is NOT the optimal choice. The Risk-Adjusted Ranker wins by maintaining 87% user trust with only 3 risk incidents — critical in a domain where a single bad ad recommendation can destroy months of trust-building. This demonstrates why multi-objective optimization with domain-specific weights outperforms raw CTR/revenue optimization.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73152" cy="29260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9144000" cy="731520"/>
          </a:xfrm>
          <a:prstGeom prst="rect">
            <a:avLst/>
          </a:prstGeom>
          <a:noFill/>
        </p:spPr>
        <p:txBody>
          <a:bodyPr wrap="square"/>
          <a:lstStyle/>
          <a:p>
            <a:pPr algn="l">
              <a:defRPr sz="4000" b="1">
                <a:solidFill>
                  <a:srgbClr val="FFFFFF"/>
                </a:solidFill>
                <a:latin typeface="Calibri"/>
              </a:defRPr>
            </a:pPr>
            <a:r>
              <a:t>Ad Auction Simulator</a:t>
            </a:r>
          </a:p>
        </p:txBody>
      </p:sp>
      <p:sp>
        <p:nvSpPr>
          <p:cNvPr id="6" name="TextBox 5"/>
          <p:cNvSpPr txBox="1"/>
          <p:nvPr/>
        </p:nvSpPr>
        <p:spPr>
          <a:xfrm>
            <a:off x="1097280" y="2560320"/>
            <a:ext cx="9144000" cy="457200"/>
          </a:xfrm>
          <a:prstGeom prst="rect">
            <a:avLst/>
          </a:prstGeom>
          <a:noFill/>
        </p:spPr>
        <p:txBody>
          <a:bodyPr wrap="square"/>
          <a:lstStyle/>
          <a:p>
            <a:pPr algn="l">
              <a:defRPr sz="2000" b="0">
                <a:solidFill>
                  <a:srgbClr val="60A5FA"/>
                </a:solidFill>
                <a:latin typeface="Calibri"/>
              </a:defRPr>
            </a:pPr>
            <a:r>
              <a:t>Multi-Objective Auction Dynamics with Adaptive Model Orchestration</a:t>
            </a:r>
          </a:p>
        </p:txBody>
      </p:sp>
      <p:sp>
        <p:nvSpPr>
          <p:cNvPr id="7" name="TextBox 6"/>
          <p:cNvSpPr txBox="1"/>
          <p:nvPr/>
        </p:nvSpPr>
        <p:spPr>
          <a:xfrm>
            <a:off x="1097280" y="3383280"/>
            <a:ext cx="1554480" cy="548640"/>
          </a:xfrm>
          <a:prstGeom prst="rect">
            <a:avLst/>
          </a:prstGeom>
          <a:noFill/>
        </p:spPr>
        <p:txBody>
          <a:bodyPr wrap="square"/>
          <a:lstStyle/>
          <a:p>
            <a:pPr algn="ctr">
              <a:defRPr sz="3600" b="1">
                <a:solidFill>
                  <a:srgbClr val="60A5FA"/>
                </a:solidFill>
                <a:latin typeface="Consolas"/>
              </a:defRPr>
            </a:pPr>
            <a:r>
              <a:t>21</a:t>
            </a:r>
          </a:p>
        </p:txBody>
      </p:sp>
      <p:sp>
        <p:nvSpPr>
          <p:cNvPr id="8" name="TextBox 7"/>
          <p:cNvSpPr txBox="1"/>
          <p:nvPr/>
        </p:nvSpPr>
        <p:spPr>
          <a:xfrm>
            <a:off x="1097280" y="3931920"/>
            <a:ext cx="1554480" cy="274320"/>
          </a:xfrm>
          <a:prstGeom prst="rect">
            <a:avLst/>
          </a:prstGeom>
          <a:noFill/>
        </p:spPr>
        <p:txBody>
          <a:bodyPr wrap="square"/>
          <a:lstStyle/>
          <a:p>
            <a:pPr algn="ctr">
              <a:defRPr sz="1000" b="0">
                <a:solidFill>
                  <a:srgbClr val="6B7280"/>
                </a:solidFill>
                <a:latin typeface="Calibri"/>
              </a:defRPr>
            </a:pPr>
            <a:r>
              <a:t>API Endpoints</a:t>
            </a:r>
          </a:p>
        </p:txBody>
      </p:sp>
      <p:sp>
        <p:nvSpPr>
          <p:cNvPr id="9" name="TextBox 8"/>
          <p:cNvSpPr txBox="1"/>
          <p:nvPr/>
        </p:nvSpPr>
        <p:spPr>
          <a:xfrm>
            <a:off x="2880360" y="3383280"/>
            <a:ext cx="1554480" cy="548640"/>
          </a:xfrm>
          <a:prstGeom prst="rect">
            <a:avLst/>
          </a:prstGeom>
          <a:noFill/>
        </p:spPr>
        <p:txBody>
          <a:bodyPr wrap="square"/>
          <a:lstStyle/>
          <a:p>
            <a:pPr algn="ctr">
              <a:defRPr sz="3600" b="1">
                <a:solidFill>
                  <a:srgbClr val="60A5FA"/>
                </a:solidFill>
                <a:latin typeface="Consolas"/>
              </a:defRPr>
            </a:pPr>
            <a:r>
              <a:t>8</a:t>
            </a:r>
          </a:p>
        </p:txBody>
      </p:sp>
      <p:sp>
        <p:nvSpPr>
          <p:cNvPr id="10" name="TextBox 9"/>
          <p:cNvSpPr txBox="1"/>
          <p:nvPr/>
        </p:nvSpPr>
        <p:spPr>
          <a:xfrm>
            <a:off x="2880360" y="3931920"/>
            <a:ext cx="1554480" cy="274320"/>
          </a:xfrm>
          <a:prstGeom prst="rect">
            <a:avLst/>
          </a:prstGeom>
          <a:noFill/>
        </p:spPr>
        <p:txBody>
          <a:bodyPr wrap="square"/>
          <a:lstStyle/>
          <a:p>
            <a:pPr algn="ctr">
              <a:defRPr sz="1000" b="0">
                <a:solidFill>
                  <a:srgbClr val="6B7280"/>
                </a:solidFill>
                <a:latin typeface="Calibri"/>
              </a:defRPr>
            </a:pPr>
            <a:r>
              <a:t>User Segments</a:t>
            </a:r>
          </a:p>
        </p:txBody>
      </p:sp>
      <p:sp>
        <p:nvSpPr>
          <p:cNvPr id="11" name="TextBox 10"/>
          <p:cNvSpPr txBox="1"/>
          <p:nvPr/>
        </p:nvSpPr>
        <p:spPr>
          <a:xfrm>
            <a:off x="4663440" y="3383280"/>
            <a:ext cx="1554480" cy="548640"/>
          </a:xfrm>
          <a:prstGeom prst="rect">
            <a:avLst/>
          </a:prstGeom>
          <a:noFill/>
        </p:spPr>
        <p:txBody>
          <a:bodyPr wrap="square"/>
          <a:lstStyle/>
          <a:p>
            <a:pPr algn="ctr">
              <a:defRPr sz="3600" b="1">
                <a:solidFill>
                  <a:srgbClr val="60A5FA"/>
                </a:solidFill>
                <a:latin typeface="Consolas"/>
              </a:defRPr>
            </a:pPr>
            <a:r>
              <a:t>80</a:t>
            </a:r>
          </a:p>
        </p:txBody>
      </p:sp>
      <p:sp>
        <p:nvSpPr>
          <p:cNvPr id="12" name="TextBox 11"/>
          <p:cNvSpPr txBox="1"/>
          <p:nvPr/>
        </p:nvSpPr>
        <p:spPr>
          <a:xfrm>
            <a:off x="4663440" y="3931920"/>
            <a:ext cx="1554480" cy="274320"/>
          </a:xfrm>
          <a:prstGeom prst="rect">
            <a:avLst/>
          </a:prstGeom>
          <a:noFill/>
        </p:spPr>
        <p:txBody>
          <a:bodyPr wrap="square"/>
          <a:lstStyle/>
          <a:p>
            <a:pPr algn="ctr">
              <a:defRPr sz="1000" b="0">
                <a:solidFill>
                  <a:srgbClr val="6B7280"/>
                </a:solidFill>
                <a:latin typeface="Calibri"/>
              </a:defRPr>
            </a:pPr>
            <a:r>
              <a:t>Advertisers</a:t>
            </a:r>
          </a:p>
        </p:txBody>
      </p:sp>
      <p:sp>
        <p:nvSpPr>
          <p:cNvPr id="13" name="TextBox 12"/>
          <p:cNvSpPr txBox="1"/>
          <p:nvPr/>
        </p:nvSpPr>
        <p:spPr>
          <a:xfrm>
            <a:off x="6446520" y="3383280"/>
            <a:ext cx="1554480" cy="548640"/>
          </a:xfrm>
          <a:prstGeom prst="rect">
            <a:avLst/>
          </a:prstGeom>
          <a:noFill/>
        </p:spPr>
        <p:txBody>
          <a:bodyPr wrap="square"/>
          <a:lstStyle/>
          <a:p>
            <a:pPr algn="ctr">
              <a:defRPr sz="3600" b="1">
                <a:solidFill>
                  <a:srgbClr val="60A5FA"/>
                </a:solidFill>
                <a:latin typeface="Consolas"/>
              </a:defRPr>
            </a:pPr>
            <a:r>
              <a:t>4</a:t>
            </a:r>
          </a:p>
        </p:txBody>
      </p:sp>
      <p:sp>
        <p:nvSpPr>
          <p:cNvPr id="14" name="TextBox 13"/>
          <p:cNvSpPr txBox="1"/>
          <p:nvPr/>
        </p:nvSpPr>
        <p:spPr>
          <a:xfrm>
            <a:off x="6446520" y="3931920"/>
            <a:ext cx="1554480" cy="274320"/>
          </a:xfrm>
          <a:prstGeom prst="rect">
            <a:avLst/>
          </a:prstGeom>
          <a:noFill/>
        </p:spPr>
        <p:txBody>
          <a:bodyPr wrap="square"/>
          <a:lstStyle/>
          <a:p>
            <a:pPr algn="ctr">
              <a:defRPr sz="1000" b="0">
                <a:solidFill>
                  <a:srgbClr val="6B7280"/>
                </a:solidFill>
                <a:latin typeface="Calibri"/>
              </a:defRPr>
            </a:pPr>
            <a:r>
              <a:t>Model Architectures</a:t>
            </a:r>
          </a:p>
        </p:txBody>
      </p:sp>
      <p:sp>
        <p:nvSpPr>
          <p:cNvPr id="15" name="TextBox 14"/>
          <p:cNvSpPr txBox="1"/>
          <p:nvPr/>
        </p:nvSpPr>
        <p:spPr>
          <a:xfrm>
            <a:off x="8229600" y="3383280"/>
            <a:ext cx="1554480" cy="548640"/>
          </a:xfrm>
          <a:prstGeom prst="rect">
            <a:avLst/>
          </a:prstGeom>
          <a:noFill/>
        </p:spPr>
        <p:txBody>
          <a:bodyPr wrap="square"/>
          <a:lstStyle/>
          <a:p>
            <a:pPr algn="ctr">
              <a:defRPr sz="3600" b="1">
                <a:solidFill>
                  <a:srgbClr val="60A5FA"/>
                </a:solidFill>
                <a:latin typeface="Consolas"/>
              </a:defRPr>
            </a:pPr>
            <a:r>
              <a:t>10</a:t>
            </a:r>
          </a:p>
        </p:txBody>
      </p:sp>
      <p:sp>
        <p:nvSpPr>
          <p:cNvPr id="16" name="TextBox 15"/>
          <p:cNvSpPr txBox="1"/>
          <p:nvPr/>
        </p:nvSpPr>
        <p:spPr>
          <a:xfrm>
            <a:off x="8229600" y="3931920"/>
            <a:ext cx="1554480" cy="274320"/>
          </a:xfrm>
          <a:prstGeom prst="rect">
            <a:avLst/>
          </a:prstGeom>
          <a:noFill/>
        </p:spPr>
        <p:txBody>
          <a:bodyPr wrap="square"/>
          <a:lstStyle/>
          <a:p>
            <a:pPr algn="ctr">
              <a:defRPr sz="1000" b="0">
                <a:solidFill>
                  <a:srgbClr val="6B7280"/>
                </a:solidFill>
                <a:latin typeface="Calibri"/>
              </a:defRPr>
            </a:pPr>
            <a:r>
              <a:t>Dashboard Tabs</a:t>
            </a:r>
          </a:p>
        </p:txBody>
      </p:sp>
      <p:sp>
        <p:nvSpPr>
          <p:cNvPr id="17" name="TextBox 16"/>
          <p:cNvSpPr txBox="1"/>
          <p:nvPr/>
        </p:nvSpPr>
        <p:spPr>
          <a:xfrm>
            <a:off x="10012680" y="3383280"/>
            <a:ext cx="1554480" cy="548640"/>
          </a:xfrm>
          <a:prstGeom prst="rect">
            <a:avLst/>
          </a:prstGeom>
          <a:noFill/>
        </p:spPr>
        <p:txBody>
          <a:bodyPr wrap="square"/>
          <a:lstStyle/>
          <a:p>
            <a:pPr algn="ctr">
              <a:defRPr sz="3600" b="1">
                <a:solidFill>
                  <a:srgbClr val="60A5FA"/>
                </a:solidFill>
                <a:latin typeface="Consolas"/>
              </a:defRPr>
            </a:pPr>
            <a:r>
              <a:t>6</a:t>
            </a:r>
          </a:p>
        </p:txBody>
      </p:sp>
      <p:sp>
        <p:nvSpPr>
          <p:cNvPr id="18" name="TextBox 17"/>
          <p:cNvSpPr txBox="1"/>
          <p:nvPr/>
        </p:nvSpPr>
        <p:spPr>
          <a:xfrm>
            <a:off x="10012680" y="3931920"/>
            <a:ext cx="1554480" cy="274320"/>
          </a:xfrm>
          <a:prstGeom prst="rect">
            <a:avLst/>
          </a:prstGeom>
          <a:noFill/>
        </p:spPr>
        <p:txBody>
          <a:bodyPr wrap="square"/>
          <a:lstStyle/>
          <a:p>
            <a:pPr algn="ctr">
              <a:defRPr sz="1000" b="0">
                <a:solidFill>
                  <a:srgbClr val="6B7280"/>
                </a:solidFill>
                <a:latin typeface="Calibri"/>
              </a:defRPr>
            </a:pPr>
            <a:r>
              <a:t>Verticals</a:t>
            </a:r>
          </a:p>
        </p:txBody>
      </p:sp>
      <p:sp>
        <p:nvSpPr>
          <p:cNvPr id="19" name="TextBox 18"/>
          <p:cNvSpPr txBox="1"/>
          <p:nvPr/>
        </p:nvSpPr>
        <p:spPr>
          <a:xfrm>
            <a:off x="1097280" y="4846320"/>
            <a:ext cx="9144000" cy="274320"/>
          </a:xfrm>
          <a:prstGeom prst="rect">
            <a:avLst/>
          </a:prstGeom>
          <a:noFill/>
        </p:spPr>
        <p:txBody>
          <a:bodyPr wrap="square"/>
          <a:lstStyle/>
          <a:p>
            <a:pPr algn="l">
              <a:defRPr sz="1400" b="0">
                <a:solidFill>
                  <a:srgbClr val="6B7280"/>
                </a:solidFill>
                <a:latin typeface="Consolas"/>
              </a:defRPr>
            </a:pPr>
            <a:r>
              <a:t>github.com/your-username/ad-auction-simulator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